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79" r:id="rId6"/>
    <p:sldId id="286" r:id="rId7"/>
    <p:sldId id="288" r:id="rId8"/>
    <p:sldId id="287" r:id="rId9"/>
    <p:sldId id="290" r:id="rId10"/>
    <p:sldId id="295" r:id="rId11"/>
    <p:sldId id="280" r:id="rId12"/>
    <p:sldId id="282" r:id="rId13"/>
    <p:sldId id="297" r:id="rId14"/>
    <p:sldId id="268" r:id="rId15"/>
    <p:sldId id="265" r:id="rId16"/>
    <p:sldId id="298" r:id="rId17"/>
    <p:sldId id="293" r:id="rId18"/>
    <p:sldId id="264" r:id="rId19"/>
    <p:sldId id="300" r:id="rId20"/>
    <p:sldId id="292" r:id="rId21"/>
    <p:sldId id="263" r:id="rId22"/>
    <p:sldId id="29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966" userDrawn="1">
          <p15:clr>
            <a:srgbClr val="A4A3A4"/>
          </p15:clr>
        </p15:guide>
        <p15:guide id="4" orient="horz" pos="301" userDrawn="1">
          <p15:clr>
            <a:srgbClr val="A4A3A4"/>
          </p15:clr>
        </p15:guide>
        <p15:guide id="5" orient="horz" pos="825" userDrawn="1">
          <p15:clr>
            <a:srgbClr val="A4A3A4"/>
          </p15:clr>
        </p15:guide>
        <p15:guide id="6" pos="7434" userDrawn="1">
          <p15:clr>
            <a:srgbClr val="A4A3A4"/>
          </p15:clr>
        </p15:guide>
        <p15:guide id="7" pos="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D0F0"/>
    <a:srgbClr val="55BDED"/>
    <a:srgbClr val="4CA7DE"/>
    <a:srgbClr val="FFFFFF"/>
    <a:srgbClr val="2560AD"/>
    <a:srgbClr val="1C51A3"/>
    <a:srgbClr val="3E8ECD"/>
    <a:srgbClr val="7A9ED3"/>
    <a:srgbClr val="55BCEC"/>
    <a:srgbClr val="1C5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06" y="1146"/>
      </p:cViewPr>
      <p:guideLst>
        <p:guide orient="horz" pos="2154"/>
        <p:guide pos="3840"/>
        <p:guide orient="horz" pos="3966"/>
        <p:guide orient="horz" pos="301"/>
        <p:guide orient="horz" pos="825"/>
        <p:guide pos="7434"/>
        <p:guide pos="2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t>网络传输中部分协议使用情况直方图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59816218099468"/>
          <c:y val="0.247865112907836"/>
          <c:w val="0.911111111111111"/>
          <c:h val="0.6540277777777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HTTPS</c:v>
                </c:pt>
              </c:strCache>
            </c:strRef>
          </c:tx>
          <c:spPr>
            <a:solidFill>
              <a:srgbClr val="2663A4"/>
            </a:solidFill>
            <a:ln w="57150" cmpd="dbl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(Sheet1!$A$2:$A$3,Sheet1!$A$5)</c:f>
              <c:strCache>
                <c:ptCount val="3"/>
                <c:pt idx="0">
                  <c:v>ICS/IoT私用协议</c:v>
                </c:pt>
                <c:pt idx="1">
                  <c:v>APT攻击所用变异二进制协议</c:v>
                </c:pt>
                <c:pt idx="2">
                  <c:v>流量加密(全球)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Sheet1!$B$2:$B$5</c15:sqref>
                  </c15:fullRef>
                </c:ext>
              </c:extLst>
              <c:f>(Sheet1!$B$2:$B$3,Sheet1!$B$5)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TLS 1.3</c:v>
                </c:pt>
              </c:strCache>
            </c:strRef>
          </c:tx>
          <c:spPr>
            <a:solidFill>
              <a:srgbClr val="6CB3E3"/>
            </a:solidFill>
            <a:ln w="57150" cmpd="dbl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(Sheet1!$A$2:$A$3,Sheet1!$A$5)</c:f>
              <c:strCache>
                <c:ptCount val="3"/>
                <c:pt idx="0">
                  <c:v>ICS/IoT私用协议</c:v>
                </c:pt>
                <c:pt idx="1">
                  <c:v>APT攻击所用变异二进制协议</c:v>
                </c:pt>
                <c:pt idx="2">
                  <c:v>流量加密(全球)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Sheet1!$C$2:$C$5</c15:sqref>
                  </c15:fullRef>
                </c:ext>
              </c:extLst>
              <c:f>(Sheet1!$C$2:$C$3,Sheet1!$C$5)</c:f>
              <c:numCache>
                <c:formatCode>General</c:formatCode>
                <c:ptCount val="3"/>
                <c:pt idx="0">
                  <c:v>72</c:v>
                </c:pt>
                <c:pt idx="1">
                  <c:v>65</c:v>
                </c:pt>
                <c:pt idx="2">
                  <c:v>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自动化证书CA</c:v>
                </c:pt>
              </c:strCache>
            </c:strRef>
          </c:tx>
          <c:spPr>
            <a:solidFill>
              <a:srgbClr val="215891"/>
            </a:solidFill>
            <a:ln w="57150" cmpd="dbl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(Sheet1!$A$2:$A$3,Sheet1!$A$5)</c:f>
              <c:strCache>
                <c:ptCount val="3"/>
                <c:pt idx="0">
                  <c:v>ICS/IoT私用协议</c:v>
                </c:pt>
                <c:pt idx="1">
                  <c:v>APT攻击所用变异二进制协议</c:v>
                </c:pt>
                <c:pt idx="2">
                  <c:v>流量加密(全球)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Sheet1!$D$2:$D$5</c15:sqref>
                  </c15:fullRef>
                </c:ext>
              </c:extLst>
              <c:f>(Sheet1!$D$2:$D$3,Sheet1!$D$5)</c:f>
              <c:numCache>
                <c:formatCode>General</c:formatCode>
                <c:ptCount val="3"/>
                <c:pt idx="0">
                  <c:v>2</c:v>
                </c:pt>
                <c:pt idx="2">
                  <c:v>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55"/>
        <c:axId val="642117141"/>
        <c:axId val="569944979"/>
      </c:barChart>
      <c:catAx>
        <c:axId val="64211714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569944979"/>
        <c:crosses val="autoZero"/>
        <c:auto val="1"/>
        <c:lblAlgn val="ctr"/>
        <c:lblOffset val="100"/>
        <c:noMultiLvlLbl val="0"/>
      </c:catAx>
      <c:valAx>
        <c:axId val="569944979"/>
        <c:scaling>
          <c:orientation val="minMax"/>
          <c:min val="5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64211714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b9b3480-6fff-4179-b654-166738b42d4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1C56A6"/>
            </a:solidFill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1C56A6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9ff9704-88fe-4a18-8383-e912f346f5a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1C56A6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556552a-0731-473d-a67c-e42ff171b67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jpe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/>
          <a:stretch>
            <a:fillRect/>
          </a:stretch>
        </p:blipFill>
        <p:spPr>
          <a:xfrm>
            <a:off x="0" y="3486785"/>
            <a:ext cx="12192635" cy="33712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/>
          <a:stretch>
            <a:fillRect/>
          </a:stretch>
        </p:blipFill>
        <p:spPr>
          <a:xfrm rot="16200000" flipH="1">
            <a:off x="6211570" y="877570"/>
            <a:ext cx="6853555" cy="5107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rot="10800000" flipH="1">
            <a:off x="0" y="0"/>
            <a:ext cx="3642995" cy="2302510"/>
          </a:xfrm>
          <a:prstGeom prst="rect">
            <a:avLst/>
          </a:prstGeom>
        </p:spPr>
      </p:pic>
      <p:pic>
        <p:nvPicPr>
          <p:cNvPr id="2" name="图片 1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flipH="1">
            <a:off x="9766935" y="5325110"/>
            <a:ext cx="2425065" cy="1532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C:\Users\Administrator\Desktop\开屏.jpg开屏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1905" y="318"/>
            <a:ext cx="12190730" cy="68567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jpeg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chart" Target="../charts/chart3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7.png"/><Relationship Id="rId10" Type="http://schemas.openxmlformats.org/officeDocument/2006/relationships/tags" Target="../tags/tag74.xml"/><Relationship Id="rId1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tags" Target="../tags/tag75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tags" Target="../tags/tag76.xml"/><Relationship Id="rId2" Type="http://schemas.microsoft.com/office/2007/relationships/media" Target="file:///E:/&#26700;&#38754;/&#24494;&#20449;&#35270;&#39057;2026-09-11_210419_497.mp4" TargetMode="External"/><Relationship Id="rId1" Type="http://schemas.openxmlformats.org/officeDocument/2006/relationships/video" Target="file:///E:/&#26700;&#38754;/&#24494;&#20449;&#35270;&#39057;2026-09-11_210419_497.mp4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3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0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3" Type="http://schemas.openxmlformats.org/officeDocument/2006/relationships/slideLayout" Target="../slideLayouts/slideLayout3.xml"/><Relationship Id="rId22" Type="http://schemas.openxmlformats.org/officeDocument/2006/relationships/tags" Target="../tags/tag127.xml"/><Relationship Id="rId21" Type="http://schemas.openxmlformats.org/officeDocument/2006/relationships/tags" Target="../tags/tag126.xml"/><Relationship Id="rId20" Type="http://schemas.openxmlformats.org/officeDocument/2006/relationships/tags" Target="../tags/tag125.xml"/><Relationship Id="rId2" Type="http://schemas.openxmlformats.org/officeDocument/2006/relationships/tags" Target="../tags/tag107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8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058ccbf6c81800ae2b41e68bf3533fa828b4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04775"/>
            <a:ext cx="3453130" cy="103632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9735" y="1278724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6D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网络空间安全课程设计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86D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9735" y="173926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 spc="150">
                <a:solidFill>
                  <a:srgbClr val="86D0F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+mn-ea"/>
              </a:rPr>
              <a:t>C.S.C.P Experiment Report</a:t>
            </a:r>
            <a:endParaRPr lang="en-US" altLang="en-US" sz="1600" b="1" spc="150">
              <a:solidFill>
                <a:srgbClr val="86D0F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803526" y="3168650"/>
            <a:ext cx="6583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sz="2600" b="1" spc="2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面向未知二进制数据的智能解析推断系统</a:t>
            </a:r>
            <a:endParaRPr lang="zh-CN" sz="2600" b="1" spc="20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副标题 7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5" y="2134235"/>
            <a:ext cx="12191365" cy="103441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sz="5400" b="1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比特破壁</a:t>
            </a:r>
            <a:endParaRPr lang="zh-CN" sz="5400" b="1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84500" y="3660140"/>
            <a:ext cx="6242050" cy="752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lt"/>
              </a:rPr>
              <a:t>Breaking the Bit Barrier: </a:t>
            </a:r>
            <a:endParaRPr lang="en-US" altLang="zh-CN" sz="140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lt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lt"/>
              </a:rPr>
              <a:t>An 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lt"/>
              </a:rPr>
              <a:t>Intelligent Parsing and Inference System for Unknown Binary Data</a:t>
            </a:r>
            <a:endParaRPr lang="en-US" altLang="zh-CN" sz="140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620250" y="6612890"/>
            <a:ext cx="2571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等线" panose="02010600030101010101" charset="-122"/>
                <a:ea typeface="等线" panose="02010600030101010101" charset="-122"/>
              </a:rPr>
              <a:t>2026  Project H.A.B.F.C  All Rights Reserved.</a:t>
            </a:r>
            <a:endParaRPr lang="zh-CN" altLang="en-US" sz="10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99915" y="4455795"/>
            <a:ext cx="3391535" cy="1176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汇报组号：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2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组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</a:t>
            </a:r>
            <a:endParaRPr lang="en-US" altLang="zh-CN" sz="2400" b="1">
              <a:solidFill>
                <a:srgbClr val="60A0E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/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汇报人：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阮辅强</a:t>
            </a:r>
            <a:endParaRPr lang="zh-CN" altLang="en-US" sz="2400" b="1">
              <a:solidFill>
                <a:srgbClr val="60A0E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/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汇报日期：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2026.09.12</a:t>
            </a:r>
            <a:endParaRPr lang="en-US" altLang="zh-CN" sz="2400" b="1">
              <a:solidFill>
                <a:srgbClr val="60A0E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4573270" y="1278255"/>
            <a:ext cx="4015975" cy="4266811"/>
            <a:chOff x="10211" y="1416"/>
            <a:chExt cx="7072" cy="7513"/>
          </a:xfrm>
        </p:grpSpPr>
        <p:grpSp>
          <p:nvGrpSpPr>
            <p:cNvPr id="4" name="组合 3"/>
            <p:cNvGrpSpPr/>
            <p:nvPr/>
          </p:nvGrpSpPr>
          <p:grpSpPr>
            <a:xfrm rot="0">
              <a:off x="10211" y="1416"/>
              <a:ext cx="6269" cy="1395"/>
              <a:chOff x="3351" y="3409"/>
              <a:chExt cx="6269" cy="1395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11" name="椭圆 10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文本框 9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1001314" y="2310639"/>
                  <a:ext cx="610011" cy="4190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01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 rot="0">
                <a:off x="4899" y="3409"/>
                <a:ext cx="4721" cy="1395"/>
                <a:chOff x="3315584" y="3170440"/>
                <a:chExt cx="2998036" cy="886343"/>
              </a:xfrm>
            </p:grpSpPr>
            <p:sp>
              <p:nvSpPr>
                <p:cNvPr id="14" name="矩形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15584" y="3170440"/>
                  <a:ext cx="2997908" cy="5837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b="1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项目概述</a:t>
                  </a:r>
                  <a:endParaRPr lang="zh-CN" altLang="en-US" sz="2800" b="1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矩形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3315584" y="3692445"/>
                  <a:ext cx="2998036" cy="364338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p>
                  <a:pPr algn="l"/>
                  <a:r>
                    <a:rPr lang="en-US" altLang="zh-CN" sz="16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Brief Introduction</a:t>
                  </a:r>
                  <a:endPara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 rot="0">
              <a:off x="10211" y="3435"/>
              <a:ext cx="6957" cy="1418"/>
              <a:chOff x="3351" y="3407"/>
              <a:chExt cx="6957" cy="1419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351" y="3544"/>
                <a:ext cx="1023" cy="1023"/>
                <a:chOff x="910275" y="2124737"/>
                <a:chExt cx="792088" cy="792088"/>
              </a:xfrm>
            </p:grpSpPr>
            <p:sp>
              <p:nvSpPr>
                <p:cNvPr id="7" name="椭圆 6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10275" y="2124737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9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001314" y="2303675"/>
                  <a:ext cx="610011" cy="4193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02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 rot="0">
                <a:off x="4899" y="3407"/>
                <a:ext cx="5409" cy="1419"/>
                <a:chOff x="3315584" y="3169020"/>
                <a:chExt cx="3434599" cy="900902"/>
              </a:xfrm>
            </p:grpSpPr>
            <p:sp>
              <p:nvSpPr>
                <p:cNvPr id="10" name="矩形 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3315584" y="3169020"/>
                  <a:ext cx="2916250" cy="58395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b="1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技术原理</a:t>
                  </a:r>
                  <a:endParaRPr lang="zh-CN" altLang="en-US" sz="2800" b="1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矩形 1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15584" y="3692698"/>
                  <a:ext cx="3434599" cy="37722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en-US" altLang="zh-CN" sz="16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Technical Principles</a:t>
                  </a:r>
                  <a:endPara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endParaRP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 rot="0">
              <a:off x="10211" y="5455"/>
              <a:ext cx="7072" cy="1337"/>
              <a:chOff x="3351" y="3407"/>
              <a:chExt cx="7072" cy="1337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3351" y="3524"/>
                <a:ext cx="1023" cy="1023"/>
                <a:chOff x="910275" y="2109147"/>
                <a:chExt cx="792088" cy="792088"/>
              </a:xfrm>
            </p:grpSpPr>
            <p:sp>
              <p:nvSpPr>
                <p:cNvPr id="19" name="椭圆 18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910275" y="2109147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文本框 9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1001314" y="2288130"/>
                  <a:ext cx="610011" cy="4190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03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 rot="0">
                <a:off x="4899" y="3407"/>
                <a:ext cx="5524" cy="1337"/>
                <a:chOff x="3315584" y="3169020"/>
                <a:chExt cx="3507737" cy="849445"/>
              </a:xfrm>
            </p:grpSpPr>
            <p:sp>
              <p:nvSpPr>
                <p:cNvPr id="22" name="矩形 21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3315584" y="3169020"/>
                  <a:ext cx="3114731" cy="58397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b="1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项目亮点</a:t>
                  </a:r>
                  <a:endParaRPr lang="zh-CN" altLang="en-US" sz="2800" b="1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矩形 2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3315584" y="3641227"/>
                  <a:ext cx="3507737" cy="377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en-US" altLang="zh-CN" sz="16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Highlights in Operation</a:t>
                  </a:r>
                  <a:endPara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endParaRPr>
                </a:p>
              </p:txBody>
            </p:sp>
          </p:grpSp>
        </p:grpSp>
        <p:grpSp>
          <p:nvGrpSpPr>
            <p:cNvPr id="24" name="组合 23"/>
            <p:cNvGrpSpPr/>
            <p:nvPr/>
          </p:nvGrpSpPr>
          <p:grpSpPr>
            <a:xfrm rot="0">
              <a:off x="10211" y="7474"/>
              <a:ext cx="6958" cy="1455"/>
              <a:chOff x="3351" y="3259"/>
              <a:chExt cx="6958" cy="1457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3351" y="3338"/>
                <a:ext cx="1023" cy="1023"/>
                <a:chOff x="910275" y="1965211"/>
                <a:chExt cx="792088" cy="792088"/>
              </a:xfrm>
            </p:grpSpPr>
            <p:sp>
              <p:nvSpPr>
                <p:cNvPr id="26" name="椭圆 2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10275" y="1965211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文本框 9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001314" y="2151929"/>
                  <a:ext cx="610011" cy="4193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04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0">
                <a:off x="4899" y="3259"/>
                <a:ext cx="5410" cy="1457"/>
                <a:chOff x="3315584" y="3075212"/>
                <a:chExt cx="3435323" cy="924705"/>
              </a:xfrm>
            </p:grpSpPr>
            <p:sp>
              <p:nvSpPr>
                <p:cNvPr id="29" name="矩形 28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3315584" y="3075212"/>
                  <a:ext cx="3267733" cy="58416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b="1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项目总结</a:t>
                  </a:r>
                  <a:endParaRPr lang="zh-CN" altLang="en-US" sz="2800" b="1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矩形 2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315584" y="3622554"/>
                  <a:ext cx="3435323" cy="3773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r>
                    <a:rPr lang="en-US" altLang="zh-CN" sz="1600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Conclusion and Summary</a:t>
                  </a:r>
                  <a:endParaRPr lang="en-US" altLang="zh-CN" sz="1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" name="文本框 2"/>
          <p:cNvSpPr txBox="1"/>
          <p:nvPr userDrawn="1"/>
        </p:nvSpPr>
        <p:spPr>
          <a:xfrm>
            <a:off x="1315720" y="2070100"/>
            <a:ext cx="1290320" cy="26092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dist"/>
            <a:r>
              <a:rPr lang="zh-CN" altLang="en-US" sz="720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720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606040" y="3281680"/>
            <a:ext cx="551815" cy="1383030"/>
          </a:xfrm>
          <a:prstGeom prst="rect">
            <a:avLst/>
          </a:prstGeom>
        </p:spPr>
        <p:txBody>
          <a:bodyPr vert="eaVert" wrap="square">
            <a:spAutoFit/>
          </a:bodyPr>
          <a:p>
            <a:pPr algn="dist"/>
            <a:r>
              <a:rPr lang="en-US" altLang="zh-CN" sz="24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contents</a:t>
            </a:r>
            <a:endParaRPr lang="en-US" altLang="zh-CN" sz="24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 rot="5400000">
            <a:off x="1704340" y="3978275"/>
            <a:ext cx="1879600" cy="76200"/>
          </a:xfrm>
          <a:prstGeom prst="rect">
            <a:avLst/>
          </a:prstGeom>
          <a:solidFill>
            <a:srgbClr val="55BCEC"/>
          </a:solidFill>
          <a:ln>
            <a:solidFill>
              <a:srgbClr val="86D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0" y="6214110"/>
            <a:ext cx="643890" cy="643890"/>
          </a:xfrm>
          <a:prstGeom prst="rect">
            <a:avLst/>
          </a:prstGeom>
          <a:solidFill>
            <a:srgbClr val="1C56A6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643890" cy="643890"/>
          </a:xfrm>
          <a:prstGeom prst="rect">
            <a:avLst/>
          </a:prstGeom>
          <a:solidFill>
            <a:srgbClr val="1C5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620250" y="6612890"/>
            <a:ext cx="2571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等线" panose="02010600030101010101" charset="-122"/>
                <a:ea typeface="等线" panose="02010600030101010101" charset="-122"/>
              </a:rPr>
              <a:t>2026  Project H.A.B.F.C  All Rights Reserved.</a:t>
            </a:r>
            <a:endParaRPr lang="zh-CN" altLang="en-US" sz="1000">
              <a:latin typeface="等线" panose="02010600030101010101" charset="-122"/>
              <a:ea typeface="等线" panose="02010600030101010101" charset="-122"/>
            </a:endParaRPr>
          </a:p>
        </p:txBody>
      </p:sp>
      <p:cxnSp>
        <p:nvCxnSpPr>
          <p:cNvPr id="39" name="直接连接符 38"/>
          <p:cNvCxnSpPr/>
          <p:nvPr>
            <p:custDataLst>
              <p:tags r:id="rId18"/>
            </p:custDataLst>
          </p:nvPr>
        </p:nvCxnSpPr>
        <p:spPr>
          <a:xfrm>
            <a:off x="5546725" y="3571875"/>
            <a:ext cx="739140" cy="0"/>
          </a:xfrm>
          <a:prstGeom prst="line">
            <a:avLst/>
          </a:prstGeom>
          <a:ln w="19050">
            <a:solidFill>
              <a:srgbClr val="86D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9"/>
            </p:custDataLst>
          </p:nvPr>
        </p:nvCxnSpPr>
        <p:spPr>
          <a:xfrm>
            <a:off x="5546725" y="2425065"/>
            <a:ext cx="739140" cy="0"/>
          </a:xfrm>
          <a:prstGeom prst="line">
            <a:avLst/>
          </a:prstGeom>
          <a:ln w="19050">
            <a:solidFill>
              <a:srgbClr val="86D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20"/>
            </p:custDataLst>
          </p:nvPr>
        </p:nvCxnSpPr>
        <p:spPr>
          <a:xfrm>
            <a:off x="5546725" y="1278255"/>
            <a:ext cx="739140" cy="0"/>
          </a:xfrm>
          <a:prstGeom prst="line">
            <a:avLst/>
          </a:prstGeom>
          <a:ln w="19050">
            <a:solidFill>
              <a:srgbClr val="86D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1"/>
            </p:custDataLst>
          </p:nvPr>
        </p:nvCxnSpPr>
        <p:spPr>
          <a:xfrm>
            <a:off x="5546725" y="4718685"/>
            <a:ext cx="739140" cy="0"/>
          </a:xfrm>
          <a:prstGeom prst="line">
            <a:avLst/>
          </a:prstGeom>
          <a:ln w="19050">
            <a:solidFill>
              <a:srgbClr val="86D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84505" y="6529070"/>
            <a:ext cx="159385" cy="175260"/>
          </a:xfrm>
          <a:prstGeom prst="rect">
            <a:avLst/>
          </a:prstGeom>
          <a:solidFill>
            <a:srgbClr val="86D0F0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0" y="6214110"/>
            <a:ext cx="159385" cy="164465"/>
          </a:xfrm>
          <a:prstGeom prst="rect">
            <a:avLst/>
          </a:prstGeom>
          <a:solidFill>
            <a:srgbClr val="00B0F0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84505" y="6693535"/>
            <a:ext cx="159385" cy="164465"/>
          </a:xfrm>
          <a:prstGeom prst="rect">
            <a:avLst/>
          </a:prstGeom>
          <a:solidFill>
            <a:srgbClr val="7A9ED3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25120" y="6529070"/>
            <a:ext cx="159385" cy="164465"/>
          </a:xfrm>
          <a:prstGeom prst="rect">
            <a:avLst/>
          </a:prstGeom>
          <a:solidFill>
            <a:srgbClr val="3E8ECD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25120" y="6693535"/>
            <a:ext cx="159385" cy="164465"/>
          </a:xfrm>
          <a:prstGeom prst="rect">
            <a:avLst/>
          </a:prstGeom>
          <a:solidFill>
            <a:srgbClr val="00B0F0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66370" y="6529070"/>
            <a:ext cx="158750" cy="164465"/>
          </a:xfrm>
          <a:prstGeom prst="rect">
            <a:avLst/>
          </a:prstGeom>
          <a:solidFill>
            <a:srgbClr val="FFFFFF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85140" y="6364605"/>
            <a:ext cx="158750" cy="164465"/>
          </a:xfrm>
          <a:prstGeom prst="rect">
            <a:avLst/>
          </a:prstGeom>
          <a:solidFill>
            <a:srgbClr val="2560AD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985" y="6693535"/>
            <a:ext cx="159385" cy="164465"/>
          </a:xfrm>
          <a:prstGeom prst="rect">
            <a:avLst/>
          </a:prstGeom>
          <a:solidFill>
            <a:srgbClr val="55BDED"/>
          </a:solidFill>
          <a:ln>
            <a:solidFill>
              <a:srgbClr val="1C5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25755" y="6214110"/>
            <a:ext cx="159385" cy="164465"/>
          </a:xfrm>
          <a:prstGeom prst="rect">
            <a:avLst/>
          </a:prstGeom>
          <a:solidFill>
            <a:srgbClr val="55BDED"/>
          </a:solidFill>
          <a:ln>
            <a:solidFill>
              <a:srgbClr val="4CA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0" y="6214110"/>
            <a:ext cx="643890" cy="643890"/>
          </a:xfrm>
          <a:prstGeom prst="rect">
            <a:avLst/>
          </a:prstGeom>
          <a:solidFill>
            <a:srgbClr val="1C5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6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2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67" y="3140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3" name="图片 2" descr="d058ccbf6c81800ae2b41e68bf3533fa828b4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04775"/>
            <a:ext cx="3453130" cy="103632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9620250" y="6612890"/>
            <a:ext cx="2571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等线" panose="02010600030101010101" charset="-122"/>
                <a:ea typeface="等线" panose="02010600030101010101" charset="-122"/>
              </a:rPr>
              <a:t>2026  Project H.A.B.F.C  All Rights Reserved.</a:t>
            </a:r>
            <a:endParaRPr lang="zh-CN" altLang="en-US" sz="10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副标题 7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5" y="2512695"/>
            <a:ext cx="12191365" cy="103441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5400" b="1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项目简介</a:t>
            </a:r>
            <a:endParaRPr lang="zh-CN" altLang="en-US" sz="5400" b="1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240600" y="3882136"/>
            <a:ext cx="5712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342640" y="4048760"/>
            <a:ext cx="5531485" cy="1060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■ </a:t>
            </a: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本项目面向来源未知或协议解构尚不明确的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.dat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二进制网络数据，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并兼容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PCAP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等网络流量数据，构建一套融合传统统计分析、协议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逆向工程、机器学习和大语言模型的流水线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4638675" y="3429000"/>
            <a:ext cx="2938780" cy="3638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Brief Introduction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矩形 31"/>
          <p:cNvSpPr/>
          <p:nvPr/>
        </p:nvSpPr>
        <p:spPr>
          <a:xfrm>
            <a:off x="4978400" y="548005"/>
            <a:ext cx="208280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项目背景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457700" y="1193165"/>
            <a:ext cx="3203575" cy="337185"/>
          </a:xfrm>
          <a:prstGeom prst="rect">
            <a:avLst/>
          </a:prstGeom>
        </p:spPr>
        <p:txBody>
          <a:bodyPr wrap="none">
            <a:no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Background of the Project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69670" y="1651000"/>
            <a:ext cx="6085205" cy="1468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indent="0">
              <a:lnSpc>
                <a:spcPct val="16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网络传输过程中存在着大量二进制、未知协议以及加密流量数据。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面对规模不断膨胀的网络流量、日益普及的私有协议与加密通信，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zh-CN" altLang="en-US" sz="1400" dirty="0">
                <a:cs typeface="+mn-ea"/>
                <a:sym typeface="+mn-lt"/>
              </a:rPr>
              <a:t>即便是身经百战的网络安全专家，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以可解释、可验证的手工方式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对来源不明的二进制比特流进行结构识别，也难免感到力不从心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265555" y="3307715"/>
          <a:ext cx="5812155" cy="2499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矩形 37"/>
          <p:cNvSpPr/>
          <p:nvPr/>
        </p:nvSpPr>
        <p:spPr>
          <a:xfrm rot="5400000" flipV="1">
            <a:off x="676910" y="4549140"/>
            <a:ext cx="1888490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汉仪君黑-45简" panose="020B0604020202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2565" y="5920105"/>
            <a:ext cx="43186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60000"/>
              </a:lnSpc>
              <a:buNone/>
            </a:pPr>
            <a:r>
              <a:rPr lang="zh-CN" altLang="en-US" sz="1000" dirty="0">
                <a:cs typeface="+mn-ea"/>
                <a:sym typeface="+mn-lt"/>
              </a:rPr>
              <a:t>数据源</a:t>
            </a:r>
            <a:r>
              <a:rPr lang="en-US" altLang="zh-CN" sz="1000" dirty="0">
                <a:cs typeface="+mn-ea"/>
                <a:sym typeface="+mn-lt"/>
              </a:rPr>
              <a:t>: Kaspersky ICS Threat Landscape</a:t>
            </a:r>
            <a:r>
              <a:rPr lang="zh-CN" altLang="en-US" sz="1000" dirty="0">
                <a:cs typeface="+mn-ea"/>
                <a:sym typeface="+mn-lt"/>
              </a:rPr>
              <a:t>、</a:t>
            </a:r>
            <a:r>
              <a:rPr lang="en-US" altLang="zh-CN" sz="1000" dirty="0">
                <a:cs typeface="+mn-ea"/>
                <a:sym typeface="+mn-lt"/>
              </a:rPr>
              <a:t>Mandiant</a:t>
            </a:r>
            <a:r>
              <a:rPr lang="zh-CN" altLang="en-US" sz="1000" dirty="0">
                <a:cs typeface="+mn-ea"/>
                <a:sym typeface="+mn-lt"/>
              </a:rPr>
              <a:t>、</a:t>
            </a:r>
            <a:r>
              <a:rPr lang="en-US" altLang="zh-CN" sz="1000" dirty="0">
                <a:cs typeface="+mn-ea"/>
                <a:sym typeface="+mn-lt"/>
              </a:rPr>
              <a:t>CrowdStrike</a:t>
            </a:r>
            <a:r>
              <a:rPr lang="zh-CN" altLang="en-US" sz="1000" dirty="0">
                <a:cs typeface="+mn-ea"/>
                <a:sym typeface="+mn-lt"/>
              </a:rPr>
              <a:t>、</a:t>
            </a:r>
            <a:r>
              <a:rPr lang="en-US" altLang="zh-CN" sz="1000" dirty="0">
                <a:cs typeface="+mn-ea"/>
                <a:sym typeface="+mn-lt"/>
              </a:rPr>
              <a:t>Cisco</a:t>
            </a:r>
            <a:endParaRPr lang="en-US" altLang="zh-CN" sz="1000" dirty="0"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7254875" y="3260090"/>
            <a:ext cx="4383405" cy="2546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矩形 31"/>
          <p:cNvSpPr/>
          <p:nvPr/>
        </p:nvSpPr>
        <p:spPr>
          <a:xfrm>
            <a:off x="4978400" y="548005"/>
            <a:ext cx="208280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项目背景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463415" y="1193165"/>
            <a:ext cx="3197860" cy="36830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Background of the Project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69670" y="1651000"/>
            <a:ext cx="6085205" cy="28460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indent="0">
              <a:lnSpc>
                <a:spcPct val="16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人工智能技术的快速进步为安全从业者带来了全新思路。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我们可以基于大语言模型，构建一套融合传统统计分析、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协议逆向工程、多智能模型推理的自动化分析系统，负责重点解决：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1.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未知二进制比特流的特征提取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.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2.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数据包边界识别、聚类与对齐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.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3.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字段结构推断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.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4.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加密流量的数据访问行为分析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.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5.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受控条件下的数据还原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等复杂内容，辅助安全人员完成对网络流量的分析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1"/>
            </p:custDataLst>
          </p:nvPr>
        </p:nvSpPr>
        <p:spPr>
          <a:xfrm>
            <a:off x="1169670" y="4497070"/>
            <a:ext cx="2079625" cy="16446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7" h="2394">
                <a:moveTo>
                  <a:pt x="2284" y="0"/>
                </a:moveTo>
                <a:lnTo>
                  <a:pt x="3027" y="1197"/>
                </a:lnTo>
                <a:lnTo>
                  <a:pt x="2284" y="2394"/>
                </a:lnTo>
                <a:lnTo>
                  <a:pt x="2284" y="2157"/>
                </a:lnTo>
                <a:lnTo>
                  <a:pt x="0" y="2157"/>
                </a:lnTo>
                <a:lnTo>
                  <a:pt x="596" y="1197"/>
                </a:lnTo>
                <a:lnTo>
                  <a:pt x="0" y="237"/>
                </a:lnTo>
                <a:lnTo>
                  <a:pt x="2284" y="237"/>
                </a:lnTo>
                <a:lnTo>
                  <a:pt x="2284" y="0"/>
                </a:lnTo>
                <a:close/>
              </a:path>
            </a:pathLst>
          </a:custGeom>
          <a:solidFill>
            <a:srgbClr val="55B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+mj-ea"/>
              <a:ea typeface="+mj-ea"/>
              <a:cs typeface="汉仪君黑-45简" panose="020B0604020202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3249295" y="4497070"/>
            <a:ext cx="2079625" cy="16446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7" h="2394">
                <a:moveTo>
                  <a:pt x="2284" y="0"/>
                </a:moveTo>
                <a:lnTo>
                  <a:pt x="3027" y="1197"/>
                </a:lnTo>
                <a:lnTo>
                  <a:pt x="2284" y="2394"/>
                </a:lnTo>
                <a:lnTo>
                  <a:pt x="2284" y="2157"/>
                </a:lnTo>
                <a:lnTo>
                  <a:pt x="0" y="2157"/>
                </a:lnTo>
                <a:lnTo>
                  <a:pt x="596" y="1197"/>
                </a:lnTo>
                <a:lnTo>
                  <a:pt x="0" y="237"/>
                </a:lnTo>
                <a:lnTo>
                  <a:pt x="2284" y="237"/>
                </a:lnTo>
                <a:lnTo>
                  <a:pt x="2284" y="0"/>
                </a:lnTo>
                <a:close/>
              </a:path>
            </a:pathLst>
          </a:custGeom>
          <a:solidFill>
            <a:srgbClr val="55B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+mj-ea"/>
              <a:ea typeface="+mj-ea"/>
              <a:cs typeface="汉仪君黑-45简" panose="020B0604020202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5328920" y="4497070"/>
            <a:ext cx="2079625" cy="16446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7" h="2394">
                <a:moveTo>
                  <a:pt x="2284" y="0"/>
                </a:moveTo>
                <a:lnTo>
                  <a:pt x="3027" y="1197"/>
                </a:lnTo>
                <a:lnTo>
                  <a:pt x="2284" y="2394"/>
                </a:lnTo>
                <a:lnTo>
                  <a:pt x="2284" y="2157"/>
                </a:lnTo>
                <a:lnTo>
                  <a:pt x="0" y="2157"/>
                </a:lnTo>
                <a:lnTo>
                  <a:pt x="596" y="1197"/>
                </a:lnTo>
                <a:lnTo>
                  <a:pt x="0" y="237"/>
                </a:lnTo>
                <a:lnTo>
                  <a:pt x="2284" y="237"/>
                </a:lnTo>
                <a:lnTo>
                  <a:pt x="2284" y="0"/>
                </a:lnTo>
                <a:close/>
              </a:path>
            </a:pathLst>
          </a:custGeom>
          <a:solidFill>
            <a:srgbClr val="55B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+mj-ea"/>
              <a:ea typeface="+mj-ea"/>
              <a:cs typeface="汉仪君黑-45简" panose="020B0604020202020204" charset="-122"/>
            </a:endParaRPr>
          </a:p>
        </p:txBody>
      </p:sp>
      <p:sp>
        <p:nvSpPr>
          <p:cNvPr id="12" name="Content Placeholder 2"/>
          <p:cNvSpPr txBox="1"/>
          <p:nvPr>
            <p:custDataLst>
              <p:tags r:id="rId4"/>
            </p:custDataLst>
          </p:nvPr>
        </p:nvSpPr>
        <p:spPr bwMode="auto">
          <a:xfrm>
            <a:off x="1539875" y="4775200"/>
            <a:ext cx="127063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defTabSz="1219200" fontAlgn="base">
              <a:lnSpc>
                <a:spcPct val="150000"/>
              </a:lnSpc>
              <a:spcBef>
                <a:spcPts val="1335"/>
              </a:spcBef>
              <a:spcAft>
                <a:spcPct val="0"/>
              </a:spcAft>
            </a:pPr>
            <a:r>
              <a:rPr lang="zh-CN" sz="14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大模型提出具有语义意义的分析假设</a:t>
            </a:r>
            <a:endParaRPr lang="zh-CN" sz="1400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Content Placeholder 2"/>
          <p:cNvSpPr txBox="1"/>
          <p:nvPr>
            <p:custDataLst>
              <p:tags r:id="rId5"/>
            </p:custDataLst>
          </p:nvPr>
        </p:nvSpPr>
        <p:spPr bwMode="auto">
          <a:xfrm>
            <a:off x="3653790" y="4775200"/>
            <a:ext cx="127063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defTabSz="1219200" fontAlgn="base">
              <a:lnSpc>
                <a:spcPct val="150000"/>
              </a:lnSpc>
              <a:spcBef>
                <a:spcPts val="1335"/>
              </a:spcBef>
              <a:spcAft>
                <a:spcPct val="0"/>
              </a:spcAft>
            </a:pPr>
            <a:r>
              <a:rPr lang="zh-CN" sz="14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确定性算法利用数据对假设进行验证</a:t>
            </a:r>
            <a:endParaRPr lang="zh-CN" sz="1400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Content Placeholder 2"/>
          <p:cNvSpPr txBox="1"/>
          <p:nvPr>
            <p:custDataLst>
              <p:tags r:id="rId6"/>
            </p:custDataLst>
          </p:nvPr>
        </p:nvSpPr>
        <p:spPr bwMode="auto">
          <a:xfrm>
            <a:off x="5767705" y="4775200"/>
            <a:ext cx="127063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defTabSz="1219200" fontAlgn="base">
              <a:lnSpc>
                <a:spcPct val="150000"/>
              </a:lnSpc>
              <a:spcBef>
                <a:spcPts val="1335"/>
              </a:spcBef>
              <a:spcAft>
                <a:spcPct val="0"/>
              </a:spcAft>
            </a:pPr>
            <a:r>
              <a:rPr lang="zh-CN" sz="14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系统自动在候选解释中筛选正确选项</a:t>
            </a:r>
            <a:endParaRPr lang="zh-CN" sz="1400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7"/>
            </p:custDataLst>
          </p:nvPr>
        </p:nvSpPr>
        <p:spPr>
          <a:xfrm>
            <a:off x="7408545" y="4497070"/>
            <a:ext cx="2079625" cy="16446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7" h="2394">
                <a:moveTo>
                  <a:pt x="2284" y="0"/>
                </a:moveTo>
                <a:lnTo>
                  <a:pt x="3027" y="1197"/>
                </a:lnTo>
                <a:lnTo>
                  <a:pt x="2284" y="2394"/>
                </a:lnTo>
                <a:lnTo>
                  <a:pt x="2284" y="2157"/>
                </a:lnTo>
                <a:lnTo>
                  <a:pt x="0" y="2157"/>
                </a:lnTo>
                <a:lnTo>
                  <a:pt x="596" y="1197"/>
                </a:lnTo>
                <a:lnTo>
                  <a:pt x="0" y="237"/>
                </a:lnTo>
                <a:lnTo>
                  <a:pt x="2284" y="237"/>
                </a:lnTo>
                <a:lnTo>
                  <a:pt x="2284" y="0"/>
                </a:lnTo>
                <a:close/>
              </a:path>
            </a:pathLst>
          </a:custGeom>
          <a:solidFill>
            <a:srgbClr val="55B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+mj-ea"/>
              <a:ea typeface="+mj-ea"/>
              <a:cs typeface="汉仪君黑-45简" panose="020B0604020202020204" charset="-122"/>
            </a:endParaRPr>
          </a:p>
        </p:txBody>
      </p:sp>
      <p:sp>
        <p:nvSpPr>
          <p:cNvPr id="16" name="Content Placeholder 2"/>
          <p:cNvSpPr txBox="1"/>
          <p:nvPr>
            <p:custDataLst>
              <p:tags r:id="rId8"/>
            </p:custDataLst>
          </p:nvPr>
        </p:nvSpPr>
        <p:spPr bwMode="auto">
          <a:xfrm>
            <a:off x="7881620" y="4775200"/>
            <a:ext cx="1270635" cy="108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indent="4572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defTabSz="1219200" fontAlgn="base">
              <a:lnSpc>
                <a:spcPct val="150000"/>
              </a:lnSpc>
              <a:spcBef>
                <a:spcPts val="1335"/>
              </a:spcBef>
              <a:spcAft>
                <a:spcPct val="0"/>
              </a:spcAft>
            </a:pPr>
            <a:r>
              <a:rPr lang="zh-CN" sz="140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rPr>
              <a:t>人工完成对程序输出结果的校验检查</a:t>
            </a:r>
            <a:endParaRPr lang="zh-CN" sz="1400">
              <a:solidFill>
                <a:schemeClr val="bg1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8" name="图片 17"/>
          <p:cNvPicPr/>
          <p:nvPr/>
        </p:nvPicPr>
        <p:blipFill>
          <a:blip r:embed="rId9"/>
          <a:stretch>
            <a:fillRect/>
          </a:stretch>
        </p:blipFill>
        <p:spPr>
          <a:xfrm>
            <a:off x="7408545" y="2186940"/>
            <a:ext cx="4381500" cy="2241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矩形 31"/>
          <p:cNvSpPr/>
          <p:nvPr/>
        </p:nvSpPr>
        <p:spPr>
          <a:xfrm>
            <a:off x="4978400" y="548005"/>
            <a:ext cx="208280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项目分工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613275" y="1193165"/>
            <a:ext cx="2813050" cy="36830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b="1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Member Contributions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64" name="组合 63"/>
          <p:cNvGrpSpPr/>
          <p:nvPr>
            <p:custDataLst>
              <p:tags r:id="rId1"/>
            </p:custDataLst>
          </p:nvPr>
        </p:nvGrpSpPr>
        <p:grpSpPr>
          <a:xfrm>
            <a:off x="4592955" y="2186305"/>
            <a:ext cx="2957830" cy="2954020"/>
            <a:chOff x="7199" y="3833"/>
            <a:chExt cx="4658" cy="4652"/>
          </a:xfrm>
        </p:grpSpPr>
        <p:grpSp>
          <p:nvGrpSpPr>
            <p:cNvPr id="65" name="组合 64"/>
            <p:cNvGrpSpPr/>
            <p:nvPr/>
          </p:nvGrpSpPr>
          <p:grpSpPr>
            <a:xfrm>
              <a:off x="7199" y="3833"/>
              <a:ext cx="4658" cy="4652"/>
              <a:chOff x="7199" y="3833"/>
              <a:chExt cx="4658" cy="4652"/>
            </a:xfrm>
          </p:grpSpPr>
          <p:sp>
            <p:nvSpPr>
              <p:cNvPr id="66" name="五边形 65"/>
              <p:cNvSpPr/>
              <p:nvPr>
                <p:custDataLst>
                  <p:tags r:id="rId2"/>
                </p:custDataLst>
              </p:nvPr>
            </p:nvSpPr>
            <p:spPr>
              <a:xfrm rot="8040000">
                <a:off x="9203" y="4457"/>
                <a:ext cx="2623" cy="1374"/>
              </a:xfrm>
              <a:prstGeom prst="homePlat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五边形 66"/>
              <p:cNvSpPr/>
              <p:nvPr>
                <p:custDataLst>
                  <p:tags r:id="rId3"/>
                </p:custDataLst>
              </p:nvPr>
            </p:nvSpPr>
            <p:spPr>
              <a:xfrm rot="8040000" flipH="1">
                <a:off x="7238" y="6487"/>
                <a:ext cx="2623" cy="1374"/>
              </a:xfrm>
              <a:prstGeom prst="homePlat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五边形 67"/>
              <p:cNvSpPr/>
              <p:nvPr>
                <p:custDataLst>
                  <p:tags r:id="rId4"/>
                </p:custDataLst>
              </p:nvPr>
            </p:nvSpPr>
            <p:spPr>
              <a:xfrm rot="2640000" flipH="1">
                <a:off x="9235" y="6457"/>
                <a:ext cx="2623" cy="1374"/>
              </a:xfrm>
              <a:prstGeom prst="homePlate">
                <a:avLst/>
              </a:prstGeom>
              <a:solidFill>
                <a:srgbClr val="2663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" name="五边形 68"/>
              <p:cNvSpPr/>
              <p:nvPr>
                <p:custDataLst>
                  <p:tags r:id="rId5"/>
                </p:custDataLst>
              </p:nvPr>
            </p:nvSpPr>
            <p:spPr>
              <a:xfrm rot="13440000" flipH="1" flipV="1">
                <a:off x="7199" y="4495"/>
                <a:ext cx="2623" cy="1374"/>
              </a:xfrm>
              <a:prstGeom prst="homePlate">
                <a:avLst/>
              </a:prstGeom>
              <a:solidFill>
                <a:srgbClr val="2663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70" name="文本框 69"/>
            <p:cNvSpPr txBox="1"/>
            <p:nvPr>
              <p:custDataLst>
                <p:tags r:id="rId6"/>
              </p:custDataLst>
            </p:nvPr>
          </p:nvSpPr>
          <p:spPr>
            <a:xfrm>
              <a:off x="7859" y="4587"/>
              <a:ext cx="1172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>
                  <a:solidFill>
                    <a:schemeClr val="bg1"/>
                  </a:solidFill>
                </a:rPr>
                <a:t>01</a:t>
              </a:r>
              <a:endParaRPr lang="en-US" altLang="zh-CN" sz="4000">
                <a:solidFill>
                  <a:schemeClr val="bg1"/>
                </a:solidFill>
              </a:endParaRPr>
            </a:p>
          </p:txBody>
        </p:sp>
        <p:sp>
          <p:nvSpPr>
            <p:cNvPr id="71" name="文本框 70"/>
            <p:cNvSpPr txBox="1"/>
            <p:nvPr>
              <p:custDataLst>
                <p:tags r:id="rId7"/>
              </p:custDataLst>
            </p:nvPr>
          </p:nvSpPr>
          <p:spPr>
            <a:xfrm>
              <a:off x="9931" y="4625"/>
              <a:ext cx="138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>
                  <a:solidFill>
                    <a:schemeClr val="bg1"/>
                  </a:solidFill>
                </a:rPr>
                <a:t>02</a:t>
              </a:r>
              <a:endParaRPr lang="en-US" altLang="zh-CN" sz="4000">
                <a:solidFill>
                  <a:schemeClr val="bg1"/>
                </a:solidFill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8"/>
              </p:custDataLst>
            </p:nvPr>
          </p:nvSpPr>
          <p:spPr>
            <a:xfrm>
              <a:off x="7859" y="6564"/>
              <a:ext cx="1171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>
                  <a:solidFill>
                    <a:schemeClr val="bg1"/>
                  </a:solidFill>
                </a:rPr>
                <a:t>03</a:t>
              </a:r>
              <a:endParaRPr lang="en-US" altLang="zh-CN" sz="4000">
                <a:solidFill>
                  <a:schemeClr val="bg1"/>
                </a:solidFill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9"/>
              </p:custDataLst>
            </p:nvPr>
          </p:nvSpPr>
          <p:spPr>
            <a:xfrm>
              <a:off x="9905" y="6564"/>
              <a:ext cx="138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>
                  <a:solidFill>
                    <a:schemeClr val="bg1"/>
                  </a:solidFill>
                </a:rPr>
                <a:t>04</a:t>
              </a:r>
              <a:endParaRPr lang="en-US" altLang="zh-CN" sz="4000">
                <a:solidFill>
                  <a:schemeClr val="bg1"/>
                </a:solidFill>
              </a:endParaRPr>
            </a:p>
          </p:txBody>
        </p:sp>
      </p:grpSp>
      <p:sp>
        <p:nvSpPr>
          <p:cNvPr id="75" name="文本框 74"/>
          <p:cNvSpPr txBox="1"/>
          <p:nvPr>
            <p:custDataLst>
              <p:tags r:id="rId10"/>
            </p:custDataLst>
          </p:nvPr>
        </p:nvSpPr>
        <p:spPr>
          <a:xfrm>
            <a:off x="1045845" y="5234305"/>
            <a:ext cx="3417570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负责程序总体设计，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                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并根据项目结果撰写设计报告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 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77" name="组合 76"/>
          <p:cNvGrpSpPr/>
          <p:nvPr>
            <p:custDataLst>
              <p:tags r:id="rId11"/>
            </p:custDataLst>
          </p:nvPr>
        </p:nvGrpSpPr>
        <p:grpSpPr>
          <a:xfrm rot="0">
            <a:off x="974090" y="2051050"/>
            <a:ext cx="3417570" cy="1403174"/>
            <a:chOff x="1640" y="3559"/>
            <a:chExt cx="5738" cy="1885"/>
          </a:xfrm>
        </p:grpSpPr>
        <p:sp>
          <p:nvSpPr>
            <p:cNvPr id="78" name="文本框 77"/>
            <p:cNvSpPr txBox="1"/>
            <p:nvPr>
              <p:custDataLst>
                <p:tags r:id="rId12"/>
              </p:custDataLst>
            </p:nvPr>
          </p:nvSpPr>
          <p:spPr>
            <a:xfrm>
              <a:off x="1640" y="4454"/>
              <a:ext cx="5738" cy="9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根据设计要求</a:t>
              </a:r>
              <a:endParaRPr lang="zh-CN" altLang="en-US" sz="14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 algn="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对项目开发与测试</a:t>
              </a:r>
              <a:endParaRPr lang="zh-CN" altLang="en-US" sz="1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13"/>
              </p:custDataLst>
            </p:nvPr>
          </p:nvSpPr>
          <p:spPr>
            <a:xfrm>
              <a:off x="1640" y="3559"/>
              <a:ext cx="5692" cy="94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r"/>
              <a:r>
                <a:rPr lang="zh-CN" altLang="en-US" sz="2000" b="1" dirty="0">
                  <a:solidFill>
                    <a:srgbClr val="2663A4"/>
                  </a:solidFill>
                  <a:cs typeface="+mn-ea"/>
                  <a:sym typeface="+mn-lt"/>
                </a:rPr>
                <a:t>开发测试组</a:t>
              </a:r>
              <a:endParaRPr lang="zh-CN" altLang="en-US" sz="2000" b="1" dirty="0">
                <a:solidFill>
                  <a:srgbClr val="2663A4"/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b="1" dirty="0">
                  <a:solidFill>
                    <a:srgbClr val="00B0F0"/>
                  </a:solidFill>
                  <a:cs typeface="+mn-ea"/>
                  <a:sym typeface="+mn-lt"/>
                </a:rPr>
                <a:t>潘诗泽、吴锦澄、赵红军</a:t>
              </a:r>
              <a:r>
                <a:rPr lang="en-US" altLang="zh-CN" sz="2000" b="1" dirty="0">
                  <a:solidFill>
                    <a:srgbClr val="2663A4"/>
                  </a:solidFill>
                  <a:cs typeface="+mn-ea"/>
                  <a:sym typeface="+mn-lt"/>
                </a:rPr>
                <a:t>      </a:t>
              </a:r>
              <a:endParaRPr lang="en-US" altLang="zh-CN" sz="2000" b="1" dirty="0">
                <a:solidFill>
                  <a:srgbClr val="2663A4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1" name="文本框 80"/>
          <p:cNvSpPr txBox="1"/>
          <p:nvPr>
            <p:custDataLst>
              <p:tags r:id="rId14"/>
            </p:custDataLst>
          </p:nvPr>
        </p:nvSpPr>
        <p:spPr>
          <a:xfrm>
            <a:off x="7743825" y="5180965"/>
            <a:ext cx="341947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基于项目内容与设计报告制作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PPT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并进行最终汇报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>
            <p:custDataLst>
              <p:tags r:id="rId15"/>
            </p:custDataLst>
          </p:nvPr>
        </p:nvSpPr>
        <p:spPr>
          <a:xfrm>
            <a:off x="1007745" y="4573270"/>
            <a:ext cx="3390172" cy="706755"/>
          </a:xfrm>
          <a:prstGeom prst="rect">
            <a:avLst/>
          </a:prstGeom>
        </p:spPr>
        <p:txBody>
          <a:bodyPr wrap="square">
            <a:spAutoFit/>
          </a:bodyPr>
          <a:p>
            <a:pPr algn="r"/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设计报告撰写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r"/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朱子豪</a:t>
            </a:r>
            <a:r>
              <a:rPr lang="en-US" altLang="zh-CN" sz="2000" b="1" dirty="0">
                <a:solidFill>
                  <a:srgbClr val="2663A4"/>
                </a:solidFill>
                <a:cs typeface="+mn-ea"/>
                <a:sym typeface="+mn-lt"/>
              </a:rPr>
              <a:t>      </a:t>
            </a:r>
            <a:endParaRPr lang="en-US" altLang="zh-CN" sz="20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89" name="矩形 88"/>
          <p:cNvSpPr/>
          <p:nvPr>
            <p:custDataLst>
              <p:tags r:id="rId16"/>
            </p:custDataLst>
          </p:nvPr>
        </p:nvSpPr>
        <p:spPr>
          <a:xfrm flipH="1">
            <a:off x="7739380" y="2015490"/>
            <a:ext cx="4190365" cy="70167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录频演示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l"/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何禛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sp>
        <p:nvSpPr>
          <p:cNvPr id="90" name="矩形 89"/>
          <p:cNvSpPr/>
          <p:nvPr>
            <p:custDataLst>
              <p:tags r:id="rId17"/>
            </p:custDataLst>
          </p:nvPr>
        </p:nvSpPr>
        <p:spPr>
          <a:xfrm flipH="1">
            <a:off x="7743190" y="4531360"/>
            <a:ext cx="4190365" cy="70294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2000" b="1" dirty="0">
                <a:solidFill>
                  <a:srgbClr val="2663A4"/>
                </a:solidFill>
                <a:cs typeface="+mn-ea"/>
                <a:sym typeface="+mn-lt"/>
              </a:rPr>
              <a:t>PPT</a:t>
            </a:r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制作与项目汇报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l"/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阮辅强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sp>
        <p:nvSpPr>
          <p:cNvPr id="128" name="文本框 127"/>
          <p:cNvSpPr txBox="1"/>
          <p:nvPr>
            <p:custDataLst>
              <p:tags r:id="rId18"/>
            </p:custDataLst>
          </p:nvPr>
        </p:nvSpPr>
        <p:spPr>
          <a:xfrm>
            <a:off x="7739380" y="2689225"/>
            <a:ext cx="341947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基于项目内容与设计报告</a:t>
            </a:r>
            <a:r>
              <a:rPr lang="zh-CN" sz="1400" dirty="0">
                <a:solidFill>
                  <a:schemeClr val="tx1"/>
                </a:solidFill>
                <a:cs typeface="+mn-ea"/>
                <a:sym typeface="+mn-lt"/>
              </a:rPr>
              <a:t>，</a:t>
            </a:r>
            <a:endParaRPr lang="zh-CN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chemeClr val="tx1"/>
                </a:solidFill>
                <a:cs typeface="+mn-ea"/>
                <a:sym typeface="+mn-lt"/>
              </a:rPr>
              <a:t>录制演示视频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6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2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67" y="3140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3" name="图片 2" descr="d058ccbf6c81800ae2b41e68bf3533fa828b4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04775"/>
            <a:ext cx="3453130" cy="103632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9620250" y="6612890"/>
            <a:ext cx="2571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等线" panose="02010600030101010101" charset="-122"/>
                <a:ea typeface="等线" panose="02010600030101010101" charset="-122"/>
              </a:rPr>
              <a:t>2026  Project H.A.B.F.C  All Rights Reserved.</a:t>
            </a:r>
            <a:endParaRPr lang="zh-CN" altLang="en-US" sz="10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副标题 7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5" y="2512695"/>
            <a:ext cx="12191365" cy="103441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5400" b="1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技术原理</a:t>
            </a:r>
            <a:endParaRPr lang="zh-CN" altLang="en-US" sz="5400" b="1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240600" y="3882136"/>
            <a:ext cx="5712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385185" y="4048760"/>
            <a:ext cx="5445760" cy="1060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■ </a:t>
            </a: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系统采用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”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统计分析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-&gt;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数据包识别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-&gt;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聚类对齐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-&gt;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字段推断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-&gt;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大模型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语义解释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-&gt;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确定性验证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-&gt;Schema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生成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-&gt;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行为分析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”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的处理路线，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将大模型推理至于可验证的证据约束之下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4512310" y="3429000"/>
            <a:ext cx="3190875" cy="3638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Technical Principles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1372870" y="2051050"/>
            <a:ext cx="4926965" cy="39693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cs typeface="+mn-ea"/>
                <a:sym typeface="+mn-lt"/>
              </a:rPr>
              <a:t>完整的数据处理过程包括：</a:t>
            </a:r>
            <a:endParaRPr lang="zh-CN" altLang="en-US" sz="14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输入规范化、统计特征提取、数据包边界检测、聚类与对齐、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字段候选推断、大模型语义假设、确定性验证与证据融合、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协议 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Schema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导出和行为分类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与此同时，行为分析支路从 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Flow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的 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Size、Direction、Timing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和 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Burst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信息出发，构造行为特征，再经过规则或 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RandomForest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分类，得到 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QUERY、DOWNLOAD、UPLOAD、HEARTBEAT、STREAM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等行为类型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两条路径共享输入与部分统计证据，但分别服务于协议结构理解和流量行为理解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253740" y="1193165"/>
            <a:ext cx="5561965" cy="36830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Brief introduction to the Process of the Project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30040" y="548005"/>
            <a:ext cx="386461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系统处理流程简介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4040" y="1818640"/>
            <a:ext cx="4434205" cy="4434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文本框 41"/>
          <p:cNvSpPr txBox="1"/>
          <p:nvPr/>
        </p:nvSpPr>
        <p:spPr>
          <a:xfrm>
            <a:off x="7914640" y="2868295"/>
            <a:ext cx="3341370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引入检索机制，避免系统误将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    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模型自报概率视为既成事实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14640" y="5280660"/>
            <a:ext cx="3341370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模型、证据、验证、最终置信度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   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独立记录与使用，避免混淆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27175" y="2844800"/>
            <a:ext cx="2736215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第三方组件通过适配器接入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    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不跨越模块边界，同时桌面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 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    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端不显式暴露任意命令执行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46480" y="5280660"/>
            <a:ext cx="3341370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独立分析来源组件、使用方法、特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     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征族、得分、证据、数据相关性等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973830" y="1876425"/>
            <a:ext cx="4244340" cy="4244340"/>
            <a:chOff x="6258" y="2955"/>
            <a:chExt cx="6684" cy="6684"/>
          </a:xfrm>
        </p:grpSpPr>
        <p:grpSp>
          <p:nvGrpSpPr>
            <p:cNvPr id="2" name="组合 1"/>
            <p:cNvGrpSpPr/>
            <p:nvPr/>
          </p:nvGrpSpPr>
          <p:grpSpPr>
            <a:xfrm>
              <a:off x="6258" y="2955"/>
              <a:ext cx="6684" cy="6684"/>
              <a:chOff x="6258" y="2955"/>
              <a:chExt cx="6684" cy="6684"/>
            </a:xfrm>
          </p:grpSpPr>
          <p:grpSp>
            <p:nvGrpSpPr>
              <p:cNvPr id="13" name="组合 12"/>
              <p:cNvGrpSpPr/>
              <p:nvPr/>
            </p:nvGrpSpPr>
            <p:grpSpPr>
              <a:xfrm rot="2580000">
                <a:off x="6258" y="2955"/>
                <a:ext cx="6684" cy="6684"/>
                <a:chOff x="6403" y="3321"/>
                <a:chExt cx="6684" cy="6684"/>
              </a:xfrm>
            </p:grpSpPr>
            <p:sp>
              <p:nvSpPr>
                <p:cNvPr id="8" name="稻壳儿搜索;幻雨工作室_2"/>
                <p:cNvSpPr/>
                <p:nvPr/>
              </p:nvSpPr>
              <p:spPr>
                <a:xfrm>
                  <a:off x="8226" y="3321"/>
                  <a:ext cx="2997" cy="3342"/>
                </a:xfrm>
                <a:custGeom>
                  <a:avLst/>
                  <a:gdLst>
                    <a:gd name="connsiteX0" fmla="*/ 657246 w 1295672"/>
                    <a:gd name="connsiteY0" fmla="*/ 0 h 1444859"/>
                    <a:gd name="connsiteX1" fmla="*/ 740242 w 1295672"/>
                    <a:gd name="connsiteY1" fmla="*/ 39981 h 1444859"/>
                    <a:gd name="connsiteX2" fmla="*/ 1292200 w 1295672"/>
                    <a:gd name="connsiteY2" fmla="*/ 783685 h 1444859"/>
                    <a:gd name="connsiteX3" fmla="*/ 1295672 w 1295672"/>
                    <a:gd name="connsiteY3" fmla="*/ 806432 h 1444859"/>
                    <a:gd name="connsiteX4" fmla="*/ 1209470 w 1295672"/>
                    <a:gd name="connsiteY4" fmla="*/ 793276 h 1444859"/>
                    <a:gd name="connsiteX5" fmla="*/ 1097279 w 1295672"/>
                    <a:gd name="connsiteY5" fmla="*/ 787611 h 1444859"/>
                    <a:gd name="connsiteX6" fmla="*/ 670168 w 1295672"/>
                    <a:gd name="connsiteY6" fmla="*/ 873841 h 1444859"/>
                    <a:gd name="connsiteX7" fmla="*/ 657246 w 1295672"/>
                    <a:gd name="connsiteY7" fmla="*/ 880066 h 1444859"/>
                    <a:gd name="connsiteX8" fmla="*/ 644324 w 1295672"/>
                    <a:gd name="connsiteY8" fmla="*/ 873841 h 1444859"/>
                    <a:gd name="connsiteX9" fmla="*/ 596460 w 1295672"/>
                    <a:gd name="connsiteY9" fmla="*/ 856323 h 1444859"/>
                    <a:gd name="connsiteX10" fmla="*/ 596459 w 1295672"/>
                    <a:gd name="connsiteY10" fmla="*/ 856323 h 1444859"/>
                    <a:gd name="connsiteX11" fmla="*/ 644325 w 1295672"/>
                    <a:gd name="connsiteY11" fmla="*/ 873842 h 1444859"/>
                    <a:gd name="connsiteX12" fmla="*/ 657247 w 1295672"/>
                    <a:gd name="connsiteY12" fmla="*/ 880067 h 1444859"/>
                    <a:gd name="connsiteX13" fmla="*/ 574251 w 1295672"/>
                    <a:gd name="connsiteY13" fmla="*/ 920048 h 1444859"/>
                    <a:gd name="connsiteX14" fmla="*/ 132436 w 1295672"/>
                    <a:gd name="connsiteY14" fmla="*/ 1361863 h 1444859"/>
                    <a:gd name="connsiteX15" fmla="*/ 92455 w 1295672"/>
                    <a:gd name="connsiteY15" fmla="*/ 1444859 h 1444859"/>
                    <a:gd name="connsiteX16" fmla="*/ 86230 w 1295672"/>
                    <a:gd name="connsiteY16" fmla="*/ 1431937 h 1444859"/>
                    <a:gd name="connsiteX17" fmla="*/ 0 w 1295672"/>
                    <a:gd name="connsiteY17" fmla="*/ 1004826 h 1444859"/>
                    <a:gd name="connsiteX18" fmla="*/ 5665 w 1295672"/>
                    <a:gd name="connsiteY18" fmla="*/ 892635 h 1444859"/>
                    <a:gd name="connsiteX19" fmla="*/ 18821 w 1295672"/>
                    <a:gd name="connsiteY19" fmla="*/ 806433 h 1444859"/>
                    <a:gd name="connsiteX20" fmla="*/ 74519 w 1295672"/>
                    <a:gd name="connsiteY20" fmla="*/ 797933 h 1444859"/>
                    <a:gd name="connsiteX21" fmla="*/ 74519 w 1295672"/>
                    <a:gd name="connsiteY21" fmla="*/ 797931 h 1444859"/>
                    <a:gd name="connsiteX22" fmla="*/ 18820 w 1295672"/>
                    <a:gd name="connsiteY22" fmla="*/ 806432 h 1444859"/>
                    <a:gd name="connsiteX23" fmla="*/ 22292 w 1295672"/>
                    <a:gd name="connsiteY23" fmla="*/ 783685 h 1444859"/>
                    <a:gd name="connsiteX24" fmla="*/ 574250 w 1295672"/>
                    <a:gd name="connsiteY24" fmla="*/ 39981 h 1444859"/>
                    <a:gd name="connsiteX0-1" fmla="*/ 657246 w 1295672"/>
                    <a:gd name="connsiteY0-2" fmla="*/ 0 h 1444859"/>
                    <a:gd name="connsiteX1-3" fmla="*/ 740242 w 1295672"/>
                    <a:gd name="connsiteY1-4" fmla="*/ 39981 h 1444859"/>
                    <a:gd name="connsiteX2-5" fmla="*/ 1292200 w 1295672"/>
                    <a:gd name="connsiteY2-6" fmla="*/ 783685 h 1444859"/>
                    <a:gd name="connsiteX3-7" fmla="*/ 1295672 w 1295672"/>
                    <a:gd name="connsiteY3-8" fmla="*/ 806432 h 1444859"/>
                    <a:gd name="connsiteX4-9" fmla="*/ 1209470 w 1295672"/>
                    <a:gd name="connsiteY4-10" fmla="*/ 793276 h 1444859"/>
                    <a:gd name="connsiteX5-11" fmla="*/ 1097279 w 1295672"/>
                    <a:gd name="connsiteY5-12" fmla="*/ 787611 h 1444859"/>
                    <a:gd name="connsiteX6-13" fmla="*/ 670168 w 1295672"/>
                    <a:gd name="connsiteY6-14" fmla="*/ 873841 h 1444859"/>
                    <a:gd name="connsiteX7-15" fmla="*/ 657246 w 1295672"/>
                    <a:gd name="connsiteY7-16" fmla="*/ 880066 h 1444859"/>
                    <a:gd name="connsiteX8-17" fmla="*/ 644324 w 1295672"/>
                    <a:gd name="connsiteY8-18" fmla="*/ 873841 h 1444859"/>
                    <a:gd name="connsiteX9-19" fmla="*/ 596460 w 1295672"/>
                    <a:gd name="connsiteY9-20" fmla="*/ 856323 h 1444859"/>
                    <a:gd name="connsiteX10-21" fmla="*/ 596459 w 1295672"/>
                    <a:gd name="connsiteY10-22" fmla="*/ 856323 h 1444859"/>
                    <a:gd name="connsiteX11-23" fmla="*/ 644325 w 1295672"/>
                    <a:gd name="connsiteY11-24" fmla="*/ 873842 h 1444859"/>
                    <a:gd name="connsiteX12-25" fmla="*/ 657247 w 1295672"/>
                    <a:gd name="connsiteY12-26" fmla="*/ 880067 h 1444859"/>
                    <a:gd name="connsiteX13-27" fmla="*/ 574251 w 1295672"/>
                    <a:gd name="connsiteY13-28" fmla="*/ 920048 h 1444859"/>
                    <a:gd name="connsiteX14-29" fmla="*/ 132436 w 1295672"/>
                    <a:gd name="connsiteY14-30" fmla="*/ 1361863 h 1444859"/>
                    <a:gd name="connsiteX15-31" fmla="*/ 92455 w 1295672"/>
                    <a:gd name="connsiteY15-32" fmla="*/ 1444859 h 1444859"/>
                    <a:gd name="connsiteX16-33" fmla="*/ 86230 w 1295672"/>
                    <a:gd name="connsiteY16-34" fmla="*/ 1431937 h 1444859"/>
                    <a:gd name="connsiteX17-35" fmla="*/ 0 w 1295672"/>
                    <a:gd name="connsiteY17-36" fmla="*/ 1004826 h 1444859"/>
                    <a:gd name="connsiteX18-37" fmla="*/ 5665 w 1295672"/>
                    <a:gd name="connsiteY18-38" fmla="*/ 892635 h 1444859"/>
                    <a:gd name="connsiteX19-39" fmla="*/ 18821 w 1295672"/>
                    <a:gd name="connsiteY19-40" fmla="*/ 806433 h 1444859"/>
                    <a:gd name="connsiteX20-41" fmla="*/ 74519 w 1295672"/>
                    <a:gd name="connsiteY20-42" fmla="*/ 797933 h 1444859"/>
                    <a:gd name="connsiteX21-43" fmla="*/ 18820 w 1295672"/>
                    <a:gd name="connsiteY21-44" fmla="*/ 806432 h 1444859"/>
                    <a:gd name="connsiteX22-45" fmla="*/ 22292 w 1295672"/>
                    <a:gd name="connsiteY22-46" fmla="*/ 783685 h 1444859"/>
                    <a:gd name="connsiteX23-47" fmla="*/ 574250 w 1295672"/>
                    <a:gd name="connsiteY23-48" fmla="*/ 39981 h 1444859"/>
                    <a:gd name="connsiteX24-49" fmla="*/ 657246 w 1295672"/>
                    <a:gd name="connsiteY24-50" fmla="*/ 0 h 1444859"/>
                    <a:gd name="connsiteX0-51" fmla="*/ 657246 w 1295672"/>
                    <a:gd name="connsiteY0-52" fmla="*/ 0 h 1444859"/>
                    <a:gd name="connsiteX1-53" fmla="*/ 740242 w 1295672"/>
                    <a:gd name="connsiteY1-54" fmla="*/ 39981 h 1444859"/>
                    <a:gd name="connsiteX2-55" fmla="*/ 1292200 w 1295672"/>
                    <a:gd name="connsiteY2-56" fmla="*/ 783685 h 1444859"/>
                    <a:gd name="connsiteX3-57" fmla="*/ 1295672 w 1295672"/>
                    <a:gd name="connsiteY3-58" fmla="*/ 806432 h 1444859"/>
                    <a:gd name="connsiteX4-59" fmla="*/ 1209470 w 1295672"/>
                    <a:gd name="connsiteY4-60" fmla="*/ 793276 h 1444859"/>
                    <a:gd name="connsiteX5-61" fmla="*/ 1097279 w 1295672"/>
                    <a:gd name="connsiteY5-62" fmla="*/ 787611 h 1444859"/>
                    <a:gd name="connsiteX6-63" fmla="*/ 670168 w 1295672"/>
                    <a:gd name="connsiteY6-64" fmla="*/ 873841 h 1444859"/>
                    <a:gd name="connsiteX7-65" fmla="*/ 657246 w 1295672"/>
                    <a:gd name="connsiteY7-66" fmla="*/ 880066 h 1444859"/>
                    <a:gd name="connsiteX8-67" fmla="*/ 644324 w 1295672"/>
                    <a:gd name="connsiteY8-68" fmla="*/ 873841 h 1444859"/>
                    <a:gd name="connsiteX9-69" fmla="*/ 596460 w 1295672"/>
                    <a:gd name="connsiteY9-70" fmla="*/ 856323 h 1444859"/>
                    <a:gd name="connsiteX10-71" fmla="*/ 596459 w 1295672"/>
                    <a:gd name="connsiteY10-72" fmla="*/ 856323 h 1444859"/>
                    <a:gd name="connsiteX11-73" fmla="*/ 644325 w 1295672"/>
                    <a:gd name="connsiteY11-74" fmla="*/ 873842 h 1444859"/>
                    <a:gd name="connsiteX12-75" fmla="*/ 657247 w 1295672"/>
                    <a:gd name="connsiteY12-76" fmla="*/ 880067 h 1444859"/>
                    <a:gd name="connsiteX13-77" fmla="*/ 574251 w 1295672"/>
                    <a:gd name="connsiteY13-78" fmla="*/ 920048 h 1444859"/>
                    <a:gd name="connsiteX14-79" fmla="*/ 132436 w 1295672"/>
                    <a:gd name="connsiteY14-80" fmla="*/ 1361863 h 1444859"/>
                    <a:gd name="connsiteX15-81" fmla="*/ 92455 w 1295672"/>
                    <a:gd name="connsiteY15-82" fmla="*/ 1444859 h 1444859"/>
                    <a:gd name="connsiteX16-83" fmla="*/ 86230 w 1295672"/>
                    <a:gd name="connsiteY16-84" fmla="*/ 1431937 h 1444859"/>
                    <a:gd name="connsiteX17-85" fmla="*/ 0 w 1295672"/>
                    <a:gd name="connsiteY17-86" fmla="*/ 1004826 h 1444859"/>
                    <a:gd name="connsiteX18-87" fmla="*/ 5665 w 1295672"/>
                    <a:gd name="connsiteY18-88" fmla="*/ 892635 h 1444859"/>
                    <a:gd name="connsiteX19-89" fmla="*/ 18821 w 1295672"/>
                    <a:gd name="connsiteY19-90" fmla="*/ 806433 h 1444859"/>
                    <a:gd name="connsiteX20-91" fmla="*/ 18820 w 1295672"/>
                    <a:gd name="connsiteY20-92" fmla="*/ 806432 h 1444859"/>
                    <a:gd name="connsiteX21-93" fmla="*/ 22292 w 1295672"/>
                    <a:gd name="connsiteY21-94" fmla="*/ 783685 h 1444859"/>
                    <a:gd name="connsiteX22-95" fmla="*/ 574250 w 1295672"/>
                    <a:gd name="connsiteY22-96" fmla="*/ 39981 h 1444859"/>
                    <a:gd name="connsiteX23-97" fmla="*/ 657246 w 1295672"/>
                    <a:gd name="connsiteY23-98" fmla="*/ 0 h 1444859"/>
                    <a:gd name="connsiteX0-99" fmla="*/ 657246 w 1295672"/>
                    <a:gd name="connsiteY0-100" fmla="*/ 0 h 1444859"/>
                    <a:gd name="connsiteX1-101" fmla="*/ 740242 w 1295672"/>
                    <a:gd name="connsiteY1-102" fmla="*/ 39981 h 1444859"/>
                    <a:gd name="connsiteX2-103" fmla="*/ 1292200 w 1295672"/>
                    <a:gd name="connsiteY2-104" fmla="*/ 783685 h 1444859"/>
                    <a:gd name="connsiteX3-105" fmla="*/ 1295672 w 1295672"/>
                    <a:gd name="connsiteY3-106" fmla="*/ 806432 h 1444859"/>
                    <a:gd name="connsiteX4-107" fmla="*/ 1209470 w 1295672"/>
                    <a:gd name="connsiteY4-108" fmla="*/ 793276 h 1444859"/>
                    <a:gd name="connsiteX5-109" fmla="*/ 1097279 w 1295672"/>
                    <a:gd name="connsiteY5-110" fmla="*/ 787611 h 1444859"/>
                    <a:gd name="connsiteX6-111" fmla="*/ 670168 w 1295672"/>
                    <a:gd name="connsiteY6-112" fmla="*/ 873841 h 1444859"/>
                    <a:gd name="connsiteX7-113" fmla="*/ 657246 w 1295672"/>
                    <a:gd name="connsiteY7-114" fmla="*/ 880066 h 1444859"/>
                    <a:gd name="connsiteX8-115" fmla="*/ 644324 w 1295672"/>
                    <a:gd name="connsiteY8-116" fmla="*/ 873841 h 1444859"/>
                    <a:gd name="connsiteX9-117" fmla="*/ 596460 w 1295672"/>
                    <a:gd name="connsiteY9-118" fmla="*/ 856323 h 1444859"/>
                    <a:gd name="connsiteX10-119" fmla="*/ 644325 w 1295672"/>
                    <a:gd name="connsiteY10-120" fmla="*/ 873842 h 1444859"/>
                    <a:gd name="connsiteX11-121" fmla="*/ 657247 w 1295672"/>
                    <a:gd name="connsiteY11-122" fmla="*/ 880067 h 1444859"/>
                    <a:gd name="connsiteX12-123" fmla="*/ 574251 w 1295672"/>
                    <a:gd name="connsiteY12-124" fmla="*/ 920048 h 1444859"/>
                    <a:gd name="connsiteX13-125" fmla="*/ 132436 w 1295672"/>
                    <a:gd name="connsiteY13-126" fmla="*/ 1361863 h 1444859"/>
                    <a:gd name="connsiteX14-127" fmla="*/ 92455 w 1295672"/>
                    <a:gd name="connsiteY14-128" fmla="*/ 1444859 h 1444859"/>
                    <a:gd name="connsiteX15-129" fmla="*/ 86230 w 1295672"/>
                    <a:gd name="connsiteY15-130" fmla="*/ 1431937 h 1444859"/>
                    <a:gd name="connsiteX16-131" fmla="*/ 0 w 1295672"/>
                    <a:gd name="connsiteY16-132" fmla="*/ 1004826 h 1444859"/>
                    <a:gd name="connsiteX17-133" fmla="*/ 5665 w 1295672"/>
                    <a:gd name="connsiteY17-134" fmla="*/ 892635 h 1444859"/>
                    <a:gd name="connsiteX18-135" fmla="*/ 18821 w 1295672"/>
                    <a:gd name="connsiteY18-136" fmla="*/ 806433 h 1444859"/>
                    <a:gd name="connsiteX19-137" fmla="*/ 18820 w 1295672"/>
                    <a:gd name="connsiteY19-138" fmla="*/ 806432 h 1444859"/>
                    <a:gd name="connsiteX20-139" fmla="*/ 22292 w 1295672"/>
                    <a:gd name="connsiteY20-140" fmla="*/ 783685 h 1444859"/>
                    <a:gd name="connsiteX21-141" fmla="*/ 574250 w 1295672"/>
                    <a:gd name="connsiteY21-142" fmla="*/ 39981 h 1444859"/>
                    <a:gd name="connsiteX22-143" fmla="*/ 657246 w 1295672"/>
                    <a:gd name="connsiteY22-144" fmla="*/ 0 h 1444859"/>
                    <a:gd name="connsiteX0-145" fmla="*/ 657246 w 1295672"/>
                    <a:gd name="connsiteY0-146" fmla="*/ 0 h 1444859"/>
                    <a:gd name="connsiteX1-147" fmla="*/ 740242 w 1295672"/>
                    <a:gd name="connsiteY1-148" fmla="*/ 39981 h 1444859"/>
                    <a:gd name="connsiteX2-149" fmla="*/ 1292200 w 1295672"/>
                    <a:gd name="connsiteY2-150" fmla="*/ 783685 h 1444859"/>
                    <a:gd name="connsiteX3-151" fmla="*/ 1295672 w 1295672"/>
                    <a:gd name="connsiteY3-152" fmla="*/ 806432 h 1444859"/>
                    <a:gd name="connsiteX4-153" fmla="*/ 1209470 w 1295672"/>
                    <a:gd name="connsiteY4-154" fmla="*/ 793276 h 1444859"/>
                    <a:gd name="connsiteX5-155" fmla="*/ 1097279 w 1295672"/>
                    <a:gd name="connsiteY5-156" fmla="*/ 787611 h 1444859"/>
                    <a:gd name="connsiteX6-157" fmla="*/ 670168 w 1295672"/>
                    <a:gd name="connsiteY6-158" fmla="*/ 873841 h 1444859"/>
                    <a:gd name="connsiteX7-159" fmla="*/ 657246 w 1295672"/>
                    <a:gd name="connsiteY7-160" fmla="*/ 880066 h 1444859"/>
                    <a:gd name="connsiteX8-161" fmla="*/ 644324 w 1295672"/>
                    <a:gd name="connsiteY8-162" fmla="*/ 873841 h 1444859"/>
                    <a:gd name="connsiteX9-163" fmla="*/ 644325 w 1295672"/>
                    <a:gd name="connsiteY9-164" fmla="*/ 873842 h 1444859"/>
                    <a:gd name="connsiteX10-165" fmla="*/ 657247 w 1295672"/>
                    <a:gd name="connsiteY10-166" fmla="*/ 880067 h 1444859"/>
                    <a:gd name="connsiteX11-167" fmla="*/ 574251 w 1295672"/>
                    <a:gd name="connsiteY11-168" fmla="*/ 920048 h 1444859"/>
                    <a:gd name="connsiteX12-169" fmla="*/ 132436 w 1295672"/>
                    <a:gd name="connsiteY12-170" fmla="*/ 1361863 h 1444859"/>
                    <a:gd name="connsiteX13-171" fmla="*/ 92455 w 1295672"/>
                    <a:gd name="connsiteY13-172" fmla="*/ 1444859 h 1444859"/>
                    <a:gd name="connsiteX14-173" fmla="*/ 86230 w 1295672"/>
                    <a:gd name="connsiteY14-174" fmla="*/ 1431937 h 1444859"/>
                    <a:gd name="connsiteX15-175" fmla="*/ 0 w 1295672"/>
                    <a:gd name="connsiteY15-176" fmla="*/ 1004826 h 1444859"/>
                    <a:gd name="connsiteX16-177" fmla="*/ 5665 w 1295672"/>
                    <a:gd name="connsiteY16-178" fmla="*/ 892635 h 1444859"/>
                    <a:gd name="connsiteX17-179" fmla="*/ 18821 w 1295672"/>
                    <a:gd name="connsiteY17-180" fmla="*/ 806433 h 1444859"/>
                    <a:gd name="connsiteX18-181" fmla="*/ 18820 w 1295672"/>
                    <a:gd name="connsiteY18-182" fmla="*/ 806432 h 1444859"/>
                    <a:gd name="connsiteX19-183" fmla="*/ 22292 w 1295672"/>
                    <a:gd name="connsiteY19-184" fmla="*/ 783685 h 1444859"/>
                    <a:gd name="connsiteX20-185" fmla="*/ 574250 w 1295672"/>
                    <a:gd name="connsiteY20-186" fmla="*/ 39981 h 1444859"/>
                    <a:gd name="connsiteX21-187" fmla="*/ 657246 w 1295672"/>
                    <a:gd name="connsiteY21-188" fmla="*/ 0 h 1444859"/>
                    <a:gd name="connsiteX0-189" fmla="*/ 657246 w 1295672"/>
                    <a:gd name="connsiteY0-190" fmla="*/ 0 h 1444859"/>
                    <a:gd name="connsiteX1-191" fmla="*/ 740242 w 1295672"/>
                    <a:gd name="connsiteY1-192" fmla="*/ 39981 h 1444859"/>
                    <a:gd name="connsiteX2-193" fmla="*/ 1292200 w 1295672"/>
                    <a:gd name="connsiteY2-194" fmla="*/ 783685 h 1444859"/>
                    <a:gd name="connsiteX3-195" fmla="*/ 1295672 w 1295672"/>
                    <a:gd name="connsiteY3-196" fmla="*/ 806432 h 1444859"/>
                    <a:gd name="connsiteX4-197" fmla="*/ 1209470 w 1295672"/>
                    <a:gd name="connsiteY4-198" fmla="*/ 793276 h 1444859"/>
                    <a:gd name="connsiteX5-199" fmla="*/ 1097279 w 1295672"/>
                    <a:gd name="connsiteY5-200" fmla="*/ 787611 h 1444859"/>
                    <a:gd name="connsiteX6-201" fmla="*/ 670168 w 1295672"/>
                    <a:gd name="connsiteY6-202" fmla="*/ 873841 h 1444859"/>
                    <a:gd name="connsiteX7-203" fmla="*/ 657246 w 1295672"/>
                    <a:gd name="connsiteY7-204" fmla="*/ 880066 h 1444859"/>
                    <a:gd name="connsiteX8-205" fmla="*/ 644324 w 1295672"/>
                    <a:gd name="connsiteY8-206" fmla="*/ 873841 h 1444859"/>
                    <a:gd name="connsiteX9-207" fmla="*/ 657247 w 1295672"/>
                    <a:gd name="connsiteY9-208" fmla="*/ 880067 h 1444859"/>
                    <a:gd name="connsiteX10-209" fmla="*/ 574251 w 1295672"/>
                    <a:gd name="connsiteY10-210" fmla="*/ 920048 h 1444859"/>
                    <a:gd name="connsiteX11-211" fmla="*/ 132436 w 1295672"/>
                    <a:gd name="connsiteY11-212" fmla="*/ 1361863 h 1444859"/>
                    <a:gd name="connsiteX12-213" fmla="*/ 92455 w 1295672"/>
                    <a:gd name="connsiteY12-214" fmla="*/ 1444859 h 1444859"/>
                    <a:gd name="connsiteX13-215" fmla="*/ 86230 w 1295672"/>
                    <a:gd name="connsiteY13-216" fmla="*/ 1431937 h 1444859"/>
                    <a:gd name="connsiteX14-217" fmla="*/ 0 w 1295672"/>
                    <a:gd name="connsiteY14-218" fmla="*/ 1004826 h 1444859"/>
                    <a:gd name="connsiteX15-219" fmla="*/ 5665 w 1295672"/>
                    <a:gd name="connsiteY15-220" fmla="*/ 892635 h 1444859"/>
                    <a:gd name="connsiteX16-221" fmla="*/ 18821 w 1295672"/>
                    <a:gd name="connsiteY16-222" fmla="*/ 806433 h 1444859"/>
                    <a:gd name="connsiteX17-223" fmla="*/ 18820 w 1295672"/>
                    <a:gd name="connsiteY17-224" fmla="*/ 806432 h 1444859"/>
                    <a:gd name="connsiteX18-225" fmla="*/ 22292 w 1295672"/>
                    <a:gd name="connsiteY18-226" fmla="*/ 783685 h 1444859"/>
                    <a:gd name="connsiteX19-227" fmla="*/ 574250 w 1295672"/>
                    <a:gd name="connsiteY19-228" fmla="*/ 39981 h 1444859"/>
                    <a:gd name="connsiteX20-229" fmla="*/ 657246 w 1295672"/>
                    <a:gd name="connsiteY20-230" fmla="*/ 0 h 1444859"/>
                    <a:gd name="connsiteX0-231" fmla="*/ 657246 w 1295672"/>
                    <a:gd name="connsiteY0-232" fmla="*/ 0 h 1444859"/>
                    <a:gd name="connsiteX1-233" fmla="*/ 740242 w 1295672"/>
                    <a:gd name="connsiteY1-234" fmla="*/ 39981 h 1444859"/>
                    <a:gd name="connsiteX2-235" fmla="*/ 1292200 w 1295672"/>
                    <a:gd name="connsiteY2-236" fmla="*/ 783685 h 1444859"/>
                    <a:gd name="connsiteX3-237" fmla="*/ 1295672 w 1295672"/>
                    <a:gd name="connsiteY3-238" fmla="*/ 806432 h 1444859"/>
                    <a:gd name="connsiteX4-239" fmla="*/ 1209470 w 1295672"/>
                    <a:gd name="connsiteY4-240" fmla="*/ 793276 h 1444859"/>
                    <a:gd name="connsiteX5-241" fmla="*/ 1097279 w 1295672"/>
                    <a:gd name="connsiteY5-242" fmla="*/ 787611 h 1444859"/>
                    <a:gd name="connsiteX6-243" fmla="*/ 670168 w 1295672"/>
                    <a:gd name="connsiteY6-244" fmla="*/ 873841 h 1444859"/>
                    <a:gd name="connsiteX7-245" fmla="*/ 657246 w 1295672"/>
                    <a:gd name="connsiteY7-246" fmla="*/ 880066 h 1444859"/>
                    <a:gd name="connsiteX8-247" fmla="*/ 657247 w 1295672"/>
                    <a:gd name="connsiteY8-248" fmla="*/ 880067 h 1444859"/>
                    <a:gd name="connsiteX9-249" fmla="*/ 574251 w 1295672"/>
                    <a:gd name="connsiteY9-250" fmla="*/ 920048 h 1444859"/>
                    <a:gd name="connsiteX10-251" fmla="*/ 132436 w 1295672"/>
                    <a:gd name="connsiteY10-252" fmla="*/ 1361863 h 1444859"/>
                    <a:gd name="connsiteX11-253" fmla="*/ 92455 w 1295672"/>
                    <a:gd name="connsiteY11-254" fmla="*/ 1444859 h 1444859"/>
                    <a:gd name="connsiteX12-255" fmla="*/ 86230 w 1295672"/>
                    <a:gd name="connsiteY12-256" fmla="*/ 1431937 h 1444859"/>
                    <a:gd name="connsiteX13-257" fmla="*/ 0 w 1295672"/>
                    <a:gd name="connsiteY13-258" fmla="*/ 1004826 h 1444859"/>
                    <a:gd name="connsiteX14-259" fmla="*/ 5665 w 1295672"/>
                    <a:gd name="connsiteY14-260" fmla="*/ 892635 h 1444859"/>
                    <a:gd name="connsiteX15-261" fmla="*/ 18821 w 1295672"/>
                    <a:gd name="connsiteY15-262" fmla="*/ 806433 h 1444859"/>
                    <a:gd name="connsiteX16-263" fmla="*/ 18820 w 1295672"/>
                    <a:gd name="connsiteY16-264" fmla="*/ 806432 h 1444859"/>
                    <a:gd name="connsiteX17-265" fmla="*/ 22292 w 1295672"/>
                    <a:gd name="connsiteY17-266" fmla="*/ 783685 h 1444859"/>
                    <a:gd name="connsiteX18-267" fmla="*/ 574250 w 1295672"/>
                    <a:gd name="connsiteY18-268" fmla="*/ 39981 h 1444859"/>
                    <a:gd name="connsiteX19-269" fmla="*/ 657246 w 1295672"/>
                    <a:gd name="connsiteY19-270" fmla="*/ 0 h 144485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</a:cxnLst>
                  <a:rect l="l" t="t" r="r" b="b"/>
                  <a:pathLst>
                    <a:path w="1295672" h="1444859">
                      <a:moveTo>
                        <a:pt x="657246" y="0"/>
                      </a:moveTo>
                      <a:lnTo>
                        <a:pt x="740242" y="39981"/>
                      </a:lnTo>
                      <a:cubicBezTo>
                        <a:pt x="1020101" y="192009"/>
                        <a:pt x="1226425" y="462249"/>
                        <a:pt x="1292200" y="783685"/>
                      </a:cubicBezTo>
                      <a:lnTo>
                        <a:pt x="1295672" y="806432"/>
                      </a:lnTo>
                      <a:lnTo>
                        <a:pt x="1209470" y="793276"/>
                      </a:lnTo>
                      <a:cubicBezTo>
                        <a:pt x="1172582" y="789530"/>
                        <a:pt x="1135155" y="787611"/>
                        <a:pt x="1097279" y="787611"/>
                      </a:cubicBezTo>
                      <a:cubicBezTo>
                        <a:pt x="945776" y="787611"/>
                        <a:pt x="801445" y="818315"/>
                        <a:pt x="670168" y="873841"/>
                      </a:cubicBezTo>
                      <a:lnTo>
                        <a:pt x="657246" y="880066"/>
                      </a:lnTo>
                      <a:lnTo>
                        <a:pt x="657247" y="880067"/>
                      </a:lnTo>
                      <a:lnTo>
                        <a:pt x="574251" y="920048"/>
                      </a:lnTo>
                      <a:cubicBezTo>
                        <a:pt x="387679" y="1021400"/>
                        <a:pt x="233788" y="1175291"/>
                        <a:pt x="132436" y="1361863"/>
                      </a:cubicBezTo>
                      <a:lnTo>
                        <a:pt x="92455" y="1444859"/>
                      </a:lnTo>
                      <a:lnTo>
                        <a:pt x="86230" y="1431937"/>
                      </a:lnTo>
                      <a:cubicBezTo>
                        <a:pt x="30704" y="1300660"/>
                        <a:pt x="0" y="1156329"/>
                        <a:pt x="0" y="1004826"/>
                      </a:cubicBezTo>
                      <a:cubicBezTo>
                        <a:pt x="0" y="966950"/>
                        <a:pt x="1919" y="929523"/>
                        <a:pt x="5665" y="892635"/>
                      </a:cubicBezTo>
                      <a:lnTo>
                        <a:pt x="18821" y="806433"/>
                      </a:lnTo>
                      <a:lnTo>
                        <a:pt x="18820" y="806432"/>
                      </a:lnTo>
                      <a:lnTo>
                        <a:pt x="22292" y="783685"/>
                      </a:lnTo>
                      <a:cubicBezTo>
                        <a:pt x="88067" y="462249"/>
                        <a:pt x="294391" y="192009"/>
                        <a:pt x="574250" y="39981"/>
                      </a:cubicBezTo>
                      <a:lnTo>
                        <a:pt x="657246" y="0"/>
                      </a:lnTo>
                      <a:close/>
                    </a:path>
                  </a:pathLst>
                </a:custGeom>
                <a:solidFill>
                  <a:srgbClr val="1C56A6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504000" anchor="ctr"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800" dirty="0"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稻壳儿搜索;幻雨工作室_3"/>
                <p:cNvSpPr/>
                <p:nvPr/>
              </p:nvSpPr>
              <p:spPr>
                <a:xfrm>
                  <a:off x="9745" y="5144"/>
                  <a:ext cx="3342" cy="2997"/>
                </a:xfrm>
                <a:custGeom>
                  <a:avLst/>
                  <a:gdLst>
                    <a:gd name="connsiteX0" fmla="*/ 440033 w 1444857"/>
                    <a:gd name="connsiteY0" fmla="*/ 0 h 1295672"/>
                    <a:gd name="connsiteX1" fmla="*/ 552224 w 1444857"/>
                    <a:gd name="connsiteY1" fmla="*/ 5665 h 1295672"/>
                    <a:gd name="connsiteX2" fmla="*/ 638425 w 1444857"/>
                    <a:gd name="connsiteY2" fmla="*/ 18821 h 1295672"/>
                    <a:gd name="connsiteX3" fmla="*/ 638425 w 1444857"/>
                    <a:gd name="connsiteY3" fmla="*/ 18820 h 1295672"/>
                    <a:gd name="connsiteX4" fmla="*/ 661172 w 1444857"/>
                    <a:gd name="connsiteY4" fmla="*/ 22292 h 1295672"/>
                    <a:gd name="connsiteX5" fmla="*/ 1404876 w 1444857"/>
                    <a:gd name="connsiteY5" fmla="*/ 574250 h 1295672"/>
                    <a:gd name="connsiteX6" fmla="*/ 1444857 w 1444857"/>
                    <a:gd name="connsiteY6" fmla="*/ 657246 h 1295672"/>
                    <a:gd name="connsiteX7" fmla="*/ 1404876 w 1444857"/>
                    <a:gd name="connsiteY7" fmla="*/ 740242 h 1295672"/>
                    <a:gd name="connsiteX8" fmla="*/ 661172 w 1444857"/>
                    <a:gd name="connsiteY8" fmla="*/ 1292200 h 1295672"/>
                    <a:gd name="connsiteX9" fmla="*/ 638425 w 1444857"/>
                    <a:gd name="connsiteY9" fmla="*/ 1295672 h 1295672"/>
                    <a:gd name="connsiteX10" fmla="*/ 651581 w 1444857"/>
                    <a:gd name="connsiteY10" fmla="*/ 1209470 h 1295672"/>
                    <a:gd name="connsiteX11" fmla="*/ 657246 w 1444857"/>
                    <a:gd name="connsiteY11" fmla="*/ 1097279 h 1295672"/>
                    <a:gd name="connsiteX12" fmla="*/ 571016 w 1444857"/>
                    <a:gd name="connsiteY12" fmla="*/ 670168 h 1295672"/>
                    <a:gd name="connsiteX13" fmla="*/ 564791 w 1444857"/>
                    <a:gd name="connsiteY13" fmla="*/ 657246 h 1295672"/>
                    <a:gd name="connsiteX14" fmla="*/ 564791 w 1444857"/>
                    <a:gd name="connsiteY14" fmla="*/ 657246 h 1295672"/>
                    <a:gd name="connsiteX15" fmla="*/ 524811 w 1444857"/>
                    <a:gd name="connsiteY15" fmla="*/ 574251 h 1295672"/>
                    <a:gd name="connsiteX16" fmla="*/ 82996 w 1444857"/>
                    <a:gd name="connsiteY16" fmla="*/ 132436 h 1295672"/>
                    <a:gd name="connsiteX17" fmla="*/ 0 w 1444857"/>
                    <a:gd name="connsiteY17" fmla="*/ 92455 h 1295672"/>
                    <a:gd name="connsiteX18" fmla="*/ 12922 w 1444857"/>
                    <a:gd name="connsiteY18" fmla="*/ 86230 h 1295672"/>
                    <a:gd name="connsiteX19" fmla="*/ 440033 w 1444857"/>
                    <a:gd name="connsiteY19" fmla="*/ 0 h 1295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44857" h="1295672">
                      <a:moveTo>
                        <a:pt x="440033" y="0"/>
                      </a:moveTo>
                      <a:cubicBezTo>
                        <a:pt x="477909" y="0"/>
                        <a:pt x="515336" y="1919"/>
                        <a:pt x="552224" y="5665"/>
                      </a:cubicBezTo>
                      <a:lnTo>
                        <a:pt x="638425" y="18821"/>
                      </a:lnTo>
                      <a:lnTo>
                        <a:pt x="638425" y="18820"/>
                      </a:lnTo>
                      <a:lnTo>
                        <a:pt x="661172" y="22292"/>
                      </a:lnTo>
                      <a:cubicBezTo>
                        <a:pt x="982609" y="88067"/>
                        <a:pt x="1252848" y="294391"/>
                        <a:pt x="1404876" y="574250"/>
                      </a:cubicBezTo>
                      <a:lnTo>
                        <a:pt x="1444857" y="657246"/>
                      </a:lnTo>
                      <a:lnTo>
                        <a:pt x="1404876" y="740242"/>
                      </a:lnTo>
                      <a:cubicBezTo>
                        <a:pt x="1252848" y="1020101"/>
                        <a:pt x="982609" y="1226425"/>
                        <a:pt x="661172" y="1292200"/>
                      </a:cubicBezTo>
                      <a:lnTo>
                        <a:pt x="638425" y="1295672"/>
                      </a:lnTo>
                      <a:lnTo>
                        <a:pt x="651581" y="1209470"/>
                      </a:lnTo>
                      <a:cubicBezTo>
                        <a:pt x="655327" y="1172582"/>
                        <a:pt x="657246" y="1135155"/>
                        <a:pt x="657246" y="1097279"/>
                      </a:cubicBezTo>
                      <a:cubicBezTo>
                        <a:pt x="657246" y="945776"/>
                        <a:pt x="626542" y="801445"/>
                        <a:pt x="571016" y="670168"/>
                      </a:cubicBezTo>
                      <a:lnTo>
                        <a:pt x="564791" y="657246"/>
                      </a:lnTo>
                      <a:lnTo>
                        <a:pt x="564791" y="657246"/>
                      </a:lnTo>
                      <a:lnTo>
                        <a:pt x="524811" y="574251"/>
                      </a:lnTo>
                      <a:cubicBezTo>
                        <a:pt x="423459" y="387679"/>
                        <a:pt x="269569" y="233788"/>
                        <a:pt x="82996" y="132436"/>
                      </a:cubicBezTo>
                      <a:lnTo>
                        <a:pt x="0" y="92455"/>
                      </a:lnTo>
                      <a:lnTo>
                        <a:pt x="12922" y="86230"/>
                      </a:lnTo>
                      <a:cubicBezTo>
                        <a:pt x="144199" y="30704"/>
                        <a:pt x="288530" y="0"/>
                        <a:pt x="44003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68000" tIns="0" rIns="0" bIns="72000" anchor="ctr"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800" dirty="0"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稻壳儿搜索;幻雨工作室_4"/>
                <p:cNvSpPr/>
                <p:nvPr/>
              </p:nvSpPr>
              <p:spPr>
                <a:xfrm>
                  <a:off x="6403" y="5185"/>
                  <a:ext cx="3342" cy="2997"/>
                </a:xfrm>
                <a:custGeom>
                  <a:avLst/>
                  <a:gdLst>
                    <a:gd name="connsiteX0" fmla="*/ 806432 w 1444859"/>
                    <a:gd name="connsiteY0" fmla="*/ 0 h 1295674"/>
                    <a:gd name="connsiteX1" fmla="*/ 793276 w 1444859"/>
                    <a:gd name="connsiteY1" fmla="*/ 86202 h 1295674"/>
                    <a:gd name="connsiteX2" fmla="*/ 787611 w 1444859"/>
                    <a:gd name="connsiteY2" fmla="*/ 198393 h 1295674"/>
                    <a:gd name="connsiteX3" fmla="*/ 873841 w 1444859"/>
                    <a:gd name="connsiteY3" fmla="*/ 625504 h 1295674"/>
                    <a:gd name="connsiteX4" fmla="*/ 880066 w 1444859"/>
                    <a:gd name="connsiteY4" fmla="*/ 638426 h 1295674"/>
                    <a:gd name="connsiteX5" fmla="*/ 873841 w 1444859"/>
                    <a:gd name="connsiteY5" fmla="*/ 651348 h 1295674"/>
                    <a:gd name="connsiteX6" fmla="*/ 863411 w 1444859"/>
                    <a:gd name="connsiteY6" fmla="*/ 679845 h 1295674"/>
                    <a:gd name="connsiteX7" fmla="*/ 863412 w 1444859"/>
                    <a:gd name="connsiteY7" fmla="*/ 679846 h 1295674"/>
                    <a:gd name="connsiteX8" fmla="*/ 873842 w 1444859"/>
                    <a:gd name="connsiteY8" fmla="*/ 651349 h 1295674"/>
                    <a:gd name="connsiteX9" fmla="*/ 880067 w 1444859"/>
                    <a:gd name="connsiteY9" fmla="*/ 638427 h 1295674"/>
                    <a:gd name="connsiteX10" fmla="*/ 920048 w 1444859"/>
                    <a:gd name="connsiteY10" fmla="*/ 721423 h 1295674"/>
                    <a:gd name="connsiteX11" fmla="*/ 1361863 w 1444859"/>
                    <a:gd name="connsiteY11" fmla="*/ 1163238 h 1295674"/>
                    <a:gd name="connsiteX12" fmla="*/ 1444859 w 1444859"/>
                    <a:gd name="connsiteY12" fmla="*/ 1203219 h 1295674"/>
                    <a:gd name="connsiteX13" fmla="*/ 1431937 w 1444859"/>
                    <a:gd name="connsiteY13" fmla="*/ 1209444 h 1295674"/>
                    <a:gd name="connsiteX14" fmla="*/ 1004826 w 1444859"/>
                    <a:gd name="connsiteY14" fmla="*/ 1295674 h 1295674"/>
                    <a:gd name="connsiteX15" fmla="*/ 892635 w 1444859"/>
                    <a:gd name="connsiteY15" fmla="*/ 1290009 h 1295674"/>
                    <a:gd name="connsiteX16" fmla="*/ 806433 w 1444859"/>
                    <a:gd name="connsiteY16" fmla="*/ 1276853 h 1295674"/>
                    <a:gd name="connsiteX17" fmla="*/ 801994 w 1444859"/>
                    <a:gd name="connsiteY17" fmla="*/ 1247766 h 1295674"/>
                    <a:gd name="connsiteX18" fmla="*/ 801993 w 1444859"/>
                    <a:gd name="connsiteY18" fmla="*/ 1247765 h 1295674"/>
                    <a:gd name="connsiteX19" fmla="*/ 806432 w 1444859"/>
                    <a:gd name="connsiteY19" fmla="*/ 1276852 h 1295674"/>
                    <a:gd name="connsiteX20" fmla="*/ 783685 w 1444859"/>
                    <a:gd name="connsiteY20" fmla="*/ 1273380 h 1295674"/>
                    <a:gd name="connsiteX21" fmla="*/ 39981 w 1444859"/>
                    <a:gd name="connsiteY21" fmla="*/ 721422 h 1295674"/>
                    <a:gd name="connsiteX22" fmla="*/ 0 w 1444859"/>
                    <a:gd name="connsiteY22" fmla="*/ 638426 h 1295674"/>
                    <a:gd name="connsiteX23" fmla="*/ 39981 w 1444859"/>
                    <a:gd name="connsiteY23" fmla="*/ 555430 h 1295674"/>
                    <a:gd name="connsiteX24" fmla="*/ 783685 w 1444859"/>
                    <a:gd name="connsiteY24" fmla="*/ 3472 h 1295674"/>
                    <a:gd name="connsiteX0-1" fmla="*/ 806432 w 1444859"/>
                    <a:gd name="connsiteY0-2" fmla="*/ 0 h 1295674"/>
                    <a:gd name="connsiteX1-3" fmla="*/ 793276 w 1444859"/>
                    <a:gd name="connsiteY1-4" fmla="*/ 86202 h 1295674"/>
                    <a:gd name="connsiteX2-5" fmla="*/ 787611 w 1444859"/>
                    <a:gd name="connsiteY2-6" fmla="*/ 198393 h 1295674"/>
                    <a:gd name="connsiteX3-7" fmla="*/ 873841 w 1444859"/>
                    <a:gd name="connsiteY3-8" fmla="*/ 625504 h 1295674"/>
                    <a:gd name="connsiteX4-9" fmla="*/ 880066 w 1444859"/>
                    <a:gd name="connsiteY4-10" fmla="*/ 638426 h 1295674"/>
                    <a:gd name="connsiteX5-11" fmla="*/ 873841 w 1444859"/>
                    <a:gd name="connsiteY5-12" fmla="*/ 651348 h 1295674"/>
                    <a:gd name="connsiteX6-13" fmla="*/ 863411 w 1444859"/>
                    <a:gd name="connsiteY6-14" fmla="*/ 679845 h 1295674"/>
                    <a:gd name="connsiteX7-15" fmla="*/ 863412 w 1444859"/>
                    <a:gd name="connsiteY7-16" fmla="*/ 679846 h 1295674"/>
                    <a:gd name="connsiteX8-17" fmla="*/ 873842 w 1444859"/>
                    <a:gd name="connsiteY8-18" fmla="*/ 651349 h 1295674"/>
                    <a:gd name="connsiteX9-19" fmla="*/ 880067 w 1444859"/>
                    <a:gd name="connsiteY9-20" fmla="*/ 638427 h 1295674"/>
                    <a:gd name="connsiteX10-21" fmla="*/ 920048 w 1444859"/>
                    <a:gd name="connsiteY10-22" fmla="*/ 721423 h 1295674"/>
                    <a:gd name="connsiteX11-23" fmla="*/ 1361863 w 1444859"/>
                    <a:gd name="connsiteY11-24" fmla="*/ 1163238 h 1295674"/>
                    <a:gd name="connsiteX12-25" fmla="*/ 1444859 w 1444859"/>
                    <a:gd name="connsiteY12-26" fmla="*/ 1203219 h 1295674"/>
                    <a:gd name="connsiteX13-27" fmla="*/ 1431937 w 1444859"/>
                    <a:gd name="connsiteY13-28" fmla="*/ 1209444 h 1295674"/>
                    <a:gd name="connsiteX14-29" fmla="*/ 1004826 w 1444859"/>
                    <a:gd name="connsiteY14-30" fmla="*/ 1295674 h 1295674"/>
                    <a:gd name="connsiteX15-31" fmla="*/ 892635 w 1444859"/>
                    <a:gd name="connsiteY15-32" fmla="*/ 1290009 h 1295674"/>
                    <a:gd name="connsiteX16-33" fmla="*/ 806433 w 1444859"/>
                    <a:gd name="connsiteY16-34" fmla="*/ 1276853 h 1295674"/>
                    <a:gd name="connsiteX17-35" fmla="*/ 801994 w 1444859"/>
                    <a:gd name="connsiteY17-36" fmla="*/ 1247766 h 1295674"/>
                    <a:gd name="connsiteX18-37" fmla="*/ 806432 w 1444859"/>
                    <a:gd name="connsiteY18-38" fmla="*/ 1276852 h 1295674"/>
                    <a:gd name="connsiteX19-39" fmla="*/ 783685 w 1444859"/>
                    <a:gd name="connsiteY19-40" fmla="*/ 1273380 h 1295674"/>
                    <a:gd name="connsiteX20-41" fmla="*/ 39981 w 1444859"/>
                    <a:gd name="connsiteY20-42" fmla="*/ 721422 h 1295674"/>
                    <a:gd name="connsiteX21-43" fmla="*/ 0 w 1444859"/>
                    <a:gd name="connsiteY21-44" fmla="*/ 638426 h 1295674"/>
                    <a:gd name="connsiteX22-45" fmla="*/ 39981 w 1444859"/>
                    <a:gd name="connsiteY22-46" fmla="*/ 555430 h 1295674"/>
                    <a:gd name="connsiteX23-47" fmla="*/ 783685 w 1444859"/>
                    <a:gd name="connsiteY23-48" fmla="*/ 3472 h 1295674"/>
                    <a:gd name="connsiteX24-49" fmla="*/ 806432 w 1444859"/>
                    <a:gd name="connsiteY24-50" fmla="*/ 0 h 1295674"/>
                    <a:gd name="connsiteX0-51" fmla="*/ 806432 w 1444859"/>
                    <a:gd name="connsiteY0-52" fmla="*/ 0 h 1295674"/>
                    <a:gd name="connsiteX1-53" fmla="*/ 793276 w 1444859"/>
                    <a:gd name="connsiteY1-54" fmla="*/ 86202 h 1295674"/>
                    <a:gd name="connsiteX2-55" fmla="*/ 787611 w 1444859"/>
                    <a:gd name="connsiteY2-56" fmla="*/ 198393 h 1295674"/>
                    <a:gd name="connsiteX3-57" fmla="*/ 873841 w 1444859"/>
                    <a:gd name="connsiteY3-58" fmla="*/ 625504 h 1295674"/>
                    <a:gd name="connsiteX4-59" fmla="*/ 880066 w 1444859"/>
                    <a:gd name="connsiteY4-60" fmla="*/ 638426 h 1295674"/>
                    <a:gd name="connsiteX5-61" fmla="*/ 873841 w 1444859"/>
                    <a:gd name="connsiteY5-62" fmla="*/ 651348 h 1295674"/>
                    <a:gd name="connsiteX6-63" fmla="*/ 863411 w 1444859"/>
                    <a:gd name="connsiteY6-64" fmla="*/ 679845 h 1295674"/>
                    <a:gd name="connsiteX7-65" fmla="*/ 863412 w 1444859"/>
                    <a:gd name="connsiteY7-66" fmla="*/ 679846 h 1295674"/>
                    <a:gd name="connsiteX8-67" fmla="*/ 873842 w 1444859"/>
                    <a:gd name="connsiteY8-68" fmla="*/ 651349 h 1295674"/>
                    <a:gd name="connsiteX9-69" fmla="*/ 880067 w 1444859"/>
                    <a:gd name="connsiteY9-70" fmla="*/ 638427 h 1295674"/>
                    <a:gd name="connsiteX10-71" fmla="*/ 920048 w 1444859"/>
                    <a:gd name="connsiteY10-72" fmla="*/ 721423 h 1295674"/>
                    <a:gd name="connsiteX11-73" fmla="*/ 1361863 w 1444859"/>
                    <a:gd name="connsiteY11-74" fmla="*/ 1163238 h 1295674"/>
                    <a:gd name="connsiteX12-75" fmla="*/ 1444859 w 1444859"/>
                    <a:gd name="connsiteY12-76" fmla="*/ 1203219 h 1295674"/>
                    <a:gd name="connsiteX13-77" fmla="*/ 1431937 w 1444859"/>
                    <a:gd name="connsiteY13-78" fmla="*/ 1209444 h 1295674"/>
                    <a:gd name="connsiteX14-79" fmla="*/ 1004826 w 1444859"/>
                    <a:gd name="connsiteY14-80" fmla="*/ 1295674 h 1295674"/>
                    <a:gd name="connsiteX15-81" fmla="*/ 892635 w 1444859"/>
                    <a:gd name="connsiteY15-82" fmla="*/ 1290009 h 1295674"/>
                    <a:gd name="connsiteX16-83" fmla="*/ 806433 w 1444859"/>
                    <a:gd name="connsiteY16-84" fmla="*/ 1276853 h 1295674"/>
                    <a:gd name="connsiteX17-85" fmla="*/ 806432 w 1444859"/>
                    <a:gd name="connsiteY17-86" fmla="*/ 1276852 h 1295674"/>
                    <a:gd name="connsiteX18-87" fmla="*/ 783685 w 1444859"/>
                    <a:gd name="connsiteY18-88" fmla="*/ 1273380 h 1295674"/>
                    <a:gd name="connsiteX19-89" fmla="*/ 39981 w 1444859"/>
                    <a:gd name="connsiteY19-90" fmla="*/ 721422 h 1295674"/>
                    <a:gd name="connsiteX20-91" fmla="*/ 0 w 1444859"/>
                    <a:gd name="connsiteY20-92" fmla="*/ 638426 h 1295674"/>
                    <a:gd name="connsiteX21-93" fmla="*/ 39981 w 1444859"/>
                    <a:gd name="connsiteY21-94" fmla="*/ 555430 h 1295674"/>
                    <a:gd name="connsiteX22-95" fmla="*/ 783685 w 1444859"/>
                    <a:gd name="connsiteY22-96" fmla="*/ 3472 h 1295674"/>
                    <a:gd name="connsiteX23-97" fmla="*/ 806432 w 1444859"/>
                    <a:gd name="connsiteY23-98" fmla="*/ 0 h 1295674"/>
                    <a:gd name="connsiteX0-99" fmla="*/ 806432 w 1444859"/>
                    <a:gd name="connsiteY0-100" fmla="*/ 0 h 1295674"/>
                    <a:gd name="connsiteX1-101" fmla="*/ 793276 w 1444859"/>
                    <a:gd name="connsiteY1-102" fmla="*/ 86202 h 1295674"/>
                    <a:gd name="connsiteX2-103" fmla="*/ 787611 w 1444859"/>
                    <a:gd name="connsiteY2-104" fmla="*/ 198393 h 1295674"/>
                    <a:gd name="connsiteX3-105" fmla="*/ 873841 w 1444859"/>
                    <a:gd name="connsiteY3-106" fmla="*/ 625504 h 1295674"/>
                    <a:gd name="connsiteX4-107" fmla="*/ 880066 w 1444859"/>
                    <a:gd name="connsiteY4-108" fmla="*/ 638426 h 1295674"/>
                    <a:gd name="connsiteX5-109" fmla="*/ 873841 w 1444859"/>
                    <a:gd name="connsiteY5-110" fmla="*/ 651348 h 1295674"/>
                    <a:gd name="connsiteX6-111" fmla="*/ 863411 w 1444859"/>
                    <a:gd name="connsiteY6-112" fmla="*/ 679845 h 1295674"/>
                    <a:gd name="connsiteX7-113" fmla="*/ 873842 w 1444859"/>
                    <a:gd name="connsiteY7-114" fmla="*/ 651349 h 1295674"/>
                    <a:gd name="connsiteX8-115" fmla="*/ 880067 w 1444859"/>
                    <a:gd name="connsiteY8-116" fmla="*/ 638427 h 1295674"/>
                    <a:gd name="connsiteX9-117" fmla="*/ 920048 w 1444859"/>
                    <a:gd name="connsiteY9-118" fmla="*/ 721423 h 1295674"/>
                    <a:gd name="connsiteX10-119" fmla="*/ 1361863 w 1444859"/>
                    <a:gd name="connsiteY10-120" fmla="*/ 1163238 h 1295674"/>
                    <a:gd name="connsiteX11-121" fmla="*/ 1444859 w 1444859"/>
                    <a:gd name="connsiteY11-122" fmla="*/ 1203219 h 1295674"/>
                    <a:gd name="connsiteX12-123" fmla="*/ 1431937 w 1444859"/>
                    <a:gd name="connsiteY12-124" fmla="*/ 1209444 h 1295674"/>
                    <a:gd name="connsiteX13-125" fmla="*/ 1004826 w 1444859"/>
                    <a:gd name="connsiteY13-126" fmla="*/ 1295674 h 1295674"/>
                    <a:gd name="connsiteX14-127" fmla="*/ 892635 w 1444859"/>
                    <a:gd name="connsiteY14-128" fmla="*/ 1290009 h 1295674"/>
                    <a:gd name="connsiteX15-129" fmla="*/ 806433 w 1444859"/>
                    <a:gd name="connsiteY15-130" fmla="*/ 1276853 h 1295674"/>
                    <a:gd name="connsiteX16-131" fmla="*/ 806432 w 1444859"/>
                    <a:gd name="connsiteY16-132" fmla="*/ 1276852 h 1295674"/>
                    <a:gd name="connsiteX17-133" fmla="*/ 783685 w 1444859"/>
                    <a:gd name="connsiteY17-134" fmla="*/ 1273380 h 1295674"/>
                    <a:gd name="connsiteX18-135" fmla="*/ 39981 w 1444859"/>
                    <a:gd name="connsiteY18-136" fmla="*/ 721422 h 1295674"/>
                    <a:gd name="connsiteX19-137" fmla="*/ 0 w 1444859"/>
                    <a:gd name="connsiteY19-138" fmla="*/ 638426 h 1295674"/>
                    <a:gd name="connsiteX20-139" fmla="*/ 39981 w 1444859"/>
                    <a:gd name="connsiteY20-140" fmla="*/ 555430 h 1295674"/>
                    <a:gd name="connsiteX21-141" fmla="*/ 783685 w 1444859"/>
                    <a:gd name="connsiteY21-142" fmla="*/ 3472 h 1295674"/>
                    <a:gd name="connsiteX22-143" fmla="*/ 806432 w 1444859"/>
                    <a:gd name="connsiteY22-144" fmla="*/ 0 h 1295674"/>
                    <a:gd name="connsiteX0-145" fmla="*/ 806432 w 1444859"/>
                    <a:gd name="connsiteY0-146" fmla="*/ 0 h 1295674"/>
                    <a:gd name="connsiteX1-147" fmla="*/ 793276 w 1444859"/>
                    <a:gd name="connsiteY1-148" fmla="*/ 86202 h 1295674"/>
                    <a:gd name="connsiteX2-149" fmla="*/ 787611 w 1444859"/>
                    <a:gd name="connsiteY2-150" fmla="*/ 198393 h 1295674"/>
                    <a:gd name="connsiteX3-151" fmla="*/ 873841 w 1444859"/>
                    <a:gd name="connsiteY3-152" fmla="*/ 625504 h 1295674"/>
                    <a:gd name="connsiteX4-153" fmla="*/ 880066 w 1444859"/>
                    <a:gd name="connsiteY4-154" fmla="*/ 638426 h 1295674"/>
                    <a:gd name="connsiteX5-155" fmla="*/ 873841 w 1444859"/>
                    <a:gd name="connsiteY5-156" fmla="*/ 651348 h 1295674"/>
                    <a:gd name="connsiteX6-157" fmla="*/ 873842 w 1444859"/>
                    <a:gd name="connsiteY6-158" fmla="*/ 651349 h 1295674"/>
                    <a:gd name="connsiteX7-159" fmla="*/ 880067 w 1444859"/>
                    <a:gd name="connsiteY7-160" fmla="*/ 638427 h 1295674"/>
                    <a:gd name="connsiteX8-161" fmla="*/ 920048 w 1444859"/>
                    <a:gd name="connsiteY8-162" fmla="*/ 721423 h 1295674"/>
                    <a:gd name="connsiteX9-163" fmla="*/ 1361863 w 1444859"/>
                    <a:gd name="connsiteY9-164" fmla="*/ 1163238 h 1295674"/>
                    <a:gd name="connsiteX10-165" fmla="*/ 1444859 w 1444859"/>
                    <a:gd name="connsiteY10-166" fmla="*/ 1203219 h 1295674"/>
                    <a:gd name="connsiteX11-167" fmla="*/ 1431937 w 1444859"/>
                    <a:gd name="connsiteY11-168" fmla="*/ 1209444 h 1295674"/>
                    <a:gd name="connsiteX12-169" fmla="*/ 1004826 w 1444859"/>
                    <a:gd name="connsiteY12-170" fmla="*/ 1295674 h 1295674"/>
                    <a:gd name="connsiteX13-171" fmla="*/ 892635 w 1444859"/>
                    <a:gd name="connsiteY13-172" fmla="*/ 1290009 h 1295674"/>
                    <a:gd name="connsiteX14-173" fmla="*/ 806433 w 1444859"/>
                    <a:gd name="connsiteY14-174" fmla="*/ 1276853 h 1295674"/>
                    <a:gd name="connsiteX15-175" fmla="*/ 806432 w 1444859"/>
                    <a:gd name="connsiteY15-176" fmla="*/ 1276852 h 1295674"/>
                    <a:gd name="connsiteX16-177" fmla="*/ 783685 w 1444859"/>
                    <a:gd name="connsiteY16-178" fmla="*/ 1273380 h 1295674"/>
                    <a:gd name="connsiteX17-179" fmla="*/ 39981 w 1444859"/>
                    <a:gd name="connsiteY17-180" fmla="*/ 721422 h 1295674"/>
                    <a:gd name="connsiteX18-181" fmla="*/ 0 w 1444859"/>
                    <a:gd name="connsiteY18-182" fmla="*/ 638426 h 1295674"/>
                    <a:gd name="connsiteX19-183" fmla="*/ 39981 w 1444859"/>
                    <a:gd name="connsiteY19-184" fmla="*/ 555430 h 1295674"/>
                    <a:gd name="connsiteX20-185" fmla="*/ 783685 w 1444859"/>
                    <a:gd name="connsiteY20-186" fmla="*/ 3472 h 1295674"/>
                    <a:gd name="connsiteX21-187" fmla="*/ 806432 w 1444859"/>
                    <a:gd name="connsiteY21-188" fmla="*/ 0 h 1295674"/>
                    <a:gd name="connsiteX0-189" fmla="*/ 806432 w 1444859"/>
                    <a:gd name="connsiteY0-190" fmla="*/ 0 h 1295674"/>
                    <a:gd name="connsiteX1-191" fmla="*/ 793276 w 1444859"/>
                    <a:gd name="connsiteY1-192" fmla="*/ 86202 h 1295674"/>
                    <a:gd name="connsiteX2-193" fmla="*/ 787611 w 1444859"/>
                    <a:gd name="connsiteY2-194" fmla="*/ 198393 h 1295674"/>
                    <a:gd name="connsiteX3-195" fmla="*/ 873841 w 1444859"/>
                    <a:gd name="connsiteY3-196" fmla="*/ 625504 h 1295674"/>
                    <a:gd name="connsiteX4-197" fmla="*/ 880066 w 1444859"/>
                    <a:gd name="connsiteY4-198" fmla="*/ 638426 h 1295674"/>
                    <a:gd name="connsiteX5-199" fmla="*/ 873841 w 1444859"/>
                    <a:gd name="connsiteY5-200" fmla="*/ 651348 h 1295674"/>
                    <a:gd name="connsiteX6-201" fmla="*/ 880067 w 1444859"/>
                    <a:gd name="connsiteY6-202" fmla="*/ 638427 h 1295674"/>
                    <a:gd name="connsiteX7-203" fmla="*/ 920048 w 1444859"/>
                    <a:gd name="connsiteY7-204" fmla="*/ 721423 h 1295674"/>
                    <a:gd name="connsiteX8-205" fmla="*/ 1361863 w 1444859"/>
                    <a:gd name="connsiteY8-206" fmla="*/ 1163238 h 1295674"/>
                    <a:gd name="connsiteX9-207" fmla="*/ 1444859 w 1444859"/>
                    <a:gd name="connsiteY9-208" fmla="*/ 1203219 h 1295674"/>
                    <a:gd name="connsiteX10-209" fmla="*/ 1431937 w 1444859"/>
                    <a:gd name="connsiteY10-210" fmla="*/ 1209444 h 1295674"/>
                    <a:gd name="connsiteX11-211" fmla="*/ 1004826 w 1444859"/>
                    <a:gd name="connsiteY11-212" fmla="*/ 1295674 h 1295674"/>
                    <a:gd name="connsiteX12-213" fmla="*/ 892635 w 1444859"/>
                    <a:gd name="connsiteY12-214" fmla="*/ 1290009 h 1295674"/>
                    <a:gd name="connsiteX13-215" fmla="*/ 806433 w 1444859"/>
                    <a:gd name="connsiteY13-216" fmla="*/ 1276853 h 1295674"/>
                    <a:gd name="connsiteX14-217" fmla="*/ 806432 w 1444859"/>
                    <a:gd name="connsiteY14-218" fmla="*/ 1276852 h 1295674"/>
                    <a:gd name="connsiteX15-219" fmla="*/ 783685 w 1444859"/>
                    <a:gd name="connsiteY15-220" fmla="*/ 1273380 h 1295674"/>
                    <a:gd name="connsiteX16-221" fmla="*/ 39981 w 1444859"/>
                    <a:gd name="connsiteY16-222" fmla="*/ 721422 h 1295674"/>
                    <a:gd name="connsiteX17-223" fmla="*/ 0 w 1444859"/>
                    <a:gd name="connsiteY17-224" fmla="*/ 638426 h 1295674"/>
                    <a:gd name="connsiteX18-225" fmla="*/ 39981 w 1444859"/>
                    <a:gd name="connsiteY18-226" fmla="*/ 555430 h 1295674"/>
                    <a:gd name="connsiteX19-227" fmla="*/ 783685 w 1444859"/>
                    <a:gd name="connsiteY19-228" fmla="*/ 3472 h 1295674"/>
                    <a:gd name="connsiteX20-229" fmla="*/ 806432 w 1444859"/>
                    <a:gd name="connsiteY20-230" fmla="*/ 0 h 1295674"/>
                    <a:gd name="connsiteX0-231" fmla="*/ 806432 w 1444859"/>
                    <a:gd name="connsiteY0-232" fmla="*/ 0 h 1295674"/>
                    <a:gd name="connsiteX1-233" fmla="*/ 793276 w 1444859"/>
                    <a:gd name="connsiteY1-234" fmla="*/ 86202 h 1295674"/>
                    <a:gd name="connsiteX2-235" fmla="*/ 787611 w 1444859"/>
                    <a:gd name="connsiteY2-236" fmla="*/ 198393 h 1295674"/>
                    <a:gd name="connsiteX3-237" fmla="*/ 873841 w 1444859"/>
                    <a:gd name="connsiteY3-238" fmla="*/ 625504 h 1295674"/>
                    <a:gd name="connsiteX4-239" fmla="*/ 880066 w 1444859"/>
                    <a:gd name="connsiteY4-240" fmla="*/ 638426 h 1295674"/>
                    <a:gd name="connsiteX5-241" fmla="*/ 880067 w 1444859"/>
                    <a:gd name="connsiteY5-242" fmla="*/ 638427 h 1295674"/>
                    <a:gd name="connsiteX6-243" fmla="*/ 920048 w 1444859"/>
                    <a:gd name="connsiteY6-244" fmla="*/ 721423 h 1295674"/>
                    <a:gd name="connsiteX7-245" fmla="*/ 1361863 w 1444859"/>
                    <a:gd name="connsiteY7-246" fmla="*/ 1163238 h 1295674"/>
                    <a:gd name="connsiteX8-247" fmla="*/ 1444859 w 1444859"/>
                    <a:gd name="connsiteY8-248" fmla="*/ 1203219 h 1295674"/>
                    <a:gd name="connsiteX9-249" fmla="*/ 1431937 w 1444859"/>
                    <a:gd name="connsiteY9-250" fmla="*/ 1209444 h 1295674"/>
                    <a:gd name="connsiteX10-251" fmla="*/ 1004826 w 1444859"/>
                    <a:gd name="connsiteY10-252" fmla="*/ 1295674 h 1295674"/>
                    <a:gd name="connsiteX11-253" fmla="*/ 892635 w 1444859"/>
                    <a:gd name="connsiteY11-254" fmla="*/ 1290009 h 1295674"/>
                    <a:gd name="connsiteX12-255" fmla="*/ 806433 w 1444859"/>
                    <a:gd name="connsiteY12-256" fmla="*/ 1276853 h 1295674"/>
                    <a:gd name="connsiteX13-257" fmla="*/ 806432 w 1444859"/>
                    <a:gd name="connsiteY13-258" fmla="*/ 1276852 h 1295674"/>
                    <a:gd name="connsiteX14-259" fmla="*/ 783685 w 1444859"/>
                    <a:gd name="connsiteY14-260" fmla="*/ 1273380 h 1295674"/>
                    <a:gd name="connsiteX15-261" fmla="*/ 39981 w 1444859"/>
                    <a:gd name="connsiteY15-262" fmla="*/ 721422 h 1295674"/>
                    <a:gd name="connsiteX16-263" fmla="*/ 0 w 1444859"/>
                    <a:gd name="connsiteY16-264" fmla="*/ 638426 h 1295674"/>
                    <a:gd name="connsiteX17-265" fmla="*/ 39981 w 1444859"/>
                    <a:gd name="connsiteY17-266" fmla="*/ 555430 h 1295674"/>
                    <a:gd name="connsiteX18-267" fmla="*/ 783685 w 1444859"/>
                    <a:gd name="connsiteY18-268" fmla="*/ 3472 h 1295674"/>
                    <a:gd name="connsiteX19-269" fmla="*/ 806432 w 1444859"/>
                    <a:gd name="connsiteY19-270" fmla="*/ 0 h 129567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</a:cxnLst>
                  <a:rect l="l" t="t" r="r" b="b"/>
                  <a:pathLst>
                    <a:path w="1444859" h="1295674">
                      <a:moveTo>
                        <a:pt x="806432" y="0"/>
                      </a:moveTo>
                      <a:lnTo>
                        <a:pt x="793276" y="86202"/>
                      </a:lnTo>
                      <a:cubicBezTo>
                        <a:pt x="789530" y="123090"/>
                        <a:pt x="787611" y="160517"/>
                        <a:pt x="787611" y="198393"/>
                      </a:cubicBezTo>
                      <a:cubicBezTo>
                        <a:pt x="787611" y="349896"/>
                        <a:pt x="818315" y="494227"/>
                        <a:pt x="873841" y="625504"/>
                      </a:cubicBezTo>
                      <a:lnTo>
                        <a:pt x="880066" y="638426"/>
                      </a:lnTo>
                      <a:lnTo>
                        <a:pt x="880067" y="638427"/>
                      </a:lnTo>
                      <a:lnTo>
                        <a:pt x="920048" y="721423"/>
                      </a:lnTo>
                      <a:cubicBezTo>
                        <a:pt x="1021400" y="907996"/>
                        <a:pt x="1175291" y="1061886"/>
                        <a:pt x="1361863" y="1163238"/>
                      </a:cubicBezTo>
                      <a:lnTo>
                        <a:pt x="1444859" y="1203219"/>
                      </a:lnTo>
                      <a:lnTo>
                        <a:pt x="1431937" y="1209444"/>
                      </a:lnTo>
                      <a:cubicBezTo>
                        <a:pt x="1300660" y="1264970"/>
                        <a:pt x="1156329" y="1295674"/>
                        <a:pt x="1004826" y="1295674"/>
                      </a:cubicBezTo>
                      <a:cubicBezTo>
                        <a:pt x="966950" y="1295674"/>
                        <a:pt x="929523" y="1293755"/>
                        <a:pt x="892635" y="1290009"/>
                      </a:cubicBezTo>
                      <a:lnTo>
                        <a:pt x="806433" y="1276853"/>
                      </a:lnTo>
                      <a:lnTo>
                        <a:pt x="806432" y="1276852"/>
                      </a:lnTo>
                      <a:lnTo>
                        <a:pt x="783685" y="1273380"/>
                      </a:lnTo>
                      <a:cubicBezTo>
                        <a:pt x="462248" y="1207605"/>
                        <a:pt x="192009" y="1001281"/>
                        <a:pt x="39981" y="721422"/>
                      </a:cubicBezTo>
                      <a:lnTo>
                        <a:pt x="0" y="638426"/>
                      </a:lnTo>
                      <a:lnTo>
                        <a:pt x="39981" y="555430"/>
                      </a:lnTo>
                      <a:cubicBezTo>
                        <a:pt x="192009" y="275571"/>
                        <a:pt x="462248" y="69247"/>
                        <a:pt x="783685" y="3472"/>
                      </a:cubicBezTo>
                      <a:lnTo>
                        <a:pt x="806432" y="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432000" bIns="0" anchor="ctr"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800" dirty="0"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稻壳儿搜索;幻雨工作室_5"/>
                <p:cNvSpPr/>
                <p:nvPr/>
              </p:nvSpPr>
              <p:spPr>
                <a:xfrm>
                  <a:off x="8267" y="6663"/>
                  <a:ext cx="2997" cy="3342"/>
                </a:xfrm>
                <a:custGeom>
                  <a:avLst/>
                  <a:gdLst>
                    <a:gd name="connsiteX0" fmla="*/ 1203219 w 1295674"/>
                    <a:gd name="connsiteY0" fmla="*/ 0 h 1444857"/>
                    <a:gd name="connsiteX1" fmla="*/ 1209444 w 1295674"/>
                    <a:gd name="connsiteY1" fmla="*/ 12922 h 1444857"/>
                    <a:gd name="connsiteX2" fmla="*/ 1295674 w 1295674"/>
                    <a:gd name="connsiteY2" fmla="*/ 440033 h 1444857"/>
                    <a:gd name="connsiteX3" fmla="*/ 1290009 w 1295674"/>
                    <a:gd name="connsiteY3" fmla="*/ 552224 h 1444857"/>
                    <a:gd name="connsiteX4" fmla="*/ 1276853 w 1295674"/>
                    <a:gd name="connsiteY4" fmla="*/ 638426 h 1444857"/>
                    <a:gd name="connsiteX5" fmla="*/ 1276852 w 1295674"/>
                    <a:gd name="connsiteY5" fmla="*/ 638426 h 1444857"/>
                    <a:gd name="connsiteX6" fmla="*/ 1273380 w 1295674"/>
                    <a:gd name="connsiteY6" fmla="*/ 661172 h 1444857"/>
                    <a:gd name="connsiteX7" fmla="*/ 721422 w 1295674"/>
                    <a:gd name="connsiteY7" fmla="*/ 1404876 h 1444857"/>
                    <a:gd name="connsiteX8" fmla="*/ 638426 w 1295674"/>
                    <a:gd name="connsiteY8" fmla="*/ 1444857 h 1444857"/>
                    <a:gd name="connsiteX9" fmla="*/ 555430 w 1295674"/>
                    <a:gd name="connsiteY9" fmla="*/ 1404876 h 1444857"/>
                    <a:gd name="connsiteX10" fmla="*/ 3472 w 1295674"/>
                    <a:gd name="connsiteY10" fmla="*/ 661172 h 1444857"/>
                    <a:gd name="connsiteX11" fmla="*/ 0 w 1295674"/>
                    <a:gd name="connsiteY11" fmla="*/ 638425 h 1444857"/>
                    <a:gd name="connsiteX12" fmla="*/ 86202 w 1295674"/>
                    <a:gd name="connsiteY12" fmla="*/ 651581 h 1444857"/>
                    <a:gd name="connsiteX13" fmla="*/ 198393 w 1295674"/>
                    <a:gd name="connsiteY13" fmla="*/ 657246 h 1444857"/>
                    <a:gd name="connsiteX14" fmla="*/ 625504 w 1295674"/>
                    <a:gd name="connsiteY14" fmla="*/ 571016 h 1444857"/>
                    <a:gd name="connsiteX15" fmla="*/ 638426 w 1295674"/>
                    <a:gd name="connsiteY15" fmla="*/ 564791 h 1444857"/>
                    <a:gd name="connsiteX16" fmla="*/ 638428 w 1295674"/>
                    <a:gd name="connsiteY16" fmla="*/ 564792 h 1444857"/>
                    <a:gd name="connsiteX17" fmla="*/ 721423 w 1295674"/>
                    <a:gd name="connsiteY17" fmla="*/ 524811 h 1444857"/>
                    <a:gd name="connsiteX18" fmla="*/ 1163238 w 1295674"/>
                    <a:gd name="connsiteY18" fmla="*/ 82996 h 144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295674" h="1444857">
                      <a:moveTo>
                        <a:pt x="1203219" y="0"/>
                      </a:moveTo>
                      <a:lnTo>
                        <a:pt x="1209444" y="12922"/>
                      </a:lnTo>
                      <a:cubicBezTo>
                        <a:pt x="1264970" y="144199"/>
                        <a:pt x="1295674" y="288530"/>
                        <a:pt x="1295674" y="440033"/>
                      </a:cubicBezTo>
                      <a:cubicBezTo>
                        <a:pt x="1295674" y="477909"/>
                        <a:pt x="1293755" y="515336"/>
                        <a:pt x="1290009" y="552224"/>
                      </a:cubicBezTo>
                      <a:lnTo>
                        <a:pt x="1276853" y="638426"/>
                      </a:lnTo>
                      <a:lnTo>
                        <a:pt x="1276852" y="638426"/>
                      </a:lnTo>
                      <a:lnTo>
                        <a:pt x="1273380" y="661172"/>
                      </a:lnTo>
                      <a:cubicBezTo>
                        <a:pt x="1207605" y="982609"/>
                        <a:pt x="1001281" y="1252848"/>
                        <a:pt x="721422" y="1404876"/>
                      </a:cubicBezTo>
                      <a:lnTo>
                        <a:pt x="638426" y="1444857"/>
                      </a:lnTo>
                      <a:lnTo>
                        <a:pt x="555430" y="1404876"/>
                      </a:lnTo>
                      <a:cubicBezTo>
                        <a:pt x="275571" y="1252848"/>
                        <a:pt x="69247" y="982609"/>
                        <a:pt x="3472" y="661172"/>
                      </a:cubicBezTo>
                      <a:lnTo>
                        <a:pt x="0" y="638425"/>
                      </a:lnTo>
                      <a:lnTo>
                        <a:pt x="86202" y="651581"/>
                      </a:lnTo>
                      <a:cubicBezTo>
                        <a:pt x="123090" y="655327"/>
                        <a:pt x="160517" y="657246"/>
                        <a:pt x="198393" y="657246"/>
                      </a:cubicBezTo>
                      <a:cubicBezTo>
                        <a:pt x="349896" y="657246"/>
                        <a:pt x="494227" y="626542"/>
                        <a:pt x="625504" y="571016"/>
                      </a:cubicBezTo>
                      <a:lnTo>
                        <a:pt x="638426" y="564791"/>
                      </a:lnTo>
                      <a:lnTo>
                        <a:pt x="638428" y="564792"/>
                      </a:lnTo>
                      <a:lnTo>
                        <a:pt x="721423" y="524811"/>
                      </a:lnTo>
                      <a:cubicBezTo>
                        <a:pt x="907996" y="423459"/>
                        <a:pt x="1061886" y="269569"/>
                        <a:pt x="1163238" y="82996"/>
                      </a:cubicBezTo>
                      <a:close/>
                    </a:path>
                  </a:pathLst>
                </a:custGeom>
                <a:solidFill>
                  <a:srgbClr val="1C56A6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0" rIns="0" bIns="0" anchor="ctr"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800" dirty="0">
                    <a:latin typeface="Arial" panose="020B0604020202020204" pitchFamily="34" charset="0"/>
                    <a:ea typeface="华文细黑" panose="02010600040101010101" pitchFamily="2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6" name="Freeform 24"/>
              <p:cNvSpPr>
                <a:spLocks noEditPoints="1"/>
              </p:cNvSpPr>
              <p:nvPr/>
            </p:nvSpPr>
            <p:spPr bwMode="auto">
              <a:xfrm>
                <a:off x="10659" y="4119"/>
                <a:ext cx="896" cy="962"/>
              </a:xfrm>
              <a:custGeom>
                <a:avLst/>
                <a:gdLst/>
                <a:ahLst/>
                <a:cxnLst>
                  <a:cxn ang="0">
                    <a:pos x="55" y="55"/>
                  </a:cxn>
                  <a:cxn ang="0">
                    <a:pos x="39" y="55"/>
                  </a:cxn>
                  <a:cxn ang="0">
                    <a:pos x="30" y="64"/>
                  </a:cxn>
                  <a:cxn ang="0">
                    <a:pos x="21" y="55"/>
                  </a:cxn>
                  <a:cxn ang="0">
                    <a:pos x="5" y="55"/>
                  </a:cxn>
                  <a:cxn ang="0">
                    <a:pos x="0" y="50"/>
                  </a:cxn>
                  <a:cxn ang="0">
                    <a:pos x="11" y="20"/>
                  </a:cxn>
                  <a:cxn ang="0">
                    <a:pos x="27" y="5"/>
                  </a:cxn>
                  <a:cxn ang="0">
                    <a:pos x="26" y="3"/>
                  </a:cxn>
                  <a:cxn ang="0">
                    <a:pos x="30" y="0"/>
                  </a:cxn>
                  <a:cxn ang="0">
                    <a:pos x="33" y="3"/>
                  </a:cxn>
                  <a:cxn ang="0">
                    <a:pos x="33" y="5"/>
                  </a:cxn>
                  <a:cxn ang="0">
                    <a:pos x="48" y="20"/>
                  </a:cxn>
                  <a:cxn ang="0">
                    <a:pos x="59" y="50"/>
                  </a:cxn>
                  <a:cxn ang="0">
                    <a:pos x="55" y="55"/>
                  </a:cxn>
                  <a:cxn ang="0">
                    <a:pos x="30" y="60"/>
                  </a:cxn>
                  <a:cxn ang="0">
                    <a:pos x="25" y="55"/>
                  </a:cxn>
                  <a:cxn ang="0">
                    <a:pos x="24" y="54"/>
                  </a:cxn>
                  <a:cxn ang="0">
                    <a:pos x="23" y="55"/>
                  </a:cxn>
                  <a:cxn ang="0">
                    <a:pos x="30" y="61"/>
                  </a:cxn>
                  <a:cxn ang="0">
                    <a:pos x="30" y="60"/>
                  </a:cxn>
                  <a:cxn ang="0">
                    <a:pos x="30" y="60"/>
                  </a:cxn>
                </a:cxnLst>
                <a:rect l="0" t="0" r="r" b="b"/>
                <a:pathLst>
                  <a:path w="59" h="64">
                    <a:moveTo>
                      <a:pt x="55" y="55"/>
                    </a:moveTo>
                    <a:cubicBezTo>
                      <a:pt x="39" y="55"/>
                      <a:pt x="39" y="55"/>
                      <a:pt x="39" y="55"/>
                    </a:cubicBezTo>
                    <a:cubicBezTo>
                      <a:pt x="39" y="60"/>
                      <a:pt x="35" y="64"/>
                      <a:pt x="30" y="64"/>
                    </a:cubicBezTo>
                    <a:cubicBezTo>
                      <a:pt x="25" y="64"/>
                      <a:pt x="21" y="60"/>
                      <a:pt x="21" y="55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2" y="55"/>
                      <a:pt x="0" y="53"/>
                      <a:pt x="0" y="50"/>
                    </a:cubicBezTo>
                    <a:cubicBezTo>
                      <a:pt x="5" y="46"/>
                      <a:pt x="11" y="38"/>
                      <a:pt x="11" y="20"/>
                    </a:cubicBezTo>
                    <a:cubicBezTo>
                      <a:pt x="11" y="13"/>
                      <a:pt x="17" y="6"/>
                      <a:pt x="27" y="5"/>
                    </a:cubicBezTo>
                    <a:cubicBezTo>
                      <a:pt x="26" y="4"/>
                      <a:pt x="26" y="4"/>
                      <a:pt x="26" y="3"/>
                    </a:cubicBezTo>
                    <a:cubicBezTo>
                      <a:pt x="26" y="1"/>
                      <a:pt x="28" y="0"/>
                      <a:pt x="30" y="0"/>
                    </a:cubicBezTo>
                    <a:cubicBezTo>
                      <a:pt x="32" y="0"/>
                      <a:pt x="33" y="1"/>
                      <a:pt x="33" y="3"/>
                    </a:cubicBezTo>
                    <a:cubicBezTo>
                      <a:pt x="33" y="4"/>
                      <a:pt x="33" y="4"/>
                      <a:pt x="33" y="5"/>
                    </a:cubicBezTo>
                    <a:cubicBezTo>
                      <a:pt x="42" y="6"/>
                      <a:pt x="48" y="13"/>
                      <a:pt x="48" y="20"/>
                    </a:cubicBezTo>
                    <a:cubicBezTo>
                      <a:pt x="48" y="38"/>
                      <a:pt x="54" y="46"/>
                      <a:pt x="59" y="50"/>
                    </a:cubicBezTo>
                    <a:cubicBezTo>
                      <a:pt x="59" y="53"/>
                      <a:pt x="57" y="55"/>
                      <a:pt x="55" y="55"/>
                    </a:cubicBezTo>
                    <a:close/>
                    <a:moveTo>
                      <a:pt x="30" y="60"/>
                    </a:moveTo>
                    <a:cubicBezTo>
                      <a:pt x="27" y="60"/>
                      <a:pt x="25" y="57"/>
                      <a:pt x="25" y="55"/>
                    </a:cubicBezTo>
                    <a:cubicBezTo>
                      <a:pt x="25" y="54"/>
                      <a:pt x="24" y="54"/>
                      <a:pt x="24" y="54"/>
                    </a:cubicBezTo>
                    <a:cubicBezTo>
                      <a:pt x="24" y="54"/>
                      <a:pt x="23" y="54"/>
                      <a:pt x="23" y="55"/>
                    </a:cubicBezTo>
                    <a:cubicBezTo>
                      <a:pt x="23" y="58"/>
                      <a:pt x="26" y="61"/>
                      <a:pt x="30" y="61"/>
                    </a:cubicBezTo>
                    <a:cubicBezTo>
                      <a:pt x="30" y="61"/>
                      <a:pt x="30" y="61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p>
                <a:pPr>
                  <a:lnSpc>
                    <a:spcPct val="120000"/>
                  </a:lnSpc>
                </a:pPr>
                <a:endParaRPr lang="en-US" sz="1605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AutoShape 24"/>
              <p:cNvSpPr/>
              <p:nvPr/>
            </p:nvSpPr>
            <p:spPr bwMode="auto">
              <a:xfrm>
                <a:off x="7741" y="4199"/>
                <a:ext cx="747" cy="80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104" y="0"/>
                    </a:moveTo>
                    <a:cubicBezTo>
                      <a:pt x="1163" y="275"/>
                      <a:pt x="1163" y="275"/>
                      <a:pt x="1163" y="275"/>
                    </a:cubicBezTo>
                    <a:cubicBezTo>
                      <a:pt x="498" y="275"/>
                      <a:pt x="0" y="687"/>
                      <a:pt x="0" y="1238"/>
                    </a:cubicBezTo>
                    <a:cubicBezTo>
                      <a:pt x="166" y="20499"/>
                      <a:pt x="166" y="20499"/>
                      <a:pt x="166" y="20499"/>
                    </a:cubicBezTo>
                    <a:cubicBezTo>
                      <a:pt x="166" y="21049"/>
                      <a:pt x="830" y="21599"/>
                      <a:pt x="1495" y="21599"/>
                    </a:cubicBezTo>
                    <a:cubicBezTo>
                      <a:pt x="20270" y="21324"/>
                      <a:pt x="20270" y="21324"/>
                      <a:pt x="20270" y="21324"/>
                    </a:cubicBezTo>
                    <a:cubicBezTo>
                      <a:pt x="21101" y="21324"/>
                      <a:pt x="21600" y="20912"/>
                      <a:pt x="21600" y="20361"/>
                    </a:cubicBezTo>
                    <a:cubicBezTo>
                      <a:pt x="21267" y="1100"/>
                      <a:pt x="21267" y="1100"/>
                      <a:pt x="21267" y="1100"/>
                    </a:cubicBezTo>
                    <a:cubicBezTo>
                      <a:pt x="21267" y="550"/>
                      <a:pt x="20769" y="0"/>
                      <a:pt x="20104" y="0"/>
                    </a:cubicBezTo>
                    <a:close/>
                    <a:moveTo>
                      <a:pt x="4486" y="18298"/>
                    </a:moveTo>
                    <a:cubicBezTo>
                      <a:pt x="3655" y="18298"/>
                      <a:pt x="2990" y="17885"/>
                      <a:pt x="2990" y="17197"/>
                    </a:cubicBezTo>
                    <a:cubicBezTo>
                      <a:pt x="2990" y="16509"/>
                      <a:pt x="3655" y="16096"/>
                      <a:pt x="4319" y="16096"/>
                    </a:cubicBezTo>
                    <a:cubicBezTo>
                      <a:pt x="5150" y="16096"/>
                      <a:pt x="5815" y="16509"/>
                      <a:pt x="5815" y="17197"/>
                    </a:cubicBezTo>
                    <a:cubicBezTo>
                      <a:pt x="5815" y="17747"/>
                      <a:pt x="5150" y="18298"/>
                      <a:pt x="4486" y="18298"/>
                    </a:cubicBezTo>
                    <a:close/>
                    <a:moveTo>
                      <a:pt x="4319" y="14721"/>
                    </a:moveTo>
                    <a:cubicBezTo>
                      <a:pt x="3655" y="14721"/>
                      <a:pt x="2990" y="14308"/>
                      <a:pt x="2990" y="13620"/>
                    </a:cubicBezTo>
                    <a:cubicBezTo>
                      <a:pt x="2990" y="13070"/>
                      <a:pt x="3489" y="12519"/>
                      <a:pt x="4319" y="12519"/>
                    </a:cubicBezTo>
                    <a:cubicBezTo>
                      <a:pt x="5150" y="12519"/>
                      <a:pt x="5649" y="12932"/>
                      <a:pt x="5649" y="13620"/>
                    </a:cubicBezTo>
                    <a:cubicBezTo>
                      <a:pt x="5649" y="14308"/>
                      <a:pt x="5150" y="14721"/>
                      <a:pt x="4319" y="14721"/>
                    </a:cubicBezTo>
                    <a:close/>
                    <a:moveTo>
                      <a:pt x="4319" y="11281"/>
                    </a:moveTo>
                    <a:cubicBezTo>
                      <a:pt x="3489" y="11281"/>
                      <a:pt x="2990" y="10731"/>
                      <a:pt x="2990" y="10043"/>
                    </a:cubicBezTo>
                    <a:cubicBezTo>
                      <a:pt x="2824" y="9492"/>
                      <a:pt x="3489" y="8942"/>
                      <a:pt x="4319" y="8942"/>
                    </a:cubicBezTo>
                    <a:cubicBezTo>
                      <a:pt x="4984" y="8942"/>
                      <a:pt x="5649" y="9492"/>
                      <a:pt x="5649" y="10043"/>
                    </a:cubicBezTo>
                    <a:cubicBezTo>
                      <a:pt x="5649" y="10731"/>
                      <a:pt x="4984" y="11281"/>
                      <a:pt x="4319" y="11281"/>
                    </a:cubicBezTo>
                    <a:close/>
                    <a:moveTo>
                      <a:pt x="8640" y="18298"/>
                    </a:moveTo>
                    <a:cubicBezTo>
                      <a:pt x="7975" y="18298"/>
                      <a:pt x="7310" y="17747"/>
                      <a:pt x="7310" y="17197"/>
                    </a:cubicBezTo>
                    <a:cubicBezTo>
                      <a:pt x="7310" y="16509"/>
                      <a:pt x="7975" y="15959"/>
                      <a:pt x="8640" y="15959"/>
                    </a:cubicBezTo>
                    <a:cubicBezTo>
                      <a:pt x="9470" y="15959"/>
                      <a:pt x="9969" y="16509"/>
                      <a:pt x="9969" y="17197"/>
                    </a:cubicBezTo>
                    <a:cubicBezTo>
                      <a:pt x="10135" y="17747"/>
                      <a:pt x="9470" y="18298"/>
                      <a:pt x="8640" y="18298"/>
                    </a:cubicBezTo>
                    <a:close/>
                    <a:moveTo>
                      <a:pt x="8640" y="14721"/>
                    </a:moveTo>
                    <a:cubicBezTo>
                      <a:pt x="7809" y="14721"/>
                      <a:pt x="7310" y="14170"/>
                      <a:pt x="7310" y="13620"/>
                    </a:cubicBezTo>
                    <a:cubicBezTo>
                      <a:pt x="7310" y="12932"/>
                      <a:pt x="7809" y="12519"/>
                      <a:pt x="8640" y="12519"/>
                    </a:cubicBezTo>
                    <a:cubicBezTo>
                      <a:pt x="9304" y="12519"/>
                      <a:pt x="9969" y="12932"/>
                      <a:pt x="9969" y="13620"/>
                    </a:cubicBezTo>
                    <a:cubicBezTo>
                      <a:pt x="9969" y="14170"/>
                      <a:pt x="9470" y="14721"/>
                      <a:pt x="8640" y="14721"/>
                    </a:cubicBezTo>
                    <a:close/>
                    <a:moveTo>
                      <a:pt x="8640" y="11143"/>
                    </a:moveTo>
                    <a:cubicBezTo>
                      <a:pt x="7809" y="11143"/>
                      <a:pt x="7144" y="10731"/>
                      <a:pt x="7144" y="10043"/>
                    </a:cubicBezTo>
                    <a:cubicBezTo>
                      <a:pt x="7144" y="9492"/>
                      <a:pt x="7809" y="8942"/>
                      <a:pt x="8640" y="8942"/>
                    </a:cubicBezTo>
                    <a:cubicBezTo>
                      <a:pt x="9304" y="8942"/>
                      <a:pt x="9969" y="9355"/>
                      <a:pt x="9969" y="10043"/>
                    </a:cubicBezTo>
                    <a:cubicBezTo>
                      <a:pt x="9969" y="10593"/>
                      <a:pt x="9304" y="11143"/>
                      <a:pt x="8640" y="11143"/>
                    </a:cubicBezTo>
                    <a:close/>
                    <a:moveTo>
                      <a:pt x="12960" y="18298"/>
                    </a:moveTo>
                    <a:cubicBezTo>
                      <a:pt x="12295" y="18298"/>
                      <a:pt x="11630" y="17747"/>
                      <a:pt x="11630" y="17059"/>
                    </a:cubicBezTo>
                    <a:cubicBezTo>
                      <a:pt x="11630" y="16509"/>
                      <a:pt x="12129" y="15959"/>
                      <a:pt x="12960" y="15959"/>
                    </a:cubicBezTo>
                    <a:cubicBezTo>
                      <a:pt x="13790" y="15959"/>
                      <a:pt x="14289" y="16509"/>
                      <a:pt x="14289" y="17059"/>
                    </a:cubicBezTo>
                    <a:cubicBezTo>
                      <a:pt x="14289" y="17747"/>
                      <a:pt x="13790" y="18298"/>
                      <a:pt x="12960" y="18298"/>
                    </a:cubicBezTo>
                    <a:close/>
                    <a:moveTo>
                      <a:pt x="12960" y="14721"/>
                    </a:moveTo>
                    <a:cubicBezTo>
                      <a:pt x="12129" y="14721"/>
                      <a:pt x="11630" y="14170"/>
                      <a:pt x="11464" y="13620"/>
                    </a:cubicBezTo>
                    <a:cubicBezTo>
                      <a:pt x="11464" y="12932"/>
                      <a:pt x="12129" y="12382"/>
                      <a:pt x="12960" y="12382"/>
                    </a:cubicBezTo>
                    <a:cubicBezTo>
                      <a:pt x="13624" y="12382"/>
                      <a:pt x="14289" y="12932"/>
                      <a:pt x="14289" y="13482"/>
                    </a:cubicBezTo>
                    <a:cubicBezTo>
                      <a:pt x="14289" y="14170"/>
                      <a:pt x="13624" y="14721"/>
                      <a:pt x="12960" y="14721"/>
                    </a:cubicBezTo>
                    <a:close/>
                    <a:moveTo>
                      <a:pt x="12960" y="11143"/>
                    </a:moveTo>
                    <a:cubicBezTo>
                      <a:pt x="12129" y="11143"/>
                      <a:pt x="11464" y="10593"/>
                      <a:pt x="11464" y="10043"/>
                    </a:cubicBezTo>
                    <a:cubicBezTo>
                      <a:pt x="11464" y="9355"/>
                      <a:pt x="12129" y="8942"/>
                      <a:pt x="12793" y="8805"/>
                    </a:cubicBezTo>
                    <a:cubicBezTo>
                      <a:pt x="13624" y="8805"/>
                      <a:pt x="14289" y="9355"/>
                      <a:pt x="14289" y="10043"/>
                    </a:cubicBezTo>
                    <a:cubicBezTo>
                      <a:pt x="14289" y="10593"/>
                      <a:pt x="13624" y="11143"/>
                      <a:pt x="12960" y="11143"/>
                    </a:cubicBezTo>
                    <a:close/>
                    <a:moveTo>
                      <a:pt x="18775" y="17059"/>
                    </a:moveTo>
                    <a:cubicBezTo>
                      <a:pt x="18775" y="17747"/>
                      <a:pt x="18110" y="18298"/>
                      <a:pt x="17280" y="18298"/>
                    </a:cubicBezTo>
                    <a:cubicBezTo>
                      <a:pt x="16449" y="18298"/>
                      <a:pt x="15784" y="17747"/>
                      <a:pt x="15784" y="17059"/>
                    </a:cubicBezTo>
                    <a:cubicBezTo>
                      <a:pt x="15784" y="13620"/>
                      <a:pt x="15784" y="13620"/>
                      <a:pt x="15784" y="13620"/>
                    </a:cubicBezTo>
                    <a:cubicBezTo>
                      <a:pt x="15784" y="12932"/>
                      <a:pt x="16449" y="12382"/>
                      <a:pt x="17113" y="12382"/>
                    </a:cubicBezTo>
                    <a:cubicBezTo>
                      <a:pt x="17944" y="12382"/>
                      <a:pt x="18609" y="12932"/>
                      <a:pt x="18609" y="13620"/>
                    </a:cubicBezTo>
                    <a:lnTo>
                      <a:pt x="18775" y="17059"/>
                    </a:lnTo>
                    <a:close/>
                    <a:moveTo>
                      <a:pt x="15784" y="10043"/>
                    </a:moveTo>
                    <a:cubicBezTo>
                      <a:pt x="15784" y="9355"/>
                      <a:pt x="16449" y="8805"/>
                      <a:pt x="17113" y="8805"/>
                    </a:cubicBezTo>
                    <a:cubicBezTo>
                      <a:pt x="17944" y="8805"/>
                      <a:pt x="18609" y="9355"/>
                      <a:pt x="18609" y="9905"/>
                    </a:cubicBezTo>
                    <a:cubicBezTo>
                      <a:pt x="18609" y="10593"/>
                      <a:pt x="17944" y="11143"/>
                      <a:pt x="17113" y="11143"/>
                    </a:cubicBezTo>
                    <a:cubicBezTo>
                      <a:pt x="16449" y="11143"/>
                      <a:pt x="15784" y="10593"/>
                      <a:pt x="15784" y="10043"/>
                    </a:cubicBezTo>
                    <a:close/>
                    <a:moveTo>
                      <a:pt x="16615" y="6053"/>
                    </a:moveTo>
                    <a:cubicBezTo>
                      <a:pt x="4818" y="6191"/>
                      <a:pt x="4818" y="6191"/>
                      <a:pt x="4818" y="6191"/>
                    </a:cubicBezTo>
                    <a:cubicBezTo>
                      <a:pt x="3323" y="6191"/>
                      <a:pt x="2326" y="5228"/>
                      <a:pt x="2326" y="4127"/>
                    </a:cubicBezTo>
                    <a:cubicBezTo>
                      <a:pt x="2326" y="3026"/>
                      <a:pt x="3323" y="2201"/>
                      <a:pt x="4652" y="2201"/>
                    </a:cubicBezTo>
                    <a:cubicBezTo>
                      <a:pt x="16615" y="2063"/>
                      <a:pt x="16615" y="2063"/>
                      <a:pt x="16615" y="2063"/>
                    </a:cubicBezTo>
                    <a:cubicBezTo>
                      <a:pt x="17944" y="2063"/>
                      <a:pt x="19107" y="2889"/>
                      <a:pt x="19107" y="3989"/>
                    </a:cubicBezTo>
                    <a:cubicBezTo>
                      <a:pt x="19107" y="5090"/>
                      <a:pt x="17944" y="6053"/>
                      <a:pt x="16615" y="6053"/>
                    </a:cubicBezTo>
                    <a:close/>
                  </a:path>
                </a:pathLst>
              </a:custGeom>
              <a:solidFill>
                <a:srgbClr val="1C56A6"/>
              </a:solidFill>
              <a:ln>
                <a:noFill/>
              </a:ln>
              <a:effectLst/>
            </p:spPr>
            <p:txBody>
              <a:bodyPr lIns="0" tIns="0" rIns="0" bIns="0"/>
              <a:p>
                <a:pPr>
                  <a:lnSpc>
                    <a:spcPct val="150000"/>
                  </a:lnSpc>
                  <a:defRPr/>
                </a:pPr>
                <a:endParaRPr lang="es-ES" sz="2670">
                  <a:latin typeface="Arial" panose="020B0604020202020204" pitchFamily="34" charset="0"/>
                  <a:ea typeface="微软雅黑" panose="020B0503020204020204" pitchFamily="34" charset="-122"/>
                  <a:cs typeface="Calibri" panose="020F050202020403020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 234"/>
              <p:cNvSpPr/>
              <p:nvPr/>
            </p:nvSpPr>
            <p:spPr bwMode="auto">
              <a:xfrm rot="13320000">
                <a:off x="10659" y="7354"/>
                <a:ext cx="896" cy="962"/>
              </a:xfrm>
              <a:custGeom>
                <a:avLst/>
                <a:gdLst/>
                <a:ahLst/>
                <a:cxnLst>
                  <a:cxn ang="0">
                    <a:pos x="66" y="25"/>
                  </a:cxn>
                  <a:cxn ang="0">
                    <a:pos x="51" y="40"/>
                  </a:cxn>
                  <a:cxn ang="0">
                    <a:pos x="57" y="46"/>
                  </a:cxn>
                  <a:cxn ang="0">
                    <a:pos x="51" y="52"/>
                  </a:cxn>
                  <a:cxn ang="0">
                    <a:pos x="20" y="55"/>
                  </a:cxn>
                  <a:cxn ang="0">
                    <a:pos x="7" y="69"/>
                  </a:cxn>
                  <a:cxn ang="0">
                    <a:pos x="0" y="69"/>
                  </a:cxn>
                  <a:cxn ang="0">
                    <a:pos x="0" y="62"/>
                  </a:cxn>
                  <a:cxn ang="0">
                    <a:pos x="14" y="48"/>
                  </a:cxn>
                  <a:cxn ang="0">
                    <a:pos x="17" y="18"/>
                  </a:cxn>
                  <a:cxn ang="0">
                    <a:pos x="23" y="12"/>
                  </a:cxn>
                  <a:cxn ang="0">
                    <a:pos x="29" y="17"/>
                  </a:cxn>
                  <a:cxn ang="0">
                    <a:pos x="44" y="2"/>
                  </a:cxn>
                  <a:cxn ang="0">
                    <a:pos x="51" y="2"/>
                  </a:cxn>
                  <a:cxn ang="0">
                    <a:pos x="51" y="9"/>
                  </a:cxn>
                  <a:cxn ang="0">
                    <a:pos x="35" y="24"/>
                  </a:cxn>
                  <a:cxn ang="0">
                    <a:pos x="44" y="33"/>
                  </a:cxn>
                  <a:cxn ang="0">
                    <a:pos x="60" y="18"/>
                  </a:cxn>
                  <a:cxn ang="0">
                    <a:pos x="66" y="18"/>
                  </a:cxn>
                  <a:cxn ang="0">
                    <a:pos x="66" y="25"/>
                  </a:cxn>
                </a:cxnLst>
                <a:rect l="0" t="0" r="r" b="b"/>
                <a:pathLst>
                  <a:path w="68" h="69">
                    <a:moveTo>
                      <a:pt x="66" y="25"/>
                    </a:moveTo>
                    <a:cubicBezTo>
                      <a:pt x="51" y="40"/>
                      <a:pt x="51" y="40"/>
                      <a:pt x="51" y="40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1" y="52"/>
                      <a:pt x="51" y="52"/>
                      <a:pt x="51" y="52"/>
                    </a:cubicBezTo>
                    <a:cubicBezTo>
                      <a:pt x="42" y="60"/>
                      <a:pt x="30" y="61"/>
                      <a:pt x="20" y="55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7" y="39"/>
                      <a:pt x="8" y="26"/>
                      <a:pt x="17" y="18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6" y="0"/>
                      <a:pt x="49" y="0"/>
                      <a:pt x="51" y="2"/>
                    </a:cubicBezTo>
                    <a:cubicBezTo>
                      <a:pt x="52" y="4"/>
                      <a:pt x="52" y="7"/>
                      <a:pt x="51" y="9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60" y="18"/>
                      <a:pt x="60" y="18"/>
                      <a:pt x="60" y="18"/>
                    </a:cubicBezTo>
                    <a:cubicBezTo>
                      <a:pt x="61" y="16"/>
                      <a:pt x="64" y="16"/>
                      <a:pt x="66" y="18"/>
                    </a:cubicBezTo>
                    <a:cubicBezTo>
                      <a:pt x="68" y="20"/>
                      <a:pt x="68" y="23"/>
                      <a:pt x="66" y="25"/>
                    </a:cubicBezTo>
                    <a:close/>
                  </a:path>
                </a:pathLst>
              </a:custGeom>
              <a:solidFill>
                <a:srgbClr val="1C56A6"/>
              </a:solidFill>
              <a:ln w="9525">
                <a:noFill/>
                <a:round/>
              </a:ln>
            </p:spPr>
            <p:txBody>
              <a:bodyPr vert="horz" wrap="square" lIns="114605" tIns="57303" rIns="114605" bIns="57303" numCol="1" anchor="t" anchorCtr="0" compatLnSpc="1"/>
              <a:p>
                <a:pPr>
                  <a:lnSpc>
                    <a:spcPct val="120000"/>
                  </a:lnSpc>
                </a:pPr>
                <a:endParaRPr lang="en-US" sz="1605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 153"/>
              <p:cNvSpPr>
                <a:spLocks noEditPoints="1"/>
              </p:cNvSpPr>
              <p:nvPr/>
            </p:nvSpPr>
            <p:spPr bwMode="auto">
              <a:xfrm>
                <a:off x="7667" y="7354"/>
                <a:ext cx="896" cy="962"/>
              </a:xfrm>
              <a:custGeom>
                <a:avLst/>
                <a:gdLst/>
                <a:ahLst/>
                <a:cxnLst>
                  <a:cxn ang="0">
                    <a:pos x="0" y="59"/>
                  </a:cxn>
                  <a:cxn ang="0">
                    <a:pos x="118" y="59"/>
                  </a:cxn>
                  <a:cxn ang="0">
                    <a:pos x="111" y="57"/>
                  </a:cxn>
                  <a:cxn ang="0">
                    <a:pos x="83" y="33"/>
                  </a:cxn>
                  <a:cxn ang="0">
                    <a:pos x="111" y="57"/>
                  </a:cxn>
                  <a:cxn ang="0">
                    <a:pos x="41" y="91"/>
                  </a:cxn>
                  <a:cxn ang="0">
                    <a:pos x="57" y="111"/>
                  </a:cxn>
                  <a:cxn ang="0">
                    <a:pos x="61" y="8"/>
                  </a:cxn>
                  <a:cxn ang="0">
                    <a:pos x="61" y="34"/>
                  </a:cxn>
                  <a:cxn ang="0">
                    <a:pos x="61" y="8"/>
                  </a:cxn>
                  <a:cxn ang="0">
                    <a:pos x="95" y="22"/>
                  </a:cxn>
                  <a:cxn ang="0">
                    <a:pos x="67" y="8"/>
                  </a:cxn>
                  <a:cxn ang="0">
                    <a:pos x="57" y="34"/>
                  </a:cxn>
                  <a:cxn ang="0">
                    <a:pos x="57" y="8"/>
                  </a:cxn>
                  <a:cxn ang="0">
                    <a:pos x="36" y="30"/>
                  </a:cxn>
                  <a:cxn ang="0">
                    <a:pos x="50" y="8"/>
                  </a:cxn>
                  <a:cxn ang="0">
                    <a:pos x="38" y="35"/>
                  </a:cxn>
                  <a:cxn ang="0">
                    <a:pos x="57" y="57"/>
                  </a:cxn>
                  <a:cxn ang="0">
                    <a:pos x="38" y="35"/>
                  </a:cxn>
                  <a:cxn ang="0">
                    <a:pos x="57" y="84"/>
                  </a:cxn>
                  <a:cxn ang="0">
                    <a:pos x="34" y="61"/>
                  </a:cxn>
                  <a:cxn ang="0">
                    <a:pos x="50" y="110"/>
                  </a:cxn>
                  <a:cxn ang="0">
                    <a:pos x="38" y="92"/>
                  </a:cxn>
                  <a:cxn ang="0">
                    <a:pos x="61" y="111"/>
                  </a:cxn>
                  <a:cxn ang="0">
                    <a:pos x="77" y="91"/>
                  </a:cxn>
                  <a:cxn ang="0">
                    <a:pos x="61" y="111"/>
                  </a:cxn>
                  <a:cxn ang="0">
                    <a:pos x="93" y="99"/>
                  </a:cxn>
                  <a:cxn ang="0">
                    <a:pos x="80" y="92"/>
                  </a:cxn>
                  <a:cxn ang="0">
                    <a:pos x="61" y="84"/>
                  </a:cxn>
                  <a:cxn ang="0">
                    <a:pos x="84" y="61"/>
                  </a:cxn>
                  <a:cxn ang="0">
                    <a:pos x="61" y="57"/>
                  </a:cxn>
                  <a:cxn ang="0">
                    <a:pos x="80" y="35"/>
                  </a:cxn>
                  <a:cxn ang="0">
                    <a:pos x="61" y="57"/>
                  </a:cxn>
                  <a:cxn ang="0">
                    <a:pos x="35" y="33"/>
                  </a:cxn>
                  <a:cxn ang="0">
                    <a:pos x="7" y="57"/>
                  </a:cxn>
                  <a:cxn ang="0">
                    <a:pos x="7" y="61"/>
                  </a:cxn>
                  <a:cxn ang="0">
                    <a:pos x="36" y="89"/>
                  </a:cxn>
                  <a:cxn ang="0">
                    <a:pos x="7" y="61"/>
                  </a:cxn>
                  <a:cxn ang="0">
                    <a:pos x="82" y="89"/>
                  </a:cxn>
                  <a:cxn ang="0">
                    <a:pos x="111" y="61"/>
                  </a:cxn>
                  <a:cxn ang="0">
                    <a:pos x="95" y="96"/>
                  </a:cxn>
                </a:cxnLst>
                <a:rect l="0" t="0" r="r" b="b"/>
                <a:pathLst>
                  <a:path w="118" h="119">
                    <a:moveTo>
                      <a:pt x="59" y="0"/>
                    </a:moveTo>
                    <a:cubicBezTo>
                      <a:pt x="26" y="0"/>
                      <a:pt x="0" y="27"/>
                      <a:pt x="0" y="59"/>
                    </a:cubicBezTo>
                    <a:cubicBezTo>
                      <a:pt x="0" y="92"/>
                      <a:pt x="26" y="119"/>
                      <a:pt x="59" y="119"/>
                    </a:cubicBezTo>
                    <a:cubicBezTo>
                      <a:pt x="92" y="119"/>
                      <a:pt x="118" y="92"/>
                      <a:pt x="118" y="59"/>
                    </a:cubicBezTo>
                    <a:cubicBezTo>
                      <a:pt x="118" y="27"/>
                      <a:pt x="92" y="0"/>
                      <a:pt x="59" y="0"/>
                    </a:cubicBezTo>
                    <a:close/>
                    <a:moveTo>
                      <a:pt x="111" y="57"/>
                    </a:moveTo>
                    <a:cubicBezTo>
                      <a:pt x="88" y="57"/>
                      <a:pt x="88" y="57"/>
                      <a:pt x="88" y="57"/>
                    </a:cubicBezTo>
                    <a:cubicBezTo>
                      <a:pt x="87" y="49"/>
                      <a:pt x="86" y="41"/>
                      <a:pt x="83" y="33"/>
                    </a:cubicBezTo>
                    <a:cubicBezTo>
                      <a:pt x="88" y="31"/>
                      <a:pt x="93" y="28"/>
                      <a:pt x="98" y="25"/>
                    </a:cubicBezTo>
                    <a:cubicBezTo>
                      <a:pt x="105" y="34"/>
                      <a:pt x="110" y="45"/>
                      <a:pt x="111" y="57"/>
                    </a:cubicBezTo>
                    <a:close/>
                    <a:moveTo>
                      <a:pt x="57" y="111"/>
                    </a:moveTo>
                    <a:cubicBezTo>
                      <a:pt x="50" y="106"/>
                      <a:pt x="45" y="99"/>
                      <a:pt x="41" y="91"/>
                    </a:cubicBezTo>
                    <a:cubicBezTo>
                      <a:pt x="46" y="89"/>
                      <a:pt x="52" y="88"/>
                      <a:pt x="57" y="88"/>
                    </a:cubicBezTo>
                    <a:cubicBezTo>
                      <a:pt x="57" y="111"/>
                      <a:pt x="57" y="111"/>
                      <a:pt x="57" y="111"/>
                    </a:cubicBezTo>
                    <a:cubicBezTo>
                      <a:pt x="57" y="111"/>
                      <a:pt x="57" y="111"/>
                      <a:pt x="57" y="111"/>
                    </a:cubicBezTo>
                    <a:close/>
                    <a:moveTo>
                      <a:pt x="61" y="8"/>
                    </a:moveTo>
                    <a:cubicBezTo>
                      <a:pt x="68" y="14"/>
                      <a:pt x="74" y="22"/>
                      <a:pt x="78" y="31"/>
                    </a:cubicBezTo>
                    <a:cubicBezTo>
                      <a:pt x="73" y="33"/>
                      <a:pt x="67" y="34"/>
                      <a:pt x="61" y="34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1" y="8"/>
                      <a:pt x="61" y="8"/>
                      <a:pt x="61" y="8"/>
                    </a:cubicBezTo>
                    <a:close/>
                    <a:moveTo>
                      <a:pt x="67" y="8"/>
                    </a:moveTo>
                    <a:cubicBezTo>
                      <a:pt x="78" y="10"/>
                      <a:pt x="88" y="15"/>
                      <a:pt x="95" y="22"/>
                    </a:cubicBezTo>
                    <a:cubicBezTo>
                      <a:pt x="91" y="25"/>
                      <a:pt x="87" y="28"/>
                      <a:pt x="82" y="30"/>
                    </a:cubicBezTo>
                    <a:cubicBezTo>
                      <a:pt x="78" y="22"/>
                      <a:pt x="73" y="14"/>
                      <a:pt x="67" y="8"/>
                    </a:cubicBezTo>
                    <a:close/>
                    <a:moveTo>
                      <a:pt x="57" y="8"/>
                    </a:moveTo>
                    <a:cubicBezTo>
                      <a:pt x="57" y="34"/>
                      <a:pt x="57" y="34"/>
                      <a:pt x="57" y="34"/>
                    </a:cubicBezTo>
                    <a:cubicBezTo>
                      <a:pt x="51" y="34"/>
                      <a:pt x="45" y="33"/>
                      <a:pt x="40" y="31"/>
                    </a:cubicBezTo>
                    <a:cubicBezTo>
                      <a:pt x="44" y="22"/>
                      <a:pt x="50" y="14"/>
                      <a:pt x="57" y="8"/>
                    </a:cubicBezTo>
                    <a:cubicBezTo>
                      <a:pt x="57" y="8"/>
                      <a:pt x="57" y="8"/>
                      <a:pt x="57" y="8"/>
                    </a:cubicBezTo>
                    <a:close/>
                    <a:moveTo>
                      <a:pt x="36" y="30"/>
                    </a:moveTo>
                    <a:cubicBezTo>
                      <a:pt x="31" y="28"/>
                      <a:pt x="27" y="25"/>
                      <a:pt x="23" y="22"/>
                    </a:cubicBezTo>
                    <a:cubicBezTo>
                      <a:pt x="30" y="15"/>
                      <a:pt x="40" y="10"/>
                      <a:pt x="50" y="8"/>
                    </a:cubicBezTo>
                    <a:cubicBezTo>
                      <a:pt x="45" y="14"/>
                      <a:pt x="40" y="22"/>
                      <a:pt x="36" y="30"/>
                    </a:cubicBezTo>
                    <a:close/>
                    <a:moveTo>
                      <a:pt x="38" y="35"/>
                    </a:moveTo>
                    <a:cubicBezTo>
                      <a:pt x="44" y="37"/>
                      <a:pt x="50" y="38"/>
                      <a:pt x="57" y="38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34" y="49"/>
                      <a:pt x="36" y="42"/>
                      <a:pt x="38" y="35"/>
                    </a:cubicBezTo>
                    <a:close/>
                    <a:moveTo>
                      <a:pt x="57" y="61"/>
                    </a:moveTo>
                    <a:cubicBezTo>
                      <a:pt x="57" y="84"/>
                      <a:pt x="57" y="84"/>
                      <a:pt x="57" y="84"/>
                    </a:cubicBezTo>
                    <a:cubicBezTo>
                      <a:pt x="51" y="85"/>
                      <a:pt x="45" y="86"/>
                      <a:pt x="40" y="87"/>
                    </a:cubicBezTo>
                    <a:cubicBezTo>
                      <a:pt x="36" y="79"/>
                      <a:pt x="34" y="71"/>
                      <a:pt x="34" y="61"/>
                    </a:cubicBezTo>
                    <a:lnTo>
                      <a:pt x="57" y="61"/>
                    </a:lnTo>
                    <a:close/>
                    <a:moveTo>
                      <a:pt x="50" y="110"/>
                    </a:moveTo>
                    <a:cubicBezTo>
                      <a:pt x="41" y="109"/>
                      <a:pt x="32" y="105"/>
                      <a:pt x="25" y="99"/>
                    </a:cubicBezTo>
                    <a:cubicBezTo>
                      <a:pt x="29" y="96"/>
                      <a:pt x="33" y="94"/>
                      <a:pt x="38" y="92"/>
                    </a:cubicBezTo>
                    <a:cubicBezTo>
                      <a:pt x="41" y="99"/>
                      <a:pt x="45" y="105"/>
                      <a:pt x="50" y="110"/>
                    </a:cubicBezTo>
                    <a:close/>
                    <a:moveTo>
                      <a:pt x="61" y="111"/>
                    </a:moveTo>
                    <a:cubicBezTo>
                      <a:pt x="61" y="88"/>
                      <a:pt x="61" y="88"/>
                      <a:pt x="61" y="88"/>
                    </a:cubicBezTo>
                    <a:cubicBezTo>
                      <a:pt x="66" y="88"/>
                      <a:pt x="72" y="89"/>
                      <a:pt x="77" y="91"/>
                    </a:cubicBezTo>
                    <a:cubicBezTo>
                      <a:pt x="73" y="99"/>
                      <a:pt x="67" y="106"/>
                      <a:pt x="61" y="111"/>
                    </a:cubicBezTo>
                    <a:cubicBezTo>
                      <a:pt x="61" y="111"/>
                      <a:pt x="61" y="111"/>
                      <a:pt x="61" y="111"/>
                    </a:cubicBezTo>
                    <a:close/>
                    <a:moveTo>
                      <a:pt x="80" y="92"/>
                    </a:moveTo>
                    <a:cubicBezTo>
                      <a:pt x="85" y="94"/>
                      <a:pt x="89" y="96"/>
                      <a:pt x="93" y="99"/>
                    </a:cubicBezTo>
                    <a:cubicBezTo>
                      <a:pt x="86" y="105"/>
                      <a:pt x="77" y="109"/>
                      <a:pt x="67" y="110"/>
                    </a:cubicBezTo>
                    <a:cubicBezTo>
                      <a:pt x="73" y="105"/>
                      <a:pt x="77" y="99"/>
                      <a:pt x="80" y="92"/>
                    </a:cubicBezTo>
                    <a:close/>
                    <a:moveTo>
                      <a:pt x="78" y="87"/>
                    </a:moveTo>
                    <a:cubicBezTo>
                      <a:pt x="73" y="86"/>
                      <a:pt x="67" y="85"/>
                      <a:pt x="61" y="84"/>
                    </a:cubicBezTo>
                    <a:cubicBezTo>
                      <a:pt x="61" y="61"/>
                      <a:pt x="61" y="61"/>
                      <a:pt x="61" y="61"/>
                    </a:cubicBezTo>
                    <a:cubicBezTo>
                      <a:pt x="84" y="61"/>
                      <a:pt x="84" y="61"/>
                      <a:pt x="84" y="61"/>
                    </a:cubicBezTo>
                    <a:cubicBezTo>
                      <a:pt x="84" y="71"/>
                      <a:pt x="82" y="79"/>
                      <a:pt x="78" y="87"/>
                    </a:cubicBezTo>
                    <a:close/>
                    <a:moveTo>
                      <a:pt x="61" y="57"/>
                    </a:moveTo>
                    <a:cubicBezTo>
                      <a:pt x="61" y="38"/>
                      <a:pt x="61" y="38"/>
                      <a:pt x="61" y="38"/>
                    </a:cubicBezTo>
                    <a:cubicBezTo>
                      <a:pt x="67" y="38"/>
                      <a:pt x="74" y="37"/>
                      <a:pt x="80" y="35"/>
                    </a:cubicBezTo>
                    <a:cubicBezTo>
                      <a:pt x="82" y="42"/>
                      <a:pt x="84" y="49"/>
                      <a:pt x="84" y="57"/>
                    </a:cubicBezTo>
                    <a:lnTo>
                      <a:pt x="61" y="57"/>
                    </a:lnTo>
                    <a:close/>
                    <a:moveTo>
                      <a:pt x="20" y="25"/>
                    </a:moveTo>
                    <a:cubicBezTo>
                      <a:pt x="25" y="28"/>
                      <a:pt x="30" y="31"/>
                      <a:pt x="35" y="33"/>
                    </a:cubicBezTo>
                    <a:cubicBezTo>
                      <a:pt x="32" y="41"/>
                      <a:pt x="30" y="49"/>
                      <a:pt x="30" y="57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8" y="45"/>
                      <a:pt x="13" y="34"/>
                      <a:pt x="20" y="25"/>
                    </a:cubicBezTo>
                    <a:close/>
                    <a:moveTo>
                      <a:pt x="7" y="61"/>
                    </a:moveTo>
                    <a:cubicBezTo>
                      <a:pt x="30" y="61"/>
                      <a:pt x="30" y="61"/>
                      <a:pt x="30" y="61"/>
                    </a:cubicBezTo>
                    <a:cubicBezTo>
                      <a:pt x="31" y="71"/>
                      <a:pt x="33" y="80"/>
                      <a:pt x="36" y="89"/>
                    </a:cubicBezTo>
                    <a:cubicBezTo>
                      <a:pt x="31" y="91"/>
                      <a:pt x="27" y="93"/>
                      <a:pt x="22" y="96"/>
                    </a:cubicBezTo>
                    <a:cubicBezTo>
                      <a:pt x="13" y="87"/>
                      <a:pt x="8" y="75"/>
                      <a:pt x="7" y="61"/>
                    </a:cubicBezTo>
                    <a:close/>
                    <a:moveTo>
                      <a:pt x="95" y="96"/>
                    </a:moveTo>
                    <a:cubicBezTo>
                      <a:pt x="91" y="93"/>
                      <a:pt x="87" y="91"/>
                      <a:pt x="82" y="89"/>
                    </a:cubicBezTo>
                    <a:cubicBezTo>
                      <a:pt x="85" y="80"/>
                      <a:pt x="87" y="71"/>
                      <a:pt x="88" y="61"/>
                    </a:cubicBezTo>
                    <a:cubicBezTo>
                      <a:pt x="111" y="61"/>
                      <a:pt x="111" y="61"/>
                      <a:pt x="111" y="61"/>
                    </a:cubicBezTo>
                    <a:cubicBezTo>
                      <a:pt x="110" y="75"/>
                      <a:pt x="104" y="87"/>
                      <a:pt x="95" y="96"/>
                    </a:cubicBezTo>
                    <a:close/>
                    <a:moveTo>
                      <a:pt x="95" y="96"/>
                    </a:moveTo>
                    <a:cubicBezTo>
                      <a:pt x="95" y="96"/>
                      <a:pt x="95" y="96"/>
                      <a:pt x="95" y="96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9526" tIns="49764" rIns="99526" bIns="49764" numCol="1" anchor="t" anchorCtr="0" compatLnSpc="1"/>
              <a:p>
                <a:pPr>
                  <a:lnSpc>
                    <a:spcPct val="120000"/>
                  </a:lnSpc>
                </a:pPr>
                <a:endParaRPr lang="en-US" sz="140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8592" y="5550"/>
              <a:ext cx="1888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 b="1">
                  <a:solidFill>
                    <a:srgbClr val="1C56A6"/>
                  </a:solidFill>
                </a:rPr>
                <a:t>设计原则</a:t>
              </a:r>
              <a:endParaRPr lang="zh-CN" altLang="en-US" sz="2800" b="1">
                <a:solidFill>
                  <a:srgbClr val="1C56A6"/>
                </a:solidFill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4687570" y="1193165"/>
            <a:ext cx="2735580" cy="36830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Ideas in Programming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30040" y="548005"/>
            <a:ext cx="386461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设计原则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9" name="矩形 78"/>
          <p:cNvSpPr/>
          <p:nvPr>
            <p:custDataLst>
              <p:tags r:id="rId1"/>
            </p:custDataLst>
          </p:nvPr>
        </p:nvSpPr>
        <p:spPr>
          <a:xfrm>
            <a:off x="581025" y="2325370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/>
            <a:r>
              <a:rPr lang="zh-CN" altLang="en-US" sz="2400" b="1" dirty="0">
                <a:solidFill>
                  <a:srgbClr val="2663A4"/>
                </a:solidFill>
                <a:cs typeface="+mn-ea"/>
                <a:sym typeface="+mn-lt"/>
              </a:rPr>
              <a:t>适配器隔离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81025" y="4820285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/>
            <a:r>
              <a:rPr lang="zh-CN" altLang="en-US" sz="2400" b="1" dirty="0">
                <a:solidFill>
                  <a:srgbClr val="2663A4"/>
                </a:solidFill>
                <a:cs typeface="+mn-ea"/>
                <a:sym typeface="+mn-lt"/>
              </a:rPr>
              <a:t>证据溯源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8229600" y="4729480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400" b="1" dirty="0">
                <a:solidFill>
                  <a:srgbClr val="2663A4"/>
                </a:solidFill>
                <a:cs typeface="+mn-ea"/>
                <a:sym typeface="+mn-lt"/>
              </a:rPr>
              <a:t>语义分离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8229600" y="2325370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8229600" y="2325370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400" b="1" dirty="0">
                <a:solidFill>
                  <a:srgbClr val="2663A4"/>
                </a:solidFill>
                <a:cs typeface="+mn-ea"/>
                <a:sym typeface="+mn-lt"/>
              </a:rPr>
              <a:t>多步决策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871855" y="2030095"/>
            <a:ext cx="6863080" cy="3342005"/>
            <a:chOff x="1136" y="3394"/>
            <a:chExt cx="10808" cy="5263"/>
          </a:xfrm>
        </p:grpSpPr>
        <p:grpSp>
          <p:nvGrpSpPr>
            <p:cNvPr id="2" name="组合 1"/>
            <p:cNvGrpSpPr/>
            <p:nvPr/>
          </p:nvGrpSpPr>
          <p:grpSpPr>
            <a:xfrm>
              <a:off x="6675" y="3394"/>
              <a:ext cx="5269" cy="5263"/>
              <a:chOff x="6675" y="3394"/>
              <a:chExt cx="5269" cy="5263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6675" y="3394"/>
                <a:ext cx="5269" cy="5263"/>
                <a:chOff x="4552101" y="1994586"/>
                <a:chExt cx="3345589" cy="3342119"/>
              </a:xfrm>
            </p:grpSpPr>
            <p:sp>
              <p:nvSpPr>
                <p:cNvPr id="18" name="任意多边形 6"/>
                <p:cNvSpPr>
                  <a:spLocks noEditPoints="1"/>
                </p:cNvSpPr>
                <p:nvPr/>
              </p:nvSpPr>
              <p:spPr bwMode="auto">
                <a:xfrm>
                  <a:off x="4552101" y="1994586"/>
                  <a:ext cx="3345589" cy="3342119"/>
                </a:xfrm>
                <a:custGeom>
                  <a:avLst/>
                  <a:gdLst>
                    <a:gd name="T0" fmla="*/ 870 w 935"/>
                    <a:gd name="T1" fmla="*/ 608 h 935"/>
                    <a:gd name="T2" fmla="*/ 870 w 935"/>
                    <a:gd name="T3" fmla="*/ 608 h 935"/>
                    <a:gd name="T4" fmla="*/ 806 w 935"/>
                    <a:gd name="T5" fmla="*/ 468 h 935"/>
                    <a:gd name="T6" fmla="*/ 870 w 935"/>
                    <a:gd name="T7" fmla="*/ 327 h 935"/>
                    <a:gd name="T8" fmla="*/ 870 w 935"/>
                    <a:gd name="T9" fmla="*/ 327 h 935"/>
                    <a:gd name="T10" fmla="*/ 935 w 935"/>
                    <a:gd name="T11" fmla="*/ 186 h 935"/>
                    <a:gd name="T12" fmla="*/ 750 w 935"/>
                    <a:gd name="T13" fmla="*/ 0 h 935"/>
                    <a:gd name="T14" fmla="*/ 608 w 935"/>
                    <a:gd name="T15" fmla="*/ 65 h 935"/>
                    <a:gd name="T16" fmla="*/ 608 w 935"/>
                    <a:gd name="T17" fmla="*/ 65 h 935"/>
                    <a:gd name="T18" fmla="*/ 468 w 935"/>
                    <a:gd name="T19" fmla="*/ 129 h 935"/>
                    <a:gd name="T20" fmla="*/ 328 w 935"/>
                    <a:gd name="T21" fmla="*/ 65 h 935"/>
                    <a:gd name="T22" fmla="*/ 328 w 935"/>
                    <a:gd name="T23" fmla="*/ 65 h 935"/>
                    <a:gd name="T24" fmla="*/ 186 w 935"/>
                    <a:gd name="T25" fmla="*/ 0 h 935"/>
                    <a:gd name="T26" fmla="*/ 0 w 935"/>
                    <a:gd name="T27" fmla="*/ 186 h 935"/>
                    <a:gd name="T28" fmla="*/ 66 w 935"/>
                    <a:gd name="T29" fmla="*/ 327 h 935"/>
                    <a:gd name="T30" fmla="*/ 66 w 935"/>
                    <a:gd name="T31" fmla="*/ 327 h 935"/>
                    <a:gd name="T32" fmla="*/ 130 w 935"/>
                    <a:gd name="T33" fmla="*/ 468 h 935"/>
                    <a:gd name="T34" fmla="*/ 66 w 935"/>
                    <a:gd name="T35" fmla="*/ 608 h 935"/>
                    <a:gd name="T36" fmla="*/ 66 w 935"/>
                    <a:gd name="T37" fmla="*/ 608 h 935"/>
                    <a:gd name="T38" fmla="*/ 0 w 935"/>
                    <a:gd name="T39" fmla="*/ 749 h 935"/>
                    <a:gd name="T40" fmla="*/ 186 w 935"/>
                    <a:gd name="T41" fmla="*/ 935 h 935"/>
                    <a:gd name="T42" fmla="*/ 328 w 935"/>
                    <a:gd name="T43" fmla="*/ 870 h 935"/>
                    <a:gd name="T44" fmla="*/ 328 w 935"/>
                    <a:gd name="T45" fmla="*/ 870 h 935"/>
                    <a:gd name="T46" fmla="*/ 468 w 935"/>
                    <a:gd name="T47" fmla="*/ 806 h 935"/>
                    <a:gd name="T48" fmla="*/ 608 w 935"/>
                    <a:gd name="T49" fmla="*/ 870 h 935"/>
                    <a:gd name="T50" fmla="*/ 608 w 935"/>
                    <a:gd name="T51" fmla="*/ 870 h 935"/>
                    <a:gd name="T52" fmla="*/ 750 w 935"/>
                    <a:gd name="T53" fmla="*/ 935 h 935"/>
                    <a:gd name="T54" fmla="*/ 935 w 935"/>
                    <a:gd name="T55" fmla="*/ 749 h 935"/>
                    <a:gd name="T56" fmla="*/ 870 w 935"/>
                    <a:gd name="T57" fmla="*/ 608 h 935"/>
                    <a:gd name="T58" fmla="*/ 468 w 935"/>
                    <a:gd name="T59" fmla="*/ 681 h 935"/>
                    <a:gd name="T60" fmla="*/ 255 w 935"/>
                    <a:gd name="T61" fmla="*/ 468 h 935"/>
                    <a:gd name="T62" fmla="*/ 468 w 935"/>
                    <a:gd name="T63" fmla="*/ 255 h 935"/>
                    <a:gd name="T64" fmla="*/ 681 w 935"/>
                    <a:gd name="T65" fmla="*/ 468 h 935"/>
                    <a:gd name="T66" fmla="*/ 468 w 935"/>
                    <a:gd name="T67" fmla="*/ 681 h 935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935"/>
                    <a:gd name="T103" fmla="*/ 0 h 935"/>
                    <a:gd name="T104" fmla="*/ 935 w 935"/>
                    <a:gd name="T105" fmla="*/ 935 h 935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935" h="935">
                      <a:moveTo>
                        <a:pt x="870" y="608"/>
                      </a:moveTo>
                      <a:cubicBezTo>
                        <a:pt x="870" y="608"/>
                        <a:pt x="870" y="608"/>
                        <a:pt x="870" y="608"/>
                      </a:cubicBezTo>
                      <a:cubicBezTo>
                        <a:pt x="831" y="574"/>
                        <a:pt x="806" y="524"/>
                        <a:pt x="806" y="468"/>
                      </a:cubicBezTo>
                      <a:cubicBezTo>
                        <a:pt x="806" y="412"/>
                        <a:pt x="831" y="362"/>
                        <a:pt x="870" y="327"/>
                      </a:cubicBezTo>
                      <a:cubicBezTo>
                        <a:pt x="870" y="327"/>
                        <a:pt x="870" y="327"/>
                        <a:pt x="870" y="327"/>
                      </a:cubicBezTo>
                      <a:cubicBezTo>
                        <a:pt x="910" y="293"/>
                        <a:pt x="935" y="243"/>
                        <a:pt x="935" y="186"/>
                      </a:cubicBezTo>
                      <a:cubicBezTo>
                        <a:pt x="935" y="83"/>
                        <a:pt x="852" y="0"/>
                        <a:pt x="750" y="0"/>
                      </a:cubicBezTo>
                      <a:cubicBezTo>
                        <a:pt x="693" y="0"/>
                        <a:pt x="642" y="25"/>
                        <a:pt x="608" y="65"/>
                      </a:cubicBezTo>
                      <a:cubicBezTo>
                        <a:pt x="608" y="65"/>
                        <a:pt x="608" y="65"/>
                        <a:pt x="608" y="65"/>
                      </a:cubicBezTo>
                      <a:cubicBezTo>
                        <a:pt x="574" y="105"/>
                        <a:pt x="524" y="129"/>
                        <a:pt x="468" y="129"/>
                      </a:cubicBezTo>
                      <a:cubicBezTo>
                        <a:pt x="412" y="129"/>
                        <a:pt x="362" y="105"/>
                        <a:pt x="328" y="65"/>
                      </a:cubicBezTo>
                      <a:cubicBezTo>
                        <a:pt x="328" y="65"/>
                        <a:pt x="328" y="65"/>
                        <a:pt x="328" y="65"/>
                      </a:cubicBezTo>
                      <a:cubicBezTo>
                        <a:pt x="294" y="25"/>
                        <a:pt x="243" y="0"/>
                        <a:pt x="186" y="0"/>
                      </a:cubicBezTo>
                      <a:cubicBezTo>
                        <a:pt x="83" y="0"/>
                        <a:pt x="0" y="83"/>
                        <a:pt x="0" y="186"/>
                      </a:cubicBezTo>
                      <a:cubicBezTo>
                        <a:pt x="0" y="243"/>
                        <a:pt x="26" y="293"/>
                        <a:pt x="66" y="327"/>
                      </a:cubicBezTo>
                      <a:cubicBezTo>
                        <a:pt x="66" y="327"/>
                        <a:pt x="66" y="327"/>
                        <a:pt x="66" y="327"/>
                      </a:cubicBezTo>
                      <a:cubicBezTo>
                        <a:pt x="105" y="362"/>
                        <a:pt x="130" y="412"/>
                        <a:pt x="130" y="468"/>
                      </a:cubicBezTo>
                      <a:cubicBezTo>
                        <a:pt x="130" y="524"/>
                        <a:pt x="105" y="574"/>
                        <a:pt x="66" y="608"/>
                      </a:cubicBezTo>
                      <a:cubicBezTo>
                        <a:pt x="66" y="608"/>
                        <a:pt x="66" y="608"/>
                        <a:pt x="66" y="608"/>
                      </a:cubicBezTo>
                      <a:cubicBezTo>
                        <a:pt x="26" y="642"/>
                        <a:pt x="0" y="693"/>
                        <a:pt x="0" y="749"/>
                      </a:cubicBezTo>
                      <a:cubicBezTo>
                        <a:pt x="0" y="852"/>
                        <a:pt x="83" y="935"/>
                        <a:pt x="186" y="935"/>
                      </a:cubicBezTo>
                      <a:cubicBezTo>
                        <a:pt x="243" y="935"/>
                        <a:pt x="294" y="910"/>
                        <a:pt x="328" y="870"/>
                      </a:cubicBezTo>
                      <a:cubicBezTo>
                        <a:pt x="328" y="870"/>
                        <a:pt x="328" y="870"/>
                        <a:pt x="328" y="870"/>
                      </a:cubicBezTo>
                      <a:cubicBezTo>
                        <a:pt x="362" y="831"/>
                        <a:pt x="412" y="806"/>
                        <a:pt x="468" y="806"/>
                      </a:cubicBezTo>
                      <a:cubicBezTo>
                        <a:pt x="524" y="806"/>
                        <a:pt x="574" y="831"/>
                        <a:pt x="608" y="870"/>
                      </a:cubicBezTo>
                      <a:cubicBezTo>
                        <a:pt x="608" y="870"/>
                        <a:pt x="608" y="870"/>
                        <a:pt x="608" y="870"/>
                      </a:cubicBezTo>
                      <a:cubicBezTo>
                        <a:pt x="642" y="910"/>
                        <a:pt x="693" y="935"/>
                        <a:pt x="750" y="935"/>
                      </a:cubicBezTo>
                      <a:cubicBezTo>
                        <a:pt x="852" y="935"/>
                        <a:pt x="935" y="852"/>
                        <a:pt x="935" y="749"/>
                      </a:cubicBezTo>
                      <a:cubicBezTo>
                        <a:pt x="935" y="693"/>
                        <a:pt x="910" y="642"/>
                        <a:pt x="870" y="608"/>
                      </a:cubicBezTo>
                      <a:close/>
                      <a:moveTo>
                        <a:pt x="468" y="681"/>
                      </a:moveTo>
                      <a:cubicBezTo>
                        <a:pt x="350" y="681"/>
                        <a:pt x="255" y="585"/>
                        <a:pt x="255" y="468"/>
                      </a:cubicBezTo>
                      <a:cubicBezTo>
                        <a:pt x="255" y="350"/>
                        <a:pt x="350" y="255"/>
                        <a:pt x="468" y="255"/>
                      </a:cubicBezTo>
                      <a:cubicBezTo>
                        <a:pt x="585" y="255"/>
                        <a:pt x="681" y="350"/>
                        <a:pt x="681" y="468"/>
                      </a:cubicBezTo>
                      <a:cubicBezTo>
                        <a:pt x="681" y="585"/>
                        <a:pt x="585" y="681"/>
                        <a:pt x="468" y="681"/>
                      </a:cubicBezTo>
                      <a:close/>
                    </a:path>
                  </a:pathLst>
                </a:custGeom>
                <a:solidFill>
                  <a:srgbClr val="1C56A6"/>
                </a:solidFill>
                <a:ln w="9525">
                  <a:noFill/>
                  <a:round/>
                </a:ln>
              </p:spPr>
              <p:txBody>
                <a:bodyPr/>
                <a:p>
                  <a:pPr defTabSz="1219200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</a:endParaRPr>
                </a:p>
              </p:txBody>
            </p:sp>
            <p:sp>
              <p:nvSpPr>
                <p:cNvPr id="19" name="椭圆 18"/>
                <p:cNvSpPr/>
                <p:nvPr/>
              </p:nvSpPr>
              <p:spPr>
                <a:xfrm>
                  <a:off x="4736547" y="2188028"/>
                  <a:ext cx="885373" cy="88537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2400" dirty="0">
                      <a:solidFill>
                        <a:srgbClr val="1C56A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OPPOSans M" panose="00020600040101010101" pitchFamily="18" charset="-122"/>
                    </a:rPr>
                    <a:t>01</a:t>
                  </a:r>
                  <a:endParaRPr lang="en-US" altLang="zh-CN" sz="2400" dirty="0">
                    <a:solidFill>
                      <a:srgbClr val="1C56A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20" name="椭圆 19"/>
                <p:cNvSpPr/>
                <p:nvPr/>
              </p:nvSpPr>
              <p:spPr>
                <a:xfrm>
                  <a:off x="6818985" y="2188028"/>
                  <a:ext cx="885373" cy="88537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2400" dirty="0">
                      <a:solidFill>
                        <a:srgbClr val="1C56A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OPPOSans M" panose="00020600040101010101" pitchFamily="18" charset="-122"/>
                    </a:rPr>
                    <a:t>03</a:t>
                  </a:r>
                  <a:endParaRPr lang="en-US" altLang="zh-CN" sz="2400" dirty="0">
                    <a:solidFill>
                      <a:srgbClr val="1C56A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6819620" y="4249058"/>
                  <a:ext cx="885373" cy="88537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2400" dirty="0">
                      <a:solidFill>
                        <a:srgbClr val="1C56A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OPPOSans M" panose="00020600040101010101" pitchFamily="18" charset="-122"/>
                    </a:rPr>
                    <a:t>04</a:t>
                  </a:r>
                  <a:endParaRPr lang="en-US" altLang="zh-CN" sz="2400" dirty="0">
                    <a:solidFill>
                      <a:srgbClr val="1C56A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4796868" y="4249058"/>
                  <a:ext cx="885373" cy="88537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2400" dirty="0">
                      <a:solidFill>
                        <a:srgbClr val="1C56A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OPPOSans M" panose="00020600040101010101" pitchFamily="18" charset="-122"/>
                    </a:rPr>
                    <a:t>02</a:t>
                  </a:r>
                  <a:endParaRPr lang="en-US" altLang="zh-CN" sz="2400" dirty="0">
                    <a:solidFill>
                      <a:srgbClr val="1C56A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OPPOSans M" panose="00020600040101010101" pitchFamily="18" charset="-122"/>
                  </a:endParaRPr>
                </a:p>
              </p:txBody>
            </p:sp>
          </p:grpSp>
          <p:sp>
            <p:nvSpPr>
              <p:cNvPr id="12" name="文本框 11"/>
              <p:cNvSpPr txBox="1"/>
              <p:nvPr/>
            </p:nvSpPr>
            <p:spPr>
              <a:xfrm>
                <a:off x="8238" y="5171"/>
                <a:ext cx="2145" cy="1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3200">
                    <a:solidFill>
                      <a:srgbClr val="1C56A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系统架构</a:t>
                </a:r>
                <a:endParaRPr lang="zh-CN" altLang="en-US" sz="320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1136" y="4236"/>
              <a:ext cx="5131" cy="16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负责提供强类型安全与高速响应。包括跨平台桌面窗口渲染、受控文件系统访问、进程监控守护等</a:t>
              </a:r>
              <a:endParaRPr lang="zh-CN" altLang="en-US" sz="1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4184015" y="1193165"/>
            <a:ext cx="3824605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Core Open-sourse Components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30040" y="548005"/>
            <a:ext cx="386461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核心开源组件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9" name="矩形 78"/>
          <p:cNvSpPr/>
          <p:nvPr>
            <p:custDataLst>
              <p:tags r:id="rId1"/>
            </p:custDataLst>
          </p:nvPr>
        </p:nvSpPr>
        <p:spPr>
          <a:xfrm>
            <a:off x="581025" y="1858010"/>
            <a:ext cx="3549015" cy="706755"/>
          </a:xfrm>
          <a:prstGeom prst="rect">
            <a:avLst/>
          </a:prstGeom>
        </p:spPr>
        <p:txBody>
          <a:bodyPr wrap="square">
            <a:spAutoFit/>
          </a:bodyPr>
          <a:p>
            <a:pPr algn="r"/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桌面客户端与交互层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r"/>
            <a:r>
              <a:rPr lang="en-US" altLang="zh-CN" sz="1600" b="1" dirty="0">
                <a:solidFill>
                  <a:srgbClr val="00B0F0"/>
                </a:solidFill>
                <a:cs typeface="+mn-ea"/>
                <a:sym typeface="+mn-lt"/>
              </a:rPr>
              <a:t>Tauri2+React18+Typescript+Vite</a:t>
            </a:r>
            <a:r>
              <a:rPr lang="en-US" altLang="zh-CN" sz="1600" b="1" dirty="0">
                <a:solidFill>
                  <a:srgbClr val="2663A4"/>
                </a:solidFill>
                <a:cs typeface="+mn-ea"/>
                <a:sym typeface="+mn-lt"/>
              </a:rPr>
              <a:t>  </a:t>
            </a:r>
            <a:r>
              <a:rPr lang="en-US" altLang="zh-CN" sz="20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0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724535" y="4463415"/>
            <a:ext cx="3459480" cy="706755"/>
          </a:xfrm>
          <a:prstGeom prst="rect">
            <a:avLst/>
          </a:prstGeom>
        </p:spPr>
        <p:txBody>
          <a:bodyPr wrap="square">
            <a:spAutoFit/>
          </a:bodyPr>
          <a:p>
            <a:pPr algn="r"/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核心分析引擎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r"/>
            <a:r>
              <a:rPr lang="en-US" altLang="zh-CN" sz="1600" b="1" dirty="0">
                <a:solidFill>
                  <a:srgbClr val="00B0F0"/>
                </a:solidFill>
                <a:cs typeface="+mn-ea"/>
                <a:sym typeface="+mn-lt"/>
              </a:rPr>
              <a:t>Scapy+NumPy+Scikit-learn </a:t>
            </a:r>
            <a:r>
              <a:rPr lang="zh-CN" altLang="en-US" sz="1600" b="1" dirty="0">
                <a:solidFill>
                  <a:srgbClr val="00B0F0"/>
                </a:solidFill>
                <a:cs typeface="+mn-ea"/>
                <a:sym typeface="+mn-lt"/>
              </a:rPr>
              <a:t>等</a:t>
            </a:r>
            <a:r>
              <a:rPr lang="en-US" altLang="zh-CN" sz="2000" b="1" dirty="0">
                <a:solidFill>
                  <a:srgbClr val="2663A4"/>
                </a:solidFill>
                <a:cs typeface="+mn-ea"/>
                <a:sym typeface="+mn-lt"/>
              </a:rPr>
              <a:t>      </a:t>
            </a:r>
            <a:endParaRPr lang="en-US" altLang="zh-CN" sz="20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98855" y="5169535"/>
            <a:ext cx="3258185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囊括二进制与流量包解析、比特流统计计算与与分析、数据包聚类与对齐、加密行为分析等，是系统的分析中枢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7994015" y="1858010"/>
            <a:ext cx="3549015" cy="70675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协议描述与反向验证引擎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l"/>
            <a:r>
              <a:rPr lang="en-US" altLang="zh-CN" sz="1600" b="1" dirty="0">
                <a:solidFill>
                  <a:srgbClr val="00B0F0"/>
                </a:solidFill>
                <a:cs typeface="+mn-ea"/>
                <a:sym typeface="+mn-lt"/>
              </a:rPr>
              <a:t>Kaitai Struct</a:t>
            </a:r>
            <a:r>
              <a:rPr lang="en-US" altLang="zh-CN" sz="1600" b="1" dirty="0">
                <a:solidFill>
                  <a:srgbClr val="2663A4"/>
                </a:solidFill>
                <a:cs typeface="+mn-ea"/>
                <a:sym typeface="+mn-lt"/>
              </a:rPr>
              <a:t> </a:t>
            </a:r>
            <a:r>
              <a:rPr lang="en-US" altLang="zh-CN" sz="20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0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94015" y="2564765"/>
            <a:ext cx="3466465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当系统推断出协议字段边界与语义后，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Kaitai Struct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自动将其导出为标准的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Schema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，并调用编译器计算解析覆盖率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7994015" y="4462780"/>
            <a:ext cx="3549015" cy="70675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大模型接入层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l"/>
            <a:r>
              <a:rPr lang="en-US" altLang="zh-CN" sz="1600" b="1" dirty="0">
                <a:solidFill>
                  <a:srgbClr val="00B0F0"/>
                </a:solidFill>
                <a:cs typeface="+mn-ea"/>
                <a:sym typeface="+mn-lt"/>
              </a:rPr>
              <a:t>Langchain+LiteLLM+Ollama</a:t>
            </a:r>
            <a:r>
              <a:rPr lang="en-US" altLang="zh-CN" sz="20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0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008620" y="5123815"/>
            <a:ext cx="3466465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负责对接云端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API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，将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Kaitai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的计算结果以结构化上下文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(Prompt)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形式输入给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LLM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，并据此提出字段语义假设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矩形 32"/>
          <p:cNvSpPr/>
          <p:nvPr/>
        </p:nvSpPr>
        <p:spPr>
          <a:xfrm>
            <a:off x="4030345" y="1193165"/>
            <a:ext cx="4131310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 Extra Open-sourse Components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30040" y="548005"/>
            <a:ext cx="386461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额外开源组件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9" name="矩形 78"/>
          <p:cNvSpPr/>
          <p:nvPr>
            <p:custDataLst>
              <p:tags r:id="rId3"/>
            </p:custDataLst>
          </p:nvPr>
        </p:nvSpPr>
        <p:spPr>
          <a:xfrm>
            <a:off x="1976755" y="2099310"/>
            <a:ext cx="3549015" cy="70675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对比研究与预演模型组件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l"/>
            <a:r>
              <a:rPr lang="en-US" altLang="zh-CN" sz="1600" b="1" dirty="0">
                <a:solidFill>
                  <a:srgbClr val="00B0F0"/>
                </a:solidFill>
                <a:cs typeface="+mn-ea"/>
                <a:sym typeface="+mn-lt"/>
              </a:rPr>
              <a:t>ET-BERT+NetMamba+YaTC</a:t>
            </a:r>
            <a:r>
              <a:rPr lang="en-US" altLang="zh-CN" sz="1600" b="1" dirty="0">
                <a:solidFill>
                  <a:srgbClr val="2663A4"/>
                </a:solidFill>
                <a:cs typeface="+mn-ea"/>
                <a:sym typeface="+mn-lt"/>
              </a:rPr>
              <a:t>  </a:t>
            </a:r>
            <a:r>
              <a:rPr lang="en-US" altLang="zh-CN" sz="20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0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976755" y="4345305"/>
            <a:ext cx="3549015" cy="70675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000" b="1" dirty="0">
                <a:solidFill>
                  <a:srgbClr val="2663A4"/>
                </a:solidFill>
                <a:cs typeface="+mn-ea"/>
                <a:sym typeface="+mn-lt"/>
              </a:rPr>
              <a:t>辅助与工程工具链</a:t>
            </a:r>
            <a:endParaRPr lang="zh-CN" altLang="en-US" sz="2000" b="1" dirty="0">
              <a:solidFill>
                <a:srgbClr val="2663A4"/>
              </a:solidFill>
              <a:cs typeface="+mn-ea"/>
              <a:sym typeface="+mn-lt"/>
            </a:endParaRPr>
          </a:p>
          <a:p>
            <a:pPr algn="l"/>
            <a:r>
              <a:rPr lang="en-US" altLang="zh-CN" sz="1600" b="1" dirty="0">
                <a:solidFill>
                  <a:srgbClr val="55BDED"/>
                </a:solidFill>
                <a:cs typeface="+mn-ea"/>
                <a:sym typeface="+mn-lt"/>
              </a:rPr>
              <a:t>python-pptx+JSON Lines  </a:t>
            </a:r>
            <a:r>
              <a:rPr lang="en-US" altLang="zh-CN" sz="2000" b="1" dirty="0">
                <a:solidFill>
                  <a:srgbClr val="4CA7DE"/>
                </a:solidFill>
                <a:cs typeface="+mn-ea"/>
                <a:sym typeface="+mn-lt"/>
              </a:rPr>
              <a:t> </a:t>
            </a:r>
            <a:endParaRPr lang="en-US" altLang="zh-CN" sz="2000" b="1" dirty="0">
              <a:solidFill>
                <a:srgbClr val="4CA7DE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920875" y="5052060"/>
            <a:ext cx="3466465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将系统分析出的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Schema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结果、证据图日志及统计图表以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PPT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形式导出，辅助用户编写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Writeup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976755" y="2806065"/>
            <a:ext cx="3466465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sz="1400" dirty="0">
                <a:solidFill>
                  <a:schemeClr val="tx1"/>
                </a:solidFill>
                <a:cs typeface="+mn-ea"/>
                <a:sym typeface="+mn-lt"/>
              </a:rPr>
              <a:t>引入网络安全与加密流量领域的开源前沿深度学习模型，以进一步提升复杂加密流量在缺乏先验知识条件下的泛化表征能力</a:t>
            </a:r>
            <a:endParaRPr 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285115" y="1963420"/>
            <a:ext cx="2075180" cy="3317875"/>
            <a:chOff x="1219" y="2221"/>
            <a:chExt cx="3457" cy="7313"/>
          </a:xfrm>
        </p:grpSpPr>
        <p:graphicFrame>
          <p:nvGraphicFramePr>
            <p:cNvPr id="49" name="图表 48" descr="e7d195523061f1c09e9d68d7cf438b91ef959ecb14fc25d26BBA7F7DBC18E55DFF4014AF651F0BF2569D4B6C1DA7F1A4683A481403BD872FC687266AD13265C1DE7C373772FD8728ABDD69ADD03BFF5BE2862BC891DBB79E01F8F39D89ED0883C8215BB8D308FAC87110244DF5AD9269B858E42F35C019229F846136B87213C467B7AA3356C213CE1FC8A22CE7790902"/>
            <p:cNvGraphicFramePr/>
            <p:nvPr>
              <p:custDataLst>
                <p:tags r:id="rId8"/>
              </p:custDataLst>
            </p:nvPr>
          </p:nvGraphicFramePr>
          <p:xfrm>
            <a:off x="1219" y="2221"/>
            <a:ext cx="3457" cy="23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55" name="椭圆 54"/>
            <p:cNvSpPr/>
            <p:nvPr>
              <p:custDataLst>
                <p:tags r:id="rId9"/>
              </p:custDataLst>
            </p:nvPr>
          </p:nvSpPr>
          <p:spPr>
            <a:xfrm>
              <a:off x="1857" y="4787"/>
              <a:ext cx="2180" cy="2181"/>
            </a:xfrm>
            <a:prstGeom prst="ellipse">
              <a:avLst/>
            </a:prstGeom>
            <a:noFill/>
            <a:ln w="9525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/>
                <a:ea typeface="微软雅黑 Light" panose="020B0502040204020203" charset="-122"/>
                <a:cs typeface="+mn-cs"/>
              </a:endParaRPr>
            </a:p>
          </p:txBody>
        </p:sp>
        <p:graphicFrame>
          <p:nvGraphicFramePr>
            <p:cNvPr id="59" name="图表 58" descr="e7d195523061f1c09e9d68d7cf438b91ef959ecb14fc25d26BBA7F7DBC18E55DFF4014AF651F0BF2569D4B6C1DA7F1A4683A481403BD872FC687266AD13265C1DE7C373772FD8728ABDD69ADD03BFF5BE2862BC891DBB79E01F8F39D89ED0883C8215BB8D308FAC87110244DF5AD9269B858E42F35C019229F846136B87213C467B7AA3356C213CE1FC8A22CE7790902"/>
            <p:cNvGraphicFramePr/>
            <p:nvPr>
              <p:custDataLst>
                <p:tags r:id="rId10"/>
              </p:custDataLst>
            </p:nvPr>
          </p:nvGraphicFramePr>
          <p:xfrm>
            <a:off x="1219" y="7229"/>
            <a:ext cx="3457" cy="23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2765" y="2042160"/>
            <a:ext cx="390271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4978400" y="548005"/>
            <a:ext cx="208280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测试材料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76115" y="1142365"/>
            <a:ext cx="3086735" cy="337185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Test Data Packages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999776" y="1710229"/>
            <a:ext cx="4194810" cy="4183380"/>
            <a:chOff x="6308" y="2467"/>
            <a:chExt cx="6606" cy="6588"/>
          </a:xfrm>
        </p:grpSpPr>
        <p:grpSp>
          <p:nvGrpSpPr>
            <p:cNvPr id="27" name="组合 26"/>
            <p:cNvGrpSpPr/>
            <p:nvPr/>
          </p:nvGrpSpPr>
          <p:grpSpPr>
            <a:xfrm>
              <a:off x="6308" y="2467"/>
              <a:ext cx="6606" cy="6588"/>
              <a:chOff x="5980" y="2108"/>
              <a:chExt cx="6606" cy="6588"/>
            </a:xfrm>
          </p:grpSpPr>
          <p:sp>
            <p:nvSpPr>
              <p:cNvPr id="28" name="任意多边形 53"/>
              <p:cNvSpPr/>
              <p:nvPr/>
            </p:nvSpPr>
            <p:spPr>
              <a:xfrm rot="5400000">
                <a:off x="8593" y="6059"/>
                <a:ext cx="1969" cy="3305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69" h="3305">
                    <a:moveTo>
                      <a:pt x="0" y="0"/>
                    </a:moveTo>
                    <a:lnTo>
                      <a:pt x="1969" y="1969"/>
                    </a:lnTo>
                    <a:lnTo>
                      <a:pt x="633" y="3305"/>
                    </a:lnTo>
                    <a:lnTo>
                      <a:pt x="2" y="3299"/>
                    </a:lnTo>
                    <a:lnTo>
                      <a:pt x="0" y="3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" name="任意多边形 48"/>
              <p:cNvSpPr/>
              <p:nvPr/>
            </p:nvSpPr>
            <p:spPr>
              <a:xfrm rot="5400000">
                <a:off x="8305" y="1128"/>
                <a:ext cx="1969" cy="3929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69" h="3929">
                    <a:moveTo>
                      <a:pt x="1969" y="0"/>
                    </a:moveTo>
                    <a:lnTo>
                      <a:pt x="1969" y="3112"/>
                    </a:lnTo>
                    <a:lnTo>
                      <a:pt x="1967" y="3263"/>
                    </a:lnTo>
                    <a:lnTo>
                      <a:pt x="1961" y="3918"/>
                    </a:lnTo>
                    <a:lnTo>
                      <a:pt x="1961" y="3929"/>
                    </a:lnTo>
                    <a:lnTo>
                      <a:pt x="0" y="1969"/>
                    </a:lnTo>
                    <a:lnTo>
                      <a:pt x="1305" y="664"/>
                    </a:lnTo>
                    <a:lnTo>
                      <a:pt x="19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" name="任意多边形 51"/>
              <p:cNvSpPr/>
              <p:nvPr/>
            </p:nvSpPr>
            <p:spPr>
              <a:xfrm>
                <a:off x="5980" y="4072"/>
                <a:ext cx="1959" cy="3296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59" h="3296">
                    <a:moveTo>
                      <a:pt x="1337" y="0"/>
                    </a:moveTo>
                    <a:lnTo>
                      <a:pt x="1959" y="6"/>
                    </a:lnTo>
                    <a:lnTo>
                      <a:pt x="1959" y="3296"/>
                    </a:lnTo>
                    <a:lnTo>
                      <a:pt x="0" y="1337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rgbClr val="55B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" name="任意多边形 55"/>
              <p:cNvSpPr/>
              <p:nvPr/>
            </p:nvSpPr>
            <p:spPr>
              <a:xfrm flipH="1" flipV="1">
                <a:off x="10627" y="3438"/>
                <a:ext cx="1959" cy="3296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59" h="3296">
                    <a:moveTo>
                      <a:pt x="1337" y="0"/>
                    </a:moveTo>
                    <a:lnTo>
                      <a:pt x="1959" y="6"/>
                    </a:lnTo>
                    <a:lnTo>
                      <a:pt x="1959" y="3296"/>
                    </a:lnTo>
                    <a:lnTo>
                      <a:pt x="0" y="1337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rgbClr val="55BD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31" name="Freeform 387"/>
            <p:cNvSpPr>
              <a:spLocks noEditPoints="1"/>
            </p:cNvSpPr>
            <p:nvPr/>
          </p:nvSpPr>
          <p:spPr bwMode="auto">
            <a:xfrm>
              <a:off x="9343" y="3142"/>
              <a:ext cx="558" cy="655"/>
            </a:xfrm>
            <a:custGeom>
              <a:avLst/>
              <a:gdLst/>
              <a:ahLst/>
              <a:cxnLst>
                <a:cxn ang="0">
                  <a:pos x="88900" y="107950"/>
                </a:cxn>
                <a:cxn ang="0">
                  <a:pos x="44450" y="107950"/>
                </a:cxn>
                <a:cxn ang="0">
                  <a:pos x="31750" y="111125"/>
                </a:cxn>
                <a:cxn ang="0">
                  <a:pos x="12700" y="139700"/>
                </a:cxn>
                <a:cxn ang="0">
                  <a:pos x="12700" y="146050"/>
                </a:cxn>
                <a:cxn ang="0">
                  <a:pos x="120650" y="146050"/>
                </a:cxn>
                <a:cxn ang="0">
                  <a:pos x="120650" y="139700"/>
                </a:cxn>
                <a:cxn ang="0">
                  <a:pos x="104775" y="114300"/>
                </a:cxn>
                <a:cxn ang="0">
                  <a:pos x="101600" y="111125"/>
                </a:cxn>
                <a:cxn ang="0">
                  <a:pos x="95250" y="107950"/>
                </a:cxn>
                <a:cxn ang="0">
                  <a:pos x="88900" y="107950"/>
                </a:cxn>
                <a:cxn ang="0">
                  <a:pos x="92075" y="95250"/>
                </a:cxn>
                <a:cxn ang="0">
                  <a:pos x="92075" y="95250"/>
                </a:cxn>
                <a:cxn ang="0">
                  <a:pos x="98425" y="95250"/>
                </a:cxn>
                <a:cxn ang="0">
                  <a:pos x="104775" y="98425"/>
                </a:cxn>
                <a:cxn ang="0">
                  <a:pos x="133350" y="139700"/>
                </a:cxn>
                <a:cxn ang="0">
                  <a:pos x="133350" y="149225"/>
                </a:cxn>
                <a:cxn ang="0">
                  <a:pos x="127000" y="155575"/>
                </a:cxn>
                <a:cxn ang="0">
                  <a:pos x="127000" y="155575"/>
                </a:cxn>
                <a:cxn ang="0">
                  <a:pos x="6350" y="155575"/>
                </a:cxn>
                <a:cxn ang="0">
                  <a:pos x="0" y="149225"/>
                </a:cxn>
                <a:cxn ang="0">
                  <a:pos x="0" y="149225"/>
                </a:cxn>
                <a:cxn ang="0">
                  <a:pos x="0" y="139700"/>
                </a:cxn>
                <a:cxn ang="0">
                  <a:pos x="25400" y="98425"/>
                </a:cxn>
                <a:cxn ang="0">
                  <a:pos x="38100" y="95250"/>
                </a:cxn>
                <a:cxn ang="0">
                  <a:pos x="12700" y="50800"/>
                </a:cxn>
                <a:cxn ang="0">
                  <a:pos x="66675" y="0"/>
                </a:cxn>
                <a:cxn ang="0">
                  <a:pos x="117475" y="50800"/>
                </a:cxn>
                <a:cxn ang="0">
                  <a:pos x="92075" y="95250"/>
                </a:cxn>
                <a:cxn ang="0">
                  <a:pos x="66675" y="9525"/>
                </a:cxn>
                <a:cxn ang="0">
                  <a:pos x="66675" y="9525"/>
                </a:cxn>
                <a:cxn ang="0">
                  <a:pos x="28575" y="34925"/>
                </a:cxn>
                <a:cxn ang="0">
                  <a:pos x="25400" y="50800"/>
                </a:cxn>
                <a:cxn ang="0">
                  <a:pos x="50800" y="88900"/>
                </a:cxn>
                <a:cxn ang="0">
                  <a:pos x="82550" y="88900"/>
                </a:cxn>
                <a:cxn ang="0">
                  <a:pos x="104775" y="50800"/>
                </a:cxn>
                <a:cxn ang="0">
                  <a:pos x="66675" y="9525"/>
                </a:cxn>
              </a:cxnLst>
              <a:rect l="0" t="0" r="0" b="0"/>
              <a:pathLst>
                <a:path w="42" h="49">
                  <a:moveTo>
                    <a:pt x="28" y="34"/>
                  </a:moveTo>
                  <a:cubicBezTo>
                    <a:pt x="14" y="34"/>
                    <a:pt x="14" y="34"/>
                    <a:pt x="14" y="34"/>
                  </a:cubicBezTo>
                  <a:cubicBezTo>
                    <a:pt x="12" y="34"/>
                    <a:pt x="11" y="34"/>
                    <a:pt x="10" y="35"/>
                  </a:cubicBezTo>
                  <a:cubicBezTo>
                    <a:pt x="6" y="36"/>
                    <a:pt x="4" y="40"/>
                    <a:pt x="4" y="44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8" y="41"/>
                    <a:pt x="36" y="37"/>
                    <a:pt x="33" y="36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1" y="34"/>
                    <a:pt x="31" y="34"/>
                    <a:pt x="30" y="34"/>
                  </a:cubicBezTo>
                  <a:cubicBezTo>
                    <a:pt x="29" y="34"/>
                    <a:pt x="29" y="34"/>
                    <a:pt x="28" y="34"/>
                  </a:cubicBezTo>
                  <a:close/>
                  <a:moveTo>
                    <a:pt x="29" y="30"/>
                  </a:moveTo>
                  <a:cubicBezTo>
                    <a:pt x="29" y="30"/>
                    <a:pt x="29" y="30"/>
                    <a:pt x="29" y="30"/>
                  </a:cubicBezTo>
                  <a:cubicBezTo>
                    <a:pt x="30" y="30"/>
                    <a:pt x="30" y="30"/>
                    <a:pt x="31" y="30"/>
                  </a:cubicBezTo>
                  <a:cubicBezTo>
                    <a:pt x="32" y="31"/>
                    <a:pt x="32" y="31"/>
                    <a:pt x="33" y="31"/>
                  </a:cubicBezTo>
                  <a:cubicBezTo>
                    <a:pt x="38" y="33"/>
                    <a:pt x="42" y="38"/>
                    <a:pt x="42" y="44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8"/>
                    <a:pt x="41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" y="49"/>
                    <a:pt x="0" y="48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38"/>
                    <a:pt x="3" y="33"/>
                    <a:pt x="8" y="31"/>
                  </a:cubicBezTo>
                  <a:cubicBezTo>
                    <a:pt x="10" y="31"/>
                    <a:pt x="11" y="30"/>
                    <a:pt x="12" y="30"/>
                  </a:cubicBezTo>
                  <a:cubicBezTo>
                    <a:pt x="7" y="27"/>
                    <a:pt x="4" y="22"/>
                    <a:pt x="4" y="16"/>
                  </a:cubicBezTo>
                  <a:cubicBezTo>
                    <a:pt x="4" y="7"/>
                    <a:pt x="12" y="0"/>
                    <a:pt x="21" y="0"/>
                  </a:cubicBezTo>
                  <a:cubicBezTo>
                    <a:pt x="30" y="0"/>
                    <a:pt x="37" y="7"/>
                    <a:pt x="37" y="16"/>
                  </a:cubicBezTo>
                  <a:cubicBezTo>
                    <a:pt x="37" y="22"/>
                    <a:pt x="34" y="27"/>
                    <a:pt x="29" y="30"/>
                  </a:cubicBezTo>
                  <a:close/>
                  <a:moveTo>
                    <a:pt x="21" y="3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6" y="3"/>
                    <a:pt x="11" y="6"/>
                    <a:pt x="9" y="11"/>
                  </a:cubicBezTo>
                  <a:cubicBezTo>
                    <a:pt x="9" y="13"/>
                    <a:pt x="8" y="14"/>
                    <a:pt x="8" y="16"/>
                  </a:cubicBezTo>
                  <a:cubicBezTo>
                    <a:pt x="8" y="21"/>
                    <a:pt x="11" y="26"/>
                    <a:pt x="16" y="28"/>
                  </a:cubicBezTo>
                  <a:cubicBezTo>
                    <a:pt x="19" y="29"/>
                    <a:pt x="23" y="29"/>
                    <a:pt x="26" y="28"/>
                  </a:cubicBezTo>
                  <a:cubicBezTo>
                    <a:pt x="30" y="26"/>
                    <a:pt x="33" y="21"/>
                    <a:pt x="33" y="16"/>
                  </a:cubicBezTo>
                  <a:cubicBezTo>
                    <a:pt x="33" y="9"/>
                    <a:pt x="28" y="3"/>
                    <a:pt x="21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lIns="19050" tIns="19050" rIns="19050" bIns="19050" anchor="ctr">
              <a:noAutofit/>
            </a:bodyPr>
            <a:lstStyle/>
            <a:p>
              <a:pPr marL="0" marR="0" lvl="0" indent="0" algn="ctr" defTabSz="2286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" name="Freeform 17"/>
            <p:cNvSpPr>
              <a:spLocks noEditPoints="1"/>
            </p:cNvSpPr>
            <p:nvPr/>
          </p:nvSpPr>
          <p:spPr bwMode="auto">
            <a:xfrm>
              <a:off x="9249" y="7509"/>
              <a:ext cx="746" cy="688"/>
            </a:xfrm>
            <a:custGeom>
              <a:avLst/>
              <a:gdLst>
                <a:gd name="T0" fmla="*/ 1120 w 2069"/>
                <a:gd name="T1" fmla="*/ 0 h 1899"/>
                <a:gd name="T2" fmla="*/ 189 w 2069"/>
                <a:gd name="T3" fmla="*/ 777 h 1899"/>
                <a:gd name="T4" fmla="*/ 0 w 2069"/>
                <a:gd name="T5" fmla="*/ 777 h 1899"/>
                <a:gd name="T6" fmla="*/ 259 w 2069"/>
                <a:gd name="T7" fmla="*/ 1122 h 1899"/>
                <a:gd name="T8" fmla="*/ 517 w 2069"/>
                <a:gd name="T9" fmla="*/ 777 h 1899"/>
                <a:gd name="T10" fmla="*/ 362 w 2069"/>
                <a:gd name="T11" fmla="*/ 777 h 1899"/>
                <a:gd name="T12" fmla="*/ 1120 w 2069"/>
                <a:gd name="T13" fmla="*/ 173 h 1899"/>
                <a:gd name="T14" fmla="*/ 1896 w 2069"/>
                <a:gd name="T15" fmla="*/ 950 h 1899"/>
                <a:gd name="T16" fmla="*/ 1120 w 2069"/>
                <a:gd name="T17" fmla="*/ 1727 h 1899"/>
                <a:gd name="T18" fmla="*/ 477 w 2069"/>
                <a:gd name="T19" fmla="*/ 1381 h 1899"/>
                <a:gd name="T20" fmla="*/ 276 w 2069"/>
                <a:gd name="T21" fmla="*/ 1381 h 1899"/>
                <a:gd name="T22" fmla="*/ 1120 w 2069"/>
                <a:gd name="T23" fmla="*/ 1899 h 1899"/>
                <a:gd name="T24" fmla="*/ 2069 w 2069"/>
                <a:gd name="T25" fmla="*/ 950 h 1899"/>
                <a:gd name="T26" fmla="*/ 1120 w 2069"/>
                <a:gd name="T27" fmla="*/ 0 h 1899"/>
                <a:gd name="T28" fmla="*/ 1080 w 2069"/>
                <a:gd name="T29" fmla="*/ 345 h 1899"/>
                <a:gd name="T30" fmla="*/ 1080 w 2069"/>
                <a:gd name="T31" fmla="*/ 978 h 1899"/>
                <a:gd name="T32" fmla="*/ 1528 w 2069"/>
                <a:gd name="T33" fmla="*/ 1243 h 1899"/>
                <a:gd name="T34" fmla="*/ 1569 w 2069"/>
                <a:gd name="T35" fmla="*/ 1168 h 1899"/>
                <a:gd name="T36" fmla="*/ 1166 w 2069"/>
                <a:gd name="T37" fmla="*/ 926 h 1899"/>
                <a:gd name="T38" fmla="*/ 1166 w 2069"/>
                <a:gd name="T39" fmla="*/ 345 h 1899"/>
                <a:gd name="T40" fmla="*/ 1080 w 2069"/>
                <a:gd name="T41" fmla="*/ 345 h 1899"/>
                <a:gd name="T42" fmla="*/ 1080 w 2069"/>
                <a:gd name="T43" fmla="*/ 345 h 1899"/>
                <a:gd name="T44" fmla="*/ 1080 w 2069"/>
                <a:gd name="T45" fmla="*/ 345 h 1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69" h="1899">
                  <a:moveTo>
                    <a:pt x="1120" y="0"/>
                  </a:moveTo>
                  <a:cubicBezTo>
                    <a:pt x="655" y="0"/>
                    <a:pt x="270" y="334"/>
                    <a:pt x="189" y="777"/>
                  </a:cubicBezTo>
                  <a:cubicBezTo>
                    <a:pt x="0" y="777"/>
                    <a:pt x="0" y="777"/>
                    <a:pt x="0" y="777"/>
                  </a:cubicBezTo>
                  <a:cubicBezTo>
                    <a:pt x="259" y="1122"/>
                    <a:pt x="259" y="1122"/>
                    <a:pt x="259" y="1122"/>
                  </a:cubicBezTo>
                  <a:cubicBezTo>
                    <a:pt x="517" y="777"/>
                    <a:pt x="517" y="777"/>
                    <a:pt x="517" y="777"/>
                  </a:cubicBezTo>
                  <a:cubicBezTo>
                    <a:pt x="362" y="777"/>
                    <a:pt x="362" y="777"/>
                    <a:pt x="362" y="777"/>
                  </a:cubicBezTo>
                  <a:cubicBezTo>
                    <a:pt x="442" y="432"/>
                    <a:pt x="747" y="173"/>
                    <a:pt x="1120" y="173"/>
                  </a:cubicBezTo>
                  <a:cubicBezTo>
                    <a:pt x="1552" y="173"/>
                    <a:pt x="1896" y="518"/>
                    <a:pt x="1896" y="950"/>
                  </a:cubicBezTo>
                  <a:cubicBezTo>
                    <a:pt x="1896" y="1381"/>
                    <a:pt x="1552" y="1727"/>
                    <a:pt x="1120" y="1727"/>
                  </a:cubicBezTo>
                  <a:cubicBezTo>
                    <a:pt x="850" y="1727"/>
                    <a:pt x="615" y="1588"/>
                    <a:pt x="477" y="1381"/>
                  </a:cubicBezTo>
                  <a:cubicBezTo>
                    <a:pt x="276" y="1381"/>
                    <a:pt x="276" y="1381"/>
                    <a:pt x="276" y="1381"/>
                  </a:cubicBezTo>
                  <a:cubicBezTo>
                    <a:pt x="431" y="1686"/>
                    <a:pt x="753" y="1899"/>
                    <a:pt x="1120" y="1899"/>
                  </a:cubicBezTo>
                  <a:cubicBezTo>
                    <a:pt x="1643" y="1899"/>
                    <a:pt x="2069" y="1473"/>
                    <a:pt x="2069" y="950"/>
                  </a:cubicBezTo>
                  <a:cubicBezTo>
                    <a:pt x="2069" y="426"/>
                    <a:pt x="1643" y="0"/>
                    <a:pt x="1120" y="0"/>
                  </a:cubicBezTo>
                  <a:close/>
                  <a:moveTo>
                    <a:pt x="1080" y="345"/>
                  </a:moveTo>
                  <a:cubicBezTo>
                    <a:pt x="1080" y="978"/>
                    <a:pt x="1080" y="978"/>
                    <a:pt x="1080" y="978"/>
                  </a:cubicBezTo>
                  <a:cubicBezTo>
                    <a:pt x="1528" y="1243"/>
                    <a:pt x="1528" y="1243"/>
                    <a:pt x="1528" y="1243"/>
                  </a:cubicBezTo>
                  <a:cubicBezTo>
                    <a:pt x="1569" y="1168"/>
                    <a:pt x="1569" y="1168"/>
                    <a:pt x="1569" y="1168"/>
                  </a:cubicBezTo>
                  <a:cubicBezTo>
                    <a:pt x="1166" y="926"/>
                    <a:pt x="1166" y="926"/>
                    <a:pt x="1166" y="926"/>
                  </a:cubicBezTo>
                  <a:cubicBezTo>
                    <a:pt x="1166" y="345"/>
                    <a:pt x="1166" y="345"/>
                    <a:pt x="1166" y="345"/>
                  </a:cubicBezTo>
                  <a:lnTo>
                    <a:pt x="1080" y="345"/>
                  </a:lnTo>
                  <a:close/>
                  <a:moveTo>
                    <a:pt x="1080" y="345"/>
                  </a:moveTo>
                  <a:cubicBezTo>
                    <a:pt x="1080" y="345"/>
                    <a:pt x="1080" y="345"/>
                    <a:pt x="1080" y="34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1219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Freeform 83"/>
            <p:cNvSpPr>
              <a:spLocks noEditPoints="1"/>
            </p:cNvSpPr>
            <p:nvPr/>
          </p:nvSpPr>
          <p:spPr bwMode="auto">
            <a:xfrm>
              <a:off x="7014" y="5399"/>
              <a:ext cx="644" cy="726"/>
            </a:xfrm>
            <a:custGeom>
              <a:avLst/>
              <a:gdLst/>
              <a:ahLst/>
              <a:cxnLst>
                <a:cxn ang="0">
                  <a:pos x="79375" y="0"/>
                </a:cxn>
                <a:cxn ang="0">
                  <a:pos x="127000" y="22225"/>
                </a:cxn>
                <a:cxn ang="0">
                  <a:pos x="136525" y="111125"/>
                </a:cxn>
                <a:cxn ang="0">
                  <a:pos x="104775" y="136525"/>
                </a:cxn>
                <a:cxn ang="0">
                  <a:pos x="82550" y="158750"/>
                </a:cxn>
                <a:cxn ang="0">
                  <a:pos x="73025" y="158750"/>
                </a:cxn>
                <a:cxn ang="0">
                  <a:pos x="73025" y="158750"/>
                </a:cxn>
                <a:cxn ang="0">
                  <a:pos x="73025" y="158750"/>
                </a:cxn>
                <a:cxn ang="0">
                  <a:pos x="50800" y="136525"/>
                </a:cxn>
                <a:cxn ang="0">
                  <a:pos x="19050" y="111125"/>
                </a:cxn>
                <a:cxn ang="0">
                  <a:pos x="28575" y="22225"/>
                </a:cxn>
                <a:cxn ang="0">
                  <a:pos x="79375" y="0"/>
                </a:cxn>
                <a:cxn ang="0">
                  <a:pos x="79375" y="34925"/>
                </a:cxn>
                <a:cxn ang="0">
                  <a:pos x="79375" y="34925"/>
                </a:cxn>
                <a:cxn ang="0">
                  <a:pos x="101600" y="44450"/>
                </a:cxn>
                <a:cxn ang="0">
                  <a:pos x="114300" y="69850"/>
                </a:cxn>
                <a:cxn ang="0">
                  <a:pos x="101600" y="95250"/>
                </a:cxn>
                <a:cxn ang="0">
                  <a:pos x="79375" y="104775"/>
                </a:cxn>
                <a:cxn ang="0">
                  <a:pos x="53975" y="95250"/>
                </a:cxn>
                <a:cxn ang="0">
                  <a:pos x="41275" y="69850"/>
                </a:cxn>
                <a:cxn ang="0">
                  <a:pos x="53975" y="44450"/>
                </a:cxn>
                <a:cxn ang="0">
                  <a:pos x="79375" y="34925"/>
                </a:cxn>
                <a:cxn ang="0">
                  <a:pos x="98425" y="50800"/>
                </a:cxn>
                <a:cxn ang="0">
                  <a:pos x="98425" y="50800"/>
                </a:cxn>
                <a:cxn ang="0">
                  <a:pos x="79375" y="41275"/>
                </a:cxn>
                <a:cxn ang="0">
                  <a:pos x="57150" y="50800"/>
                </a:cxn>
                <a:cxn ang="0">
                  <a:pos x="50800" y="69850"/>
                </a:cxn>
                <a:cxn ang="0">
                  <a:pos x="57150" y="88900"/>
                </a:cxn>
                <a:cxn ang="0">
                  <a:pos x="79375" y="98425"/>
                </a:cxn>
                <a:cxn ang="0">
                  <a:pos x="98425" y="88900"/>
                </a:cxn>
                <a:cxn ang="0">
                  <a:pos x="104775" y="69850"/>
                </a:cxn>
                <a:cxn ang="0">
                  <a:pos x="98425" y="50800"/>
                </a:cxn>
                <a:cxn ang="0">
                  <a:pos x="117475" y="28575"/>
                </a:cxn>
                <a:cxn ang="0">
                  <a:pos x="117475" y="28575"/>
                </a:cxn>
                <a:cxn ang="0">
                  <a:pos x="79375" y="12700"/>
                </a:cxn>
                <a:cxn ang="0">
                  <a:pos x="38100" y="28575"/>
                </a:cxn>
                <a:cxn ang="0">
                  <a:pos x="28575" y="104775"/>
                </a:cxn>
                <a:cxn ang="0">
                  <a:pos x="57150" y="123825"/>
                </a:cxn>
                <a:cxn ang="0">
                  <a:pos x="60325" y="127000"/>
                </a:cxn>
                <a:cxn ang="0">
                  <a:pos x="79375" y="146050"/>
                </a:cxn>
                <a:cxn ang="0">
                  <a:pos x="95250" y="127000"/>
                </a:cxn>
                <a:cxn ang="0">
                  <a:pos x="98425" y="123825"/>
                </a:cxn>
                <a:cxn ang="0">
                  <a:pos x="127000" y="104775"/>
                </a:cxn>
                <a:cxn ang="0">
                  <a:pos x="117475" y="28575"/>
                </a:cxn>
              </a:cxnLst>
              <a:rect l="0" t="0" r="0" b="0"/>
              <a:pathLst>
                <a:path w="49" h="51">
                  <a:moveTo>
                    <a:pt x="25" y="0"/>
                  </a:moveTo>
                  <a:cubicBezTo>
                    <a:pt x="31" y="0"/>
                    <a:pt x="36" y="3"/>
                    <a:pt x="40" y="7"/>
                  </a:cubicBezTo>
                  <a:cubicBezTo>
                    <a:pt x="48" y="14"/>
                    <a:pt x="49" y="26"/>
                    <a:pt x="43" y="35"/>
                  </a:cubicBezTo>
                  <a:cubicBezTo>
                    <a:pt x="40" y="38"/>
                    <a:pt x="37" y="41"/>
                    <a:pt x="33" y="43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5" y="51"/>
                    <a:pt x="24" y="51"/>
                    <a:pt x="23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2" y="41"/>
                    <a:pt x="9" y="38"/>
                    <a:pt x="6" y="35"/>
                  </a:cubicBezTo>
                  <a:cubicBezTo>
                    <a:pt x="0" y="26"/>
                    <a:pt x="1" y="14"/>
                    <a:pt x="9" y="7"/>
                  </a:cubicBezTo>
                  <a:cubicBezTo>
                    <a:pt x="13" y="3"/>
                    <a:pt x="18" y="0"/>
                    <a:pt x="25" y="0"/>
                  </a:cubicBezTo>
                  <a:close/>
                  <a:moveTo>
                    <a:pt x="25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28" y="11"/>
                    <a:pt x="30" y="12"/>
                    <a:pt x="32" y="14"/>
                  </a:cubicBezTo>
                  <a:cubicBezTo>
                    <a:pt x="34" y="16"/>
                    <a:pt x="36" y="19"/>
                    <a:pt x="36" y="22"/>
                  </a:cubicBezTo>
                  <a:cubicBezTo>
                    <a:pt x="36" y="25"/>
                    <a:pt x="34" y="28"/>
                    <a:pt x="32" y="30"/>
                  </a:cubicBezTo>
                  <a:cubicBezTo>
                    <a:pt x="30" y="32"/>
                    <a:pt x="28" y="33"/>
                    <a:pt x="25" y="33"/>
                  </a:cubicBezTo>
                  <a:cubicBezTo>
                    <a:pt x="21" y="33"/>
                    <a:pt x="19" y="32"/>
                    <a:pt x="17" y="30"/>
                  </a:cubicBezTo>
                  <a:cubicBezTo>
                    <a:pt x="15" y="28"/>
                    <a:pt x="13" y="25"/>
                    <a:pt x="13" y="22"/>
                  </a:cubicBezTo>
                  <a:cubicBezTo>
                    <a:pt x="13" y="19"/>
                    <a:pt x="15" y="16"/>
                    <a:pt x="17" y="14"/>
                  </a:cubicBezTo>
                  <a:cubicBezTo>
                    <a:pt x="19" y="12"/>
                    <a:pt x="21" y="11"/>
                    <a:pt x="25" y="11"/>
                  </a:cubicBezTo>
                  <a:close/>
                  <a:moveTo>
                    <a:pt x="31" y="16"/>
                  </a:moveTo>
                  <a:cubicBezTo>
                    <a:pt x="31" y="16"/>
                    <a:pt x="31" y="16"/>
                    <a:pt x="31" y="16"/>
                  </a:cubicBezTo>
                  <a:cubicBezTo>
                    <a:pt x="29" y="14"/>
                    <a:pt x="27" y="13"/>
                    <a:pt x="25" y="13"/>
                  </a:cubicBezTo>
                  <a:cubicBezTo>
                    <a:pt x="22" y="13"/>
                    <a:pt x="20" y="14"/>
                    <a:pt x="18" y="16"/>
                  </a:cubicBezTo>
                  <a:cubicBezTo>
                    <a:pt x="17" y="18"/>
                    <a:pt x="16" y="20"/>
                    <a:pt x="16" y="22"/>
                  </a:cubicBezTo>
                  <a:cubicBezTo>
                    <a:pt x="16" y="25"/>
                    <a:pt x="17" y="27"/>
                    <a:pt x="18" y="28"/>
                  </a:cubicBezTo>
                  <a:cubicBezTo>
                    <a:pt x="20" y="30"/>
                    <a:pt x="22" y="31"/>
                    <a:pt x="25" y="31"/>
                  </a:cubicBezTo>
                  <a:cubicBezTo>
                    <a:pt x="27" y="31"/>
                    <a:pt x="29" y="30"/>
                    <a:pt x="31" y="28"/>
                  </a:cubicBezTo>
                  <a:cubicBezTo>
                    <a:pt x="32" y="27"/>
                    <a:pt x="33" y="25"/>
                    <a:pt x="33" y="22"/>
                  </a:cubicBezTo>
                  <a:cubicBezTo>
                    <a:pt x="33" y="20"/>
                    <a:pt x="32" y="18"/>
                    <a:pt x="31" y="16"/>
                  </a:cubicBezTo>
                  <a:close/>
                  <a:moveTo>
                    <a:pt x="37" y="9"/>
                  </a:moveTo>
                  <a:cubicBezTo>
                    <a:pt x="37" y="9"/>
                    <a:pt x="37" y="9"/>
                    <a:pt x="37" y="9"/>
                  </a:cubicBezTo>
                  <a:cubicBezTo>
                    <a:pt x="34" y="6"/>
                    <a:pt x="30" y="4"/>
                    <a:pt x="25" y="4"/>
                  </a:cubicBezTo>
                  <a:cubicBezTo>
                    <a:pt x="19" y="4"/>
                    <a:pt x="15" y="6"/>
                    <a:pt x="12" y="9"/>
                  </a:cubicBezTo>
                  <a:cubicBezTo>
                    <a:pt x="5" y="16"/>
                    <a:pt x="5" y="25"/>
                    <a:pt x="9" y="33"/>
                  </a:cubicBezTo>
                  <a:cubicBezTo>
                    <a:pt x="12" y="36"/>
                    <a:pt x="14" y="38"/>
                    <a:pt x="18" y="39"/>
                  </a:cubicBezTo>
                  <a:cubicBezTo>
                    <a:pt x="18" y="39"/>
                    <a:pt x="18" y="39"/>
                    <a:pt x="19" y="40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5" y="38"/>
                    <a:pt x="37" y="36"/>
                    <a:pt x="40" y="33"/>
                  </a:cubicBezTo>
                  <a:cubicBezTo>
                    <a:pt x="44" y="25"/>
                    <a:pt x="44" y="16"/>
                    <a:pt x="37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lIns="19050" tIns="19050" rIns="19050" bIns="19050" anchor="ctr">
              <a:noAutofit/>
            </a:bodyPr>
            <a:lstStyle/>
            <a:p>
              <a:pPr marL="0" marR="0" lvl="0" indent="0" algn="ctr" defTabSz="2286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Freeform 160"/>
            <p:cNvSpPr>
              <a:spLocks noEditPoints="1"/>
            </p:cNvSpPr>
            <p:nvPr/>
          </p:nvSpPr>
          <p:spPr bwMode="auto">
            <a:xfrm>
              <a:off x="11362" y="5375"/>
              <a:ext cx="668" cy="772"/>
            </a:xfrm>
            <a:custGeom>
              <a:avLst/>
              <a:gdLst/>
              <a:ahLst/>
              <a:cxnLst>
                <a:cxn ang="0">
                  <a:pos x="121934" y="104775"/>
                </a:cxn>
                <a:cxn ang="0">
                  <a:pos x="141187" y="114300"/>
                </a:cxn>
                <a:cxn ang="0">
                  <a:pos x="141187" y="114300"/>
                </a:cxn>
                <a:cxn ang="0">
                  <a:pos x="150813" y="133350"/>
                </a:cxn>
                <a:cxn ang="0">
                  <a:pos x="121934" y="161925"/>
                </a:cxn>
                <a:cxn ang="0">
                  <a:pos x="93055" y="133350"/>
                </a:cxn>
                <a:cxn ang="0">
                  <a:pos x="96264" y="123825"/>
                </a:cxn>
                <a:cxn ang="0">
                  <a:pos x="67385" y="107950"/>
                </a:cxn>
                <a:cxn ang="0">
                  <a:pos x="64176" y="107950"/>
                </a:cxn>
                <a:cxn ang="0">
                  <a:pos x="64176" y="107950"/>
                </a:cxn>
                <a:cxn ang="0">
                  <a:pos x="38505" y="117475"/>
                </a:cxn>
                <a:cxn ang="0">
                  <a:pos x="0" y="82550"/>
                </a:cxn>
                <a:cxn ang="0">
                  <a:pos x="38505" y="44450"/>
                </a:cxn>
                <a:cxn ang="0">
                  <a:pos x="64176" y="53975"/>
                </a:cxn>
                <a:cxn ang="0">
                  <a:pos x="64176" y="53975"/>
                </a:cxn>
                <a:cxn ang="0">
                  <a:pos x="64176" y="53975"/>
                </a:cxn>
                <a:cxn ang="0">
                  <a:pos x="67385" y="57150"/>
                </a:cxn>
                <a:cxn ang="0">
                  <a:pos x="96264" y="38100"/>
                </a:cxn>
                <a:cxn ang="0">
                  <a:pos x="93055" y="28575"/>
                </a:cxn>
                <a:cxn ang="0">
                  <a:pos x="121934" y="0"/>
                </a:cxn>
                <a:cxn ang="0">
                  <a:pos x="150813" y="28575"/>
                </a:cxn>
                <a:cxn ang="0">
                  <a:pos x="121934" y="57150"/>
                </a:cxn>
                <a:cxn ang="0">
                  <a:pos x="102681" y="47625"/>
                </a:cxn>
                <a:cxn ang="0">
                  <a:pos x="102681" y="47625"/>
                </a:cxn>
                <a:cxn ang="0">
                  <a:pos x="73802" y="66675"/>
                </a:cxn>
                <a:cxn ang="0">
                  <a:pos x="77011" y="82550"/>
                </a:cxn>
                <a:cxn ang="0">
                  <a:pos x="73802" y="95250"/>
                </a:cxn>
                <a:cxn ang="0">
                  <a:pos x="102681" y="114300"/>
                </a:cxn>
                <a:cxn ang="0">
                  <a:pos x="102681" y="114300"/>
                </a:cxn>
                <a:cxn ang="0">
                  <a:pos x="102681" y="114300"/>
                </a:cxn>
                <a:cxn ang="0">
                  <a:pos x="102681" y="114300"/>
                </a:cxn>
                <a:cxn ang="0">
                  <a:pos x="121934" y="104775"/>
                </a:cxn>
                <a:cxn ang="0">
                  <a:pos x="134769" y="120650"/>
                </a:cxn>
                <a:cxn ang="0">
                  <a:pos x="134769" y="120650"/>
                </a:cxn>
                <a:cxn ang="0">
                  <a:pos x="121934" y="117475"/>
                </a:cxn>
                <a:cxn ang="0">
                  <a:pos x="112308" y="120650"/>
                </a:cxn>
                <a:cxn ang="0">
                  <a:pos x="112308" y="120650"/>
                </a:cxn>
                <a:cxn ang="0">
                  <a:pos x="105890" y="133350"/>
                </a:cxn>
                <a:cxn ang="0">
                  <a:pos x="121934" y="149225"/>
                </a:cxn>
                <a:cxn ang="0">
                  <a:pos x="137978" y="133350"/>
                </a:cxn>
                <a:cxn ang="0">
                  <a:pos x="134769" y="120650"/>
                </a:cxn>
                <a:cxn ang="0">
                  <a:pos x="134769" y="120650"/>
                </a:cxn>
                <a:cxn ang="0">
                  <a:pos x="54549" y="63500"/>
                </a:cxn>
                <a:cxn ang="0">
                  <a:pos x="54549" y="63500"/>
                </a:cxn>
                <a:cxn ang="0">
                  <a:pos x="38505" y="57150"/>
                </a:cxn>
                <a:cxn ang="0">
                  <a:pos x="12835" y="82550"/>
                </a:cxn>
                <a:cxn ang="0">
                  <a:pos x="38505" y="107950"/>
                </a:cxn>
                <a:cxn ang="0">
                  <a:pos x="54549" y="98425"/>
                </a:cxn>
                <a:cxn ang="0">
                  <a:pos x="54549" y="98425"/>
                </a:cxn>
                <a:cxn ang="0">
                  <a:pos x="64176" y="82550"/>
                </a:cxn>
                <a:cxn ang="0">
                  <a:pos x="54549" y="63500"/>
                </a:cxn>
                <a:cxn ang="0">
                  <a:pos x="54549" y="63500"/>
                </a:cxn>
                <a:cxn ang="0">
                  <a:pos x="121934" y="12700"/>
                </a:cxn>
                <a:cxn ang="0">
                  <a:pos x="121934" y="12700"/>
                </a:cxn>
                <a:cxn ang="0">
                  <a:pos x="105890" y="28575"/>
                </a:cxn>
                <a:cxn ang="0">
                  <a:pos x="109099" y="38100"/>
                </a:cxn>
                <a:cxn ang="0">
                  <a:pos x="109099" y="38100"/>
                </a:cxn>
                <a:cxn ang="0">
                  <a:pos x="112308" y="41275"/>
                </a:cxn>
                <a:cxn ang="0">
                  <a:pos x="112308" y="41275"/>
                </a:cxn>
                <a:cxn ang="0">
                  <a:pos x="121934" y="44450"/>
                </a:cxn>
                <a:cxn ang="0">
                  <a:pos x="137978" y="28575"/>
                </a:cxn>
                <a:cxn ang="0">
                  <a:pos x="121934" y="12700"/>
                </a:cxn>
              </a:cxnLst>
              <a:rect l="0" t="0" r="0" b="0"/>
              <a:pathLst>
                <a:path w="47" h="51">
                  <a:moveTo>
                    <a:pt x="38" y="33"/>
                  </a:moveTo>
                  <a:cubicBezTo>
                    <a:pt x="41" y="33"/>
                    <a:pt x="43" y="34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6" y="37"/>
                    <a:pt x="47" y="40"/>
                    <a:pt x="47" y="42"/>
                  </a:cubicBezTo>
                  <a:cubicBezTo>
                    <a:pt x="47" y="47"/>
                    <a:pt x="43" y="51"/>
                    <a:pt x="38" y="51"/>
                  </a:cubicBezTo>
                  <a:cubicBezTo>
                    <a:pt x="33" y="51"/>
                    <a:pt x="29" y="47"/>
                    <a:pt x="29" y="42"/>
                  </a:cubicBezTo>
                  <a:cubicBezTo>
                    <a:pt x="29" y="41"/>
                    <a:pt x="30" y="40"/>
                    <a:pt x="30" y="39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8" y="36"/>
                    <a:pt x="15" y="37"/>
                    <a:pt x="12" y="37"/>
                  </a:cubicBezTo>
                  <a:cubicBezTo>
                    <a:pt x="5" y="37"/>
                    <a:pt x="0" y="32"/>
                    <a:pt x="0" y="26"/>
                  </a:cubicBezTo>
                  <a:cubicBezTo>
                    <a:pt x="0" y="19"/>
                    <a:pt x="5" y="14"/>
                    <a:pt x="12" y="14"/>
                  </a:cubicBezTo>
                  <a:cubicBezTo>
                    <a:pt x="15" y="14"/>
                    <a:pt x="18" y="15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1" y="17"/>
                    <a:pt x="21" y="18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1"/>
                    <a:pt x="29" y="10"/>
                    <a:pt x="29" y="9"/>
                  </a:cubicBezTo>
                  <a:cubicBezTo>
                    <a:pt x="29" y="4"/>
                    <a:pt x="33" y="0"/>
                    <a:pt x="38" y="0"/>
                  </a:cubicBezTo>
                  <a:cubicBezTo>
                    <a:pt x="43" y="0"/>
                    <a:pt x="47" y="4"/>
                    <a:pt x="47" y="9"/>
                  </a:cubicBezTo>
                  <a:cubicBezTo>
                    <a:pt x="47" y="14"/>
                    <a:pt x="43" y="18"/>
                    <a:pt x="38" y="18"/>
                  </a:cubicBezTo>
                  <a:cubicBezTo>
                    <a:pt x="36" y="18"/>
                    <a:pt x="34" y="17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2"/>
                    <a:pt x="24" y="24"/>
                    <a:pt x="24" y="26"/>
                  </a:cubicBezTo>
                  <a:cubicBezTo>
                    <a:pt x="24" y="27"/>
                    <a:pt x="23" y="29"/>
                    <a:pt x="23" y="30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4" y="34"/>
                    <a:pt x="36" y="33"/>
                    <a:pt x="38" y="33"/>
                  </a:cubicBezTo>
                  <a:close/>
                  <a:moveTo>
                    <a:pt x="42" y="38"/>
                  </a:move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0" y="37"/>
                    <a:pt x="38" y="37"/>
                  </a:cubicBezTo>
                  <a:cubicBezTo>
                    <a:pt x="37" y="37"/>
                    <a:pt x="36" y="38"/>
                    <a:pt x="35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9"/>
                    <a:pt x="33" y="41"/>
                    <a:pt x="33" y="42"/>
                  </a:cubicBezTo>
                  <a:cubicBezTo>
                    <a:pt x="33" y="45"/>
                    <a:pt x="36" y="47"/>
                    <a:pt x="38" y="47"/>
                  </a:cubicBezTo>
                  <a:cubicBezTo>
                    <a:pt x="41" y="47"/>
                    <a:pt x="43" y="45"/>
                    <a:pt x="43" y="42"/>
                  </a:cubicBezTo>
                  <a:cubicBezTo>
                    <a:pt x="43" y="41"/>
                    <a:pt x="43" y="39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lose/>
                  <a:moveTo>
                    <a:pt x="17" y="20"/>
                  </a:moveTo>
                  <a:cubicBezTo>
                    <a:pt x="17" y="20"/>
                    <a:pt x="17" y="20"/>
                    <a:pt x="17" y="20"/>
                  </a:cubicBezTo>
                  <a:cubicBezTo>
                    <a:pt x="16" y="18"/>
                    <a:pt x="14" y="18"/>
                    <a:pt x="12" y="18"/>
                  </a:cubicBezTo>
                  <a:cubicBezTo>
                    <a:pt x="7" y="18"/>
                    <a:pt x="4" y="21"/>
                    <a:pt x="4" y="26"/>
                  </a:cubicBezTo>
                  <a:cubicBezTo>
                    <a:pt x="4" y="30"/>
                    <a:pt x="7" y="34"/>
                    <a:pt x="12" y="34"/>
                  </a:cubicBezTo>
                  <a:cubicBezTo>
                    <a:pt x="14" y="34"/>
                    <a:pt x="16" y="33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9" y="30"/>
                    <a:pt x="20" y="28"/>
                    <a:pt x="20" y="26"/>
                  </a:cubicBezTo>
                  <a:cubicBezTo>
                    <a:pt x="20" y="23"/>
                    <a:pt x="19" y="21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lose/>
                  <a:moveTo>
                    <a:pt x="38" y="4"/>
                  </a:moveTo>
                  <a:cubicBezTo>
                    <a:pt x="38" y="4"/>
                    <a:pt x="38" y="4"/>
                    <a:pt x="38" y="4"/>
                  </a:cubicBezTo>
                  <a:cubicBezTo>
                    <a:pt x="36" y="4"/>
                    <a:pt x="33" y="7"/>
                    <a:pt x="33" y="9"/>
                  </a:cubicBezTo>
                  <a:cubicBezTo>
                    <a:pt x="33" y="10"/>
                    <a:pt x="34" y="11"/>
                    <a:pt x="34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4" y="12"/>
                    <a:pt x="34" y="12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6" y="14"/>
                    <a:pt x="37" y="14"/>
                    <a:pt x="38" y="14"/>
                  </a:cubicBezTo>
                  <a:cubicBezTo>
                    <a:pt x="41" y="14"/>
                    <a:pt x="43" y="12"/>
                    <a:pt x="43" y="9"/>
                  </a:cubicBezTo>
                  <a:cubicBezTo>
                    <a:pt x="43" y="7"/>
                    <a:pt x="41" y="4"/>
                    <a:pt x="3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lIns="19050" tIns="19050" rIns="19050" bIns="19050" anchor="ctr">
              <a:noAutofit/>
            </a:bodyPr>
            <a:lstStyle/>
            <a:p>
              <a:pPr marL="0" marR="0" lvl="0" indent="0" algn="ctr" defTabSz="2286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Rectangle 60"/>
            <p:cNvSpPr/>
            <p:nvPr/>
          </p:nvSpPr>
          <p:spPr>
            <a:xfrm>
              <a:off x="8375" y="5413"/>
              <a:ext cx="2449" cy="67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汉仪文黑-55简" panose="00020600040101010101" charset="-122"/>
                  <a:sym typeface="+mn-lt"/>
                </a:rPr>
                <a:t>测试数据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汉仪文黑-55简" panose="00020600040101010101" charset="-122"/>
                <a:sym typeface="+mn-lt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54547" y="2084706"/>
            <a:ext cx="3458210" cy="1197615"/>
            <a:chOff x="1478782" y="5157904"/>
            <a:chExt cx="2587249" cy="500442"/>
          </a:xfrm>
        </p:grpSpPr>
        <p:sp>
          <p:nvSpPr>
            <p:cNvPr id="55" name="文本框 29"/>
            <p:cNvSpPr txBox="1">
              <a:spLocks noChangeArrowheads="1"/>
            </p:cNvSpPr>
            <p:nvPr/>
          </p:nvSpPr>
          <p:spPr bwMode="auto">
            <a:xfrm>
              <a:off x="1524864" y="5350281"/>
              <a:ext cx="2541152" cy="308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r" defTabSz="121920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采用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MBAP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头的明文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Modbus/TCP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报文，包括事物标识、协议标识、长度标识、单元标识、协议数据单元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PDU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，共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92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字节 </a:t>
              </a:r>
              <a:endPara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endParaRPr>
            </a:p>
          </p:txBody>
        </p:sp>
        <p:sp>
          <p:nvSpPr>
            <p:cNvPr id="56" name="文本框 30"/>
            <p:cNvSpPr txBox="1">
              <a:spLocks noChangeArrowheads="1"/>
            </p:cNvSpPr>
            <p:nvPr/>
          </p:nvSpPr>
          <p:spPr bwMode="auto">
            <a:xfrm>
              <a:off x="1478782" y="5157904"/>
              <a:ext cx="2587249" cy="192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r" defTabSz="121920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86D0F0"/>
                  </a:solidFill>
                  <a:latin typeface="黑体" panose="02010609060101010101" charset="-122"/>
                  <a:ea typeface="黑体" panose="02010609060101010101" charset="-122"/>
                  <a:cs typeface="汉仪文黑-55简" panose="00020600040101010101" charset="-122"/>
                  <a:sym typeface="Calibri" panose="020F0502020204030204" charset="0"/>
                </a:rPr>
                <a:t>modbus-tcp-sample.dat</a:t>
              </a:r>
              <a:endParaRPr lang="en-US" altLang="zh-CN" sz="2400" dirty="0">
                <a:solidFill>
                  <a:srgbClr val="86D0F0"/>
                </a:solidFill>
                <a:latin typeface="黑体" panose="02010609060101010101" charset="-122"/>
                <a:ea typeface="黑体" panose="02010609060101010101" charset="-122"/>
                <a:cs typeface="汉仪文黑-55简" panose="00020600040101010101" charset="-122"/>
                <a:sym typeface="Calibri" panose="020F0502020204030204" charset="0"/>
              </a:endParaRPr>
            </a:p>
          </p:txBody>
        </p:sp>
      </p:grpSp>
      <p:sp>
        <p:nvSpPr>
          <p:cNvPr id="86" name="文本框 29"/>
          <p:cNvSpPr txBox="1">
            <a:spLocks noChangeArrowheads="1"/>
          </p:cNvSpPr>
          <p:nvPr/>
        </p:nvSpPr>
        <p:spPr bwMode="auto">
          <a:xfrm>
            <a:off x="716280" y="5208905"/>
            <a:ext cx="33966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r" defTabSz="121920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由确定性随机字节组成，</a:t>
            </a:r>
            <a:r>
              <a:rPr 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全长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512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字节，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无帧头，无长度字段，非任何已知协议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  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Calibri" panose="020F0502020204030204" charset="0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8037692" y="2084705"/>
            <a:ext cx="3902075" cy="1168400"/>
            <a:chOff x="1524864" y="5124205"/>
            <a:chExt cx="2919325" cy="488234"/>
          </a:xfrm>
        </p:grpSpPr>
        <p:sp>
          <p:nvSpPr>
            <p:cNvPr id="89" name="文本框 29"/>
            <p:cNvSpPr txBox="1">
              <a:spLocks noChangeArrowheads="1"/>
            </p:cNvSpPr>
            <p:nvPr/>
          </p:nvSpPr>
          <p:spPr bwMode="auto">
            <a:xfrm>
              <a:off x="1524864" y="5304374"/>
              <a:ext cx="2541167" cy="308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l" defTabSz="121920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Wireshark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上游的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snakeoil-dtls.pcap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的原始字节，以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.dat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扩展名存放，本质属于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PCAP</a:t>
              </a: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Calibri" panose="020F0502020204030204" charset="0"/>
                </a:rPr>
                <a:t>抓包</a:t>
              </a:r>
              <a:endPara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endParaRPr>
            </a:p>
          </p:txBody>
        </p:sp>
        <p:sp>
          <p:nvSpPr>
            <p:cNvPr id="90" name="文本框 30"/>
            <p:cNvSpPr txBox="1">
              <a:spLocks noChangeArrowheads="1"/>
            </p:cNvSpPr>
            <p:nvPr/>
          </p:nvSpPr>
          <p:spPr bwMode="auto">
            <a:xfrm>
              <a:off x="1524864" y="5124205"/>
              <a:ext cx="2919325" cy="192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l" defTabSz="121920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86D0F0"/>
                  </a:solidFill>
                  <a:latin typeface="黑体" panose="02010609060101010101" charset="-122"/>
                  <a:ea typeface="黑体" panose="02010609060101010101" charset="-122"/>
                  <a:cs typeface="汉仪文黑-55简" panose="00020600040101010101" charset="-122"/>
                  <a:sym typeface="Calibri" panose="020F0502020204030204" charset="0"/>
                </a:rPr>
                <a:t>public-dtls-snakeoil.dat</a:t>
              </a:r>
              <a:endParaRPr lang="en-US" altLang="zh-CN" sz="2400" dirty="0">
                <a:solidFill>
                  <a:srgbClr val="86D0F0"/>
                </a:solidFill>
                <a:latin typeface="黑体" panose="02010609060101010101" charset="-122"/>
                <a:ea typeface="黑体" panose="02010609060101010101" charset="-122"/>
                <a:cs typeface="汉仪文黑-55简" panose="00020600040101010101" charset="-122"/>
                <a:sym typeface="Calibri" panose="020F0502020204030204" charset="0"/>
              </a:endParaRPr>
            </a:p>
          </p:txBody>
        </p:sp>
      </p:grpSp>
      <p:sp>
        <p:nvSpPr>
          <p:cNvPr id="92" name="文本框 29"/>
          <p:cNvSpPr txBox="1">
            <a:spLocks noChangeArrowheads="1"/>
          </p:cNvSpPr>
          <p:nvPr/>
        </p:nvSpPr>
        <p:spPr bwMode="auto">
          <a:xfrm>
            <a:off x="8037830" y="5050155"/>
            <a:ext cx="359664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l" defTabSz="121920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本项目自制的合成协议数据，包括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(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单位：字节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)</a:t>
            </a:r>
            <a:r>
              <a:rPr 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：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报头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(4)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、保留字段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(3)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、序号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(1)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、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Calibri" panose="020F0502020204030204" charset="0"/>
            </a:endParaRPr>
          </a:p>
          <a:p>
            <a:pPr algn="l" defTabSz="121920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总长度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(2)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、变长载荷。文件共包含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3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Calibri" panose="020F0502020204030204" charset="0"/>
              </a:rPr>
              <a:t>条报文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Calibri" panose="020F0502020204030204" charset="0"/>
            </a:endParaRPr>
          </a:p>
        </p:txBody>
      </p:sp>
      <p:sp>
        <p:nvSpPr>
          <p:cNvPr id="5" name="文本框 30"/>
          <p:cNvSpPr txBox="1">
            <a:spLocks noChangeArrowheads="1"/>
          </p:cNvSpPr>
          <p:nvPr/>
        </p:nvSpPr>
        <p:spPr bwMode="auto">
          <a:xfrm>
            <a:off x="223520" y="4748530"/>
            <a:ext cx="3889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r" defTabSz="121920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86D0F0"/>
                </a:solidFill>
                <a:latin typeface="黑体" panose="02010609060101010101" charset="-122"/>
                <a:ea typeface="黑体" panose="02010609060101010101" charset="-122"/>
                <a:cs typeface="汉仪文黑-55简" panose="00020600040101010101" charset="-122"/>
                <a:sym typeface="Calibri" panose="020F0502020204030204" charset="0"/>
              </a:rPr>
              <a:t>high-entropy-fixture.dat</a:t>
            </a:r>
            <a:endParaRPr lang="en-US" altLang="zh-CN" sz="2400" dirty="0">
              <a:solidFill>
                <a:srgbClr val="86D0F0"/>
              </a:solidFill>
              <a:latin typeface="黑体" panose="02010609060101010101" charset="-122"/>
              <a:ea typeface="黑体" panose="02010609060101010101" charset="-122"/>
              <a:cs typeface="汉仪文黑-55简" panose="00020600040101010101" charset="-122"/>
              <a:sym typeface="Calibri" panose="020F0502020204030204" charset="0"/>
            </a:endParaRPr>
          </a:p>
        </p:txBody>
      </p:sp>
      <p:sp>
        <p:nvSpPr>
          <p:cNvPr id="6" name="文本框 30"/>
          <p:cNvSpPr txBox="1">
            <a:spLocks noChangeArrowheads="1"/>
          </p:cNvSpPr>
          <p:nvPr/>
        </p:nvSpPr>
        <p:spPr bwMode="auto">
          <a:xfrm>
            <a:off x="8037692" y="4589780"/>
            <a:ext cx="3902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l" defTabSz="121920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86D0F0"/>
                </a:solidFill>
                <a:latin typeface="黑体" panose="02010609060101010101" charset="-122"/>
                <a:ea typeface="黑体" panose="02010609060101010101" charset="-122"/>
                <a:cs typeface="汉仪文黑-55简" panose="00020600040101010101" charset="-122"/>
                <a:sym typeface="Calibri" panose="020F0502020204030204" charset="0"/>
              </a:rPr>
              <a:t>controlled-synl.dat</a:t>
            </a:r>
            <a:endParaRPr lang="en-US" altLang="zh-CN" sz="2400" dirty="0">
              <a:solidFill>
                <a:srgbClr val="86D0F0"/>
              </a:solidFill>
              <a:latin typeface="黑体" panose="02010609060101010101" charset="-122"/>
              <a:ea typeface="黑体" panose="02010609060101010101" charset="-122"/>
              <a:cs typeface="汉仪文黑-55简" panose="00020600040101010101" charset="-122"/>
              <a:sym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pexels-julie-aagaard-2467285"/>
          <p:cNvPicPr>
            <a:picLocks noChangeAspect="1"/>
          </p:cNvPicPr>
          <p:nvPr/>
        </p:nvPicPr>
        <p:blipFill>
          <a:blip r:embed="rId1"/>
          <a:srcRect t="-397"/>
          <a:stretch>
            <a:fillRect/>
          </a:stretch>
        </p:blipFill>
        <p:spPr>
          <a:xfrm>
            <a:off x="1861185" y="2134870"/>
            <a:ext cx="1760855" cy="1734185"/>
          </a:xfrm>
          <a:prstGeom prst="ellipse">
            <a:avLst/>
          </a:prstGeom>
        </p:spPr>
      </p:pic>
      <p:pic>
        <p:nvPicPr>
          <p:cNvPr id="19" name="图片 18" descr="pexels-flo-dahm-69945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8331"/>
          <a:stretch>
            <a:fillRect/>
          </a:stretch>
        </p:blipFill>
        <p:spPr>
          <a:xfrm>
            <a:off x="5071110" y="2092325"/>
            <a:ext cx="1903730" cy="1819275"/>
          </a:xfrm>
          <a:prstGeom prst="ellipse">
            <a:avLst/>
          </a:prstGeom>
        </p:spPr>
      </p:pic>
      <p:pic>
        <p:nvPicPr>
          <p:cNvPr id="20" name="图片 19" descr="pexels-lisa-fotios-1957477"/>
          <p:cNvPicPr>
            <a:picLocks noChangeAspect="1"/>
          </p:cNvPicPr>
          <p:nvPr/>
        </p:nvPicPr>
        <p:blipFill>
          <a:blip r:embed="rId4"/>
          <a:srcRect t="31850"/>
          <a:stretch>
            <a:fillRect/>
          </a:stretch>
        </p:blipFill>
        <p:spPr>
          <a:xfrm>
            <a:off x="8423910" y="2058670"/>
            <a:ext cx="1928495" cy="1887220"/>
          </a:xfrm>
          <a:prstGeom prst="ellipse">
            <a:avLst/>
          </a:prstGeom>
        </p:spPr>
      </p:pic>
      <p:grpSp>
        <p:nvGrpSpPr>
          <p:cNvPr id="21" name="组合 20"/>
          <p:cNvGrpSpPr/>
          <p:nvPr/>
        </p:nvGrpSpPr>
        <p:grpSpPr>
          <a:xfrm rot="0">
            <a:off x="1410366" y="4317365"/>
            <a:ext cx="2662494" cy="2152015"/>
            <a:chOff x="1796" y="3559"/>
            <a:chExt cx="5426" cy="3389"/>
          </a:xfrm>
        </p:grpSpPr>
        <p:sp>
          <p:nvSpPr>
            <p:cNvPr id="22" name="文本框 21"/>
            <p:cNvSpPr txBox="1"/>
            <p:nvPr/>
          </p:nvSpPr>
          <p:spPr>
            <a:xfrm>
              <a:off x="1796" y="4187"/>
              <a:ext cx="5426" cy="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系统在公开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Modbus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数据集上实现了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102/102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的协议消息准确识别，实现了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51/51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读保持寄存器请求与响应结构的完整还原，验证了系统利用协议标识与长度不变量推理字段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Schema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的有效性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951" y="3559"/>
              <a:ext cx="5108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000" b="1" dirty="0">
                  <a:solidFill>
                    <a:srgbClr val="2663A4"/>
                  </a:solidFill>
                  <a:cs typeface="+mn-ea"/>
                  <a:sym typeface="+mn-lt"/>
                </a:rPr>
                <a:t>协议识别与定量还原</a:t>
              </a:r>
              <a:endParaRPr lang="zh-CN" altLang="en-US" sz="2000" b="1" dirty="0">
                <a:solidFill>
                  <a:srgbClr val="2663A4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 rot="0">
            <a:off x="4566139" y="4163695"/>
            <a:ext cx="2913238" cy="2183130"/>
            <a:chOff x="1454" y="3317"/>
            <a:chExt cx="5937" cy="3438"/>
          </a:xfrm>
        </p:grpSpPr>
        <p:sp>
          <p:nvSpPr>
            <p:cNvPr id="25" name="文本框 24"/>
            <p:cNvSpPr txBox="1"/>
            <p:nvPr/>
          </p:nvSpPr>
          <p:spPr>
            <a:xfrm>
              <a:off x="1877" y="4430"/>
              <a:ext cx="5108" cy="2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系统在合成帧协议、明文工业协议、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高熵随机数据以及真实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DTLS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加密抓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包等不同类型的数据集上，均完成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了从二进制比特流输入到特征分析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的全路径验证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454" y="3317"/>
              <a:ext cx="5937" cy="111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000" b="1" dirty="0">
                  <a:solidFill>
                    <a:srgbClr val="2663A4"/>
                  </a:solidFill>
                  <a:cs typeface="+mn-ea"/>
                  <a:sym typeface="+mn-lt"/>
                </a:rPr>
                <a:t>复杂与异构数据</a:t>
              </a:r>
              <a:endParaRPr lang="zh-CN" altLang="en-US" sz="2000" b="1" dirty="0">
                <a:solidFill>
                  <a:srgbClr val="2663A4"/>
                </a:solidFill>
                <a:cs typeface="+mn-ea"/>
                <a:sym typeface="+mn-lt"/>
              </a:endParaRPr>
            </a:p>
            <a:p>
              <a:pPr algn="ctr"/>
              <a:r>
                <a:rPr lang="zh-CN" altLang="en-US" sz="2000" b="1" dirty="0">
                  <a:solidFill>
                    <a:srgbClr val="2663A4"/>
                  </a:solidFill>
                  <a:cs typeface="+mn-ea"/>
                  <a:sym typeface="+mn-lt"/>
                </a:rPr>
                <a:t>全路径验证</a:t>
              </a:r>
              <a:endParaRPr lang="zh-CN" altLang="en-US" sz="2000" b="1" dirty="0">
                <a:solidFill>
                  <a:srgbClr val="2663A4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 rot="0">
            <a:off x="8156175" y="4163695"/>
            <a:ext cx="2465727" cy="2152015"/>
            <a:chOff x="1997" y="3317"/>
            <a:chExt cx="5025" cy="3389"/>
          </a:xfrm>
        </p:grpSpPr>
        <p:sp>
          <p:nvSpPr>
            <p:cNvPr id="28" name="文本框 27"/>
            <p:cNvSpPr txBox="1"/>
            <p:nvPr/>
          </p:nvSpPr>
          <p:spPr>
            <a:xfrm>
              <a:off x="1997" y="4381"/>
              <a:ext cx="5025" cy="2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基于包长、方向和时间间隔等侧信道特征构造特征向量，验证了分类器在行为分类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(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如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QUERY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、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DOWNLOAD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等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)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效果上相比传统规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则基线的明显提升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610" y="3317"/>
              <a:ext cx="3798" cy="111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000" b="1" dirty="0">
                  <a:solidFill>
                    <a:srgbClr val="2663A4"/>
                  </a:solidFill>
                  <a:cs typeface="+mn-ea"/>
                  <a:sym typeface="+mn-lt"/>
                </a:rPr>
                <a:t>加密流量侧信道行为识别</a:t>
              </a:r>
              <a:endParaRPr lang="zh-CN" altLang="en-US" sz="2000" b="1" dirty="0">
                <a:solidFill>
                  <a:srgbClr val="2663A4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4476115" y="1142365"/>
            <a:ext cx="3086735" cy="337185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Test Results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978400" y="548005"/>
            <a:ext cx="208280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矩形 32"/>
          <p:cNvSpPr/>
          <p:nvPr/>
        </p:nvSpPr>
        <p:spPr>
          <a:xfrm>
            <a:off x="3901440" y="1066165"/>
            <a:ext cx="4131310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  Instruction Video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30040" y="478155"/>
            <a:ext cx="386461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操作示例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微信视频2026-09-11_210419_497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41500" y="1434465"/>
            <a:ext cx="8441690" cy="4699635"/>
          </a:xfrm>
          <a:prstGeom prst="rect">
            <a:avLst/>
          </a:prstGeom>
        </p:spPr>
      </p:pic>
      <p:pic>
        <p:nvPicPr>
          <p:cNvPr id="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00" y="1434465"/>
            <a:ext cx="8441690" cy="4963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 vol="100000">
                <p:cTn id="7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6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2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67" y="3140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3" name="图片 2" descr="d058ccbf6c81800ae2b41e68bf3533fa828b4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04775"/>
            <a:ext cx="3453130" cy="103632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9620250" y="6612890"/>
            <a:ext cx="2571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等线" panose="02010600030101010101" charset="-122"/>
                <a:ea typeface="等线" panose="02010600030101010101" charset="-122"/>
              </a:rPr>
              <a:t>2026  Project H.A.B.F.C  All Rights Reserved.</a:t>
            </a:r>
            <a:endParaRPr lang="zh-CN" altLang="en-US" sz="10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副标题 7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5" y="2512695"/>
            <a:ext cx="12191365" cy="103441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5400" b="1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项目亮点</a:t>
            </a:r>
            <a:endParaRPr lang="zh-CN" altLang="en-US" sz="5400" b="1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240600" y="3882136"/>
            <a:ext cx="5712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385185" y="4048760"/>
            <a:ext cx="5495290" cy="1060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■ </a:t>
            </a: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系统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先利用传统统计方法和协议推断工具形成结构化证据，再交给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大模型进行语义解释，从而形成大模型与传统协议逆向方法的有效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结合，使每一个语义结论都必然经过可执行检查。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4204970" y="3429000"/>
            <a:ext cx="3806190" cy="3638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Highlights in Operation 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4260850" y="1842770"/>
            <a:ext cx="3651278" cy="3593384"/>
            <a:chOff x="6710" y="2584"/>
            <a:chExt cx="5750" cy="5659"/>
          </a:xfrm>
        </p:grpSpPr>
        <p:grpSp>
          <p:nvGrpSpPr>
            <p:cNvPr id="7" name="组合 6"/>
            <p:cNvGrpSpPr/>
            <p:nvPr/>
          </p:nvGrpSpPr>
          <p:grpSpPr>
            <a:xfrm rot="2820000">
              <a:off x="6756" y="2539"/>
              <a:ext cx="5659" cy="5750"/>
              <a:chOff x="4740" y="1824"/>
              <a:chExt cx="5019" cy="5099"/>
            </a:xfrm>
          </p:grpSpPr>
          <p:sp>
            <p:nvSpPr>
              <p:cNvPr id="8" name="任意多边形: 形状 1"/>
              <p:cNvSpPr/>
              <p:nvPr>
                <p:custDataLst>
                  <p:tags r:id="rId2"/>
                </p:custDataLst>
              </p:nvPr>
            </p:nvSpPr>
            <p:spPr>
              <a:xfrm rot="21420000">
                <a:off x="7010" y="3281"/>
                <a:ext cx="335" cy="167"/>
              </a:xfrm>
              <a:custGeom>
                <a:avLst/>
                <a:gdLst>
                  <a:gd name="connsiteX0" fmla="*/ 0 w 212651"/>
                  <a:gd name="connsiteY0" fmla="*/ 106326 h 106326"/>
                  <a:gd name="connsiteX1" fmla="*/ 106326 w 212651"/>
                  <a:gd name="connsiteY1" fmla="*/ 0 h 106326"/>
                  <a:gd name="connsiteX2" fmla="*/ 212651 w 212651"/>
                  <a:gd name="connsiteY2" fmla="*/ 106325 h 10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2651" h="106326">
                    <a:moveTo>
                      <a:pt x="0" y="106326"/>
                    </a:moveTo>
                    <a:lnTo>
                      <a:pt x="106326" y="0"/>
                    </a:lnTo>
                    <a:lnTo>
                      <a:pt x="212651" y="106325"/>
                    </a:lnTo>
                  </a:path>
                </a:pathLst>
              </a:custGeom>
              <a:noFill/>
              <a:ln w="38100">
                <a:solidFill>
                  <a:srgbClr val="D7C8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4740" y="1824"/>
                <a:ext cx="5019" cy="5099"/>
                <a:chOff x="4740" y="1824"/>
                <a:chExt cx="5019" cy="5099"/>
              </a:xfrm>
            </p:grpSpPr>
            <p:sp>
              <p:nvSpPr>
                <p:cNvPr id="49" name="任意多边形: 形状 48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603" y="1824"/>
                  <a:ext cx="1165" cy="1165"/>
                </a:xfrm>
                <a:custGeom>
                  <a:avLst/>
                  <a:gdLst>
                    <a:gd name="connsiteX0" fmla="*/ 0 w 1007417"/>
                    <a:gd name="connsiteY0" fmla="*/ 503709 h 1007417"/>
                    <a:gd name="connsiteX1" fmla="*/ 503709 w 1007417"/>
                    <a:gd name="connsiteY1" fmla="*/ 0 h 1007417"/>
                    <a:gd name="connsiteX2" fmla="*/ 1007418 w 1007417"/>
                    <a:gd name="connsiteY2" fmla="*/ 503709 h 1007417"/>
                    <a:gd name="connsiteX3" fmla="*/ 503709 w 1007417"/>
                    <a:gd name="connsiteY3" fmla="*/ 1007418 h 1007417"/>
                    <a:gd name="connsiteX4" fmla="*/ 0 w 1007417"/>
                    <a:gd name="connsiteY4" fmla="*/ 503709 h 10074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7417" h="1007417">
                      <a:moveTo>
                        <a:pt x="0" y="503709"/>
                      </a:moveTo>
                      <a:cubicBezTo>
                        <a:pt x="0" y="225518"/>
                        <a:pt x="225518" y="0"/>
                        <a:pt x="503709" y="0"/>
                      </a:cubicBezTo>
                      <a:cubicBezTo>
                        <a:pt x="781900" y="0"/>
                        <a:pt x="1007418" y="225518"/>
                        <a:pt x="1007418" y="503709"/>
                      </a:cubicBezTo>
                      <a:cubicBezTo>
                        <a:pt x="1007418" y="781900"/>
                        <a:pt x="781900" y="1007418"/>
                        <a:pt x="503709" y="1007418"/>
                      </a:cubicBezTo>
                      <a:cubicBezTo>
                        <a:pt x="225518" y="1007418"/>
                        <a:pt x="0" y="781900"/>
                        <a:pt x="0" y="503709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75473" tIns="175473" rIns="175473" bIns="175473" numCol="1" spcCol="1270" anchor="ctr" anchorCtr="0">
                  <a:noAutofit/>
                </a:bodyPr>
                <a:p>
                  <a:pPr marL="0" lvl="0" indent="0" algn="ctr" defTabSz="977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200" kern="1200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6726" y="5758"/>
                  <a:ext cx="1165" cy="1165"/>
                </a:xfrm>
                <a:custGeom>
                  <a:avLst/>
                  <a:gdLst>
                    <a:gd name="connsiteX0" fmla="*/ 0 w 1007417"/>
                    <a:gd name="connsiteY0" fmla="*/ 503709 h 1007417"/>
                    <a:gd name="connsiteX1" fmla="*/ 503709 w 1007417"/>
                    <a:gd name="connsiteY1" fmla="*/ 0 h 1007417"/>
                    <a:gd name="connsiteX2" fmla="*/ 1007418 w 1007417"/>
                    <a:gd name="connsiteY2" fmla="*/ 503709 h 1007417"/>
                    <a:gd name="connsiteX3" fmla="*/ 503709 w 1007417"/>
                    <a:gd name="connsiteY3" fmla="*/ 1007418 h 1007417"/>
                    <a:gd name="connsiteX4" fmla="*/ 0 w 1007417"/>
                    <a:gd name="connsiteY4" fmla="*/ 503709 h 10074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7417" h="1007417">
                      <a:moveTo>
                        <a:pt x="0" y="503709"/>
                      </a:moveTo>
                      <a:cubicBezTo>
                        <a:pt x="0" y="225518"/>
                        <a:pt x="225518" y="0"/>
                        <a:pt x="503709" y="0"/>
                      </a:cubicBezTo>
                      <a:cubicBezTo>
                        <a:pt x="781900" y="0"/>
                        <a:pt x="1007418" y="225518"/>
                        <a:pt x="1007418" y="503709"/>
                      </a:cubicBezTo>
                      <a:cubicBezTo>
                        <a:pt x="1007418" y="781900"/>
                        <a:pt x="781900" y="1007418"/>
                        <a:pt x="503709" y="1007418"/>
                      </a:cubicBezTo>
                      <a:cubicBezTo>
                        <a:pt x="225518" y="1007418"/>
                        <a:pt x="0" y="781900"/>
                        <a:pt x="0" y="503709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75473" tIns="175473" rIns="175473" bIns="175473" numCol="1" spcCol="1270" anchor="ctr" anchorCtr="0">
                  <a:noAutofit/>
                </a:bodyPr>
                <a:p>
                  <a:pPr marL="0" lvl="0" indent="0" algn="ctr" defTabSz="977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200" kern="1200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4740" y="3822"/>
                  <a:ext cx="1165" cy="1165"/>
                </a:xfrm>
                <a:custGeom>
                  <a:avLst/>
                  <a:gdLst>
                    <a:gd name="connsiteX0" fmla="*/ 0 w 1007417"/>
                    <a:gd name="connsiteY0" fmla="*/ 503709 h 1007417"/>
                    <a:gd name="connsiteX1" fmla="*/ 503709 w 1007417"/>
                    <a:gd name="connsiteY1" fmla="*/ 0 h 1007417"/>
                    <a:gd name="connsiteX2" fmla="*/ 1007418 w 1007417"/>
                    <a:gd name="connsiteY2" fmla="*/ 503709 h 1007417"/>
                    <a:gd name="connsiteX3" fmla="*/ 503709 w 1007417"/>
                    <a:gd name="connsiteY3" fmla="*/ 1007418 h 1007417"/>
                    <a:gd name="connsiteX4" fmla="*/ 0 w 1007417"/>
                    <a:gd name="connsiteY4" fmla="*/ 503709 h 10074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7417" h="1007417">
                      <a:moveTo>
                        <a:pt x="0" y="503709"/>
                      </a:moveTo>
                      <a:cubicBezTo>
                        <a:pt x="0" y="225518"/>
                        <a:pt x="225518" y="0"/>
                        <a:pt x="503709" y="0"/>
                      </a:cubicBezTo>
                      <a:cubicBezTo>
                        <a:pt x="781900" y="0"/>
                        <a:pt x="1007418" y="225518"/>
                        <a:pt x="1007418" y="503709"/>
                      </a:cubicBezTo>
                      <a:cubicBezTo>
                        <a:pt x="1007418" y="781900"/>
                        <a:pt x="781900" y="1007418"/>
                        <a:pt x="503709" y="1007418"/>
                      </a:cubicBezTo>
                      <a:cubicBezTo>
                        <a:pt x="225518" y="1007418"/>
                        <a:pt x="0" y="781900"/>
                        <a:pt x="0" y="503709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75473" tIns="175473" rIns="175473" bIns="175473" numCol="1" spcCol="1270" anchor="ctr" anchorCtr="0">
                  <a:noAutofit/>
                </a:bodyPr>
                <a:p>
                  <a:pPr marL="0" lvl="0" indent="0" algn="ctr" defTabSz="977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200" kern="1200"/>
                </a:p>
              </p:txBody>
            </p:sp>
            <p:sp>
              <p:nvSpPr>
                <p:cNvPr id="10" name="任意多边形: 形状 49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594" y="3682"/>
                  <a:ext cx="1165" cy="1165"/>
                </a:xfrm>
                <a:custGeom>
                  <a:avLst/>
                  <a:gdLst>
                    <a:gd name="connsiteX0" fmla="*/ 0 w 1007417"/>
                    <a:gd name="connsiteY0" fmla="*/ 503709 h 1007417"/>
                    <a:gd name="connsiteX1" fmla="*/ 503709 w 1007417"/>
                    <a:gd name="connsiteY1" fmla="*/ 0 h 1007417"/>
                    <a:gd name="connsiteX2" fmla="*/ 1007418 w 1007417"/>
                    <a:gd name="connsiteY2" fmla="*/ 503709 h 1007417"/>
                    <a:gd name="connsiteX3" fmla="*/ 503709 w 1007417"/>
                    <a:gd name="connsiteY3" fmla="*/ 1007418 h 1007417"/>
                    <a:gd name="connsiteX4" fmla="*/ 0 w 1007417"/>
                    <a:gd name="connsiteY4" fmla="*/ 503709 h 10074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7417" h="1007417">
                      <a:moveTo>
                        <a:pt x="0" y="503709"/>
                      </a:moveTo>
                      <a:cubicBezTo>
                        <a:pt x="0" y="225518"/>
                        <a:pt x="225518" y="0"/>
                        <a:pt x="503709" y="0"/>
                      </a:cubicBezTo>
                      <a:cubicBezTo>
                        <a:pt x="781900" y="0"/>
                        <a:pt x="1007418" y="225518"/>
                        <a:pt x="1007418" y="503709"/>
                      </a:cubicBezTo>
                      <a:cubicBezTo>
                        <a:pt x="1007418" y="781900"/>
                        <a:pt x="781900" y="1007418"/>
                        <a:pt x="503709" y="1007418"/>
                      </a:cubicBezTo>
                      <a:cubicBezTo>
                        <a:pt x="225518" y="1007418"/>
                        <a:pt x="0" y="781900"/>
                        <a:pt x="0" y="503709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75473" tIns="175473" rIns="175473" bIns="175473" numCol="1" spcCol="1270" anchor="ctr" anchorCtr="0">
                  <a:noAutofit/>
                </a:bodyPr>
                <a:p>
                  <a:pPr marL="0" lvl="0" indent="0" algn="ctr" defTabSz="977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200" kern="1200"/>
                </a:p>
              </p:txBody>
            </p:sp>
            <p:sp>
              <p:nvSpPr>
                <p:cNvPr id="11" name="任意多边形: 形状 88"/>
                <p:cNvSpPr/>
                <p:nvPr>
                  <p:custDataLst>
                    <p:tags r:id="rId7"/>
                  </p:custDataLst>
                </p:nvPr>
              </p:nvSpPr>
              <p:spPr>
                <a:xfrm rot="21420000" flipV="1">
                  <a:off x="7045" y="5339"/>
                  <a:ext cx="335" cy="167"/>
                </a:xfrm>
                <a:custGeom>
                  <a:avLst/>
                  <a:gdLst>
                    <a:gd name="connsiteX0" fmla="*/ 0 w 212651"/>
                    <a:gd name="connsiteY0" fmla="*/ 106326 h 106326"/>
                    <a:gd name="connsiteX1" fmla="*/ 106326 w 212651"/>
                    <a:gd name="connsiteY1" fmla="*/ 0 h 106326"/>
                    <a:gd name="connsiteX2" fmla="*/ 212651 w 212651"/>
                    <a:gd name="connsiteY2" fmla="*/ 106325 h 106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2651" h="106326">
                      <a:moveTo>
                        <a:pt x="0" y="106326"/>
                      </a:moveTo>
                      <a:lnTo>
                        <a:pt x="106326" y="0"/>
                      </a:lnTo>
                      <a:lnTo>
                        <a:pt x="212651" y="106325"/>
                      </a:lnTo>
                    </a:path>
                  </a:pathLst>
                </a:custGeom>
                <a:noFill/>
                <a:ln w="38100">
                  <a:solidFill>
                    <a:srgbClr val="D7C8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" name="任意多边形: 形状 89"/>
                <p:cNvSpPr/>
                <p:nvPr>
                  <p:custDataLst>
                    <p:tags r:id="rId8"/>
                  </p:custDataLst>
                </p:nvPr>
              </p:nvSpPr>
              <p:spPr>
                <a:xfrm rot="16020000" flipV="1">
                  <a:off x="8074" y="4232"/>
                  <a:ext cx="335" cy="167"/>
                </a:xfrm>
                <a:custGeom>
                  <a:avLst/>
                  <a:gdLst>
                    <a:gd name="connsiteX0" fmla="*/ 0 w 212651"/>
                    <a:gd name="connsiteY0" fmla="*/ 106326 h 106326"/>
                    <a:gd name="connsiteX1" fmla="*/ 106326 w 212651"/>
                    <a:gd name="connsiteY1" fmla="*/ 0 h 106326"/>
                    <a:gd name="connsiteX2" fmla="*/ 212651 w 212651"/>
                    <a:gd name="connsiteY2" fmla="*/ 106325 h 106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2651" h="106326">
                      <a:moveTo>
                        <a:pt x="0" y="106326"/>
                      </a:moveTo>
                      <a:lnTo>
                        <a:pt x="106326" y="0"/>
                      </a:lnTo>
                      <a:lnTo>
                        <a:pt x="212651" y="106325"/>
                      </a:lnTo>
                    </a:path>
                  </a:pathLst>
                </a:custGeom>
                <a:noFill/>
                <a:ln w="38100">
                  <a:solidFill>
                    <a:srgbClr val="D7C8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" name="任意多边形: 形状 90"/>
                <p:cNvSpPr/>
                <p:nvPr>
                  <p:custDataLst>
                    <p:tags r:id="rId9"/>
                  </p:custDataLst>
                </p:nvPr>
              </p:nvSpPr>
              <p:spPr>
                <a:xfrm rot="5220000" flipH="1" flipV="1">
                  <a:off x="6009" y="4377"/>
                  <a:ext cx="335" cy="167"/>
                </a:xfrm>
                <a:custGeom>
                  <a:avLst/>
                  <a:gdLst>
                    <a:gd name="connsiteX0" fmla="*/ 0 w 212651"/>
                    <a:gd name="connsiteY0" fmla="*/ 106326 h 106326"/>
                    <a:gd name="connsiteX1" fmla="*/ 106326 w 212651"/>
                    <a:gd name="connsiteY1" fmla="*/ 0 h 106326"/>
                    <a:gd name="connsiteX2" fmla="*/ 212651 w 212651"/>
                    <a:gd name="connsiteY2" fmla="*/ 106325 h 106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2651" h="106326">
                      <a:moveTo>
                        <a:pt x="0" y="106326"/>
                      </a:moveTo>
                      <a:lnTo>
                        <a:pt x="106326" y="0"/>
                      </a:lnTo>
                      <a:lnTo>
                        <a:pt x="212651" y="106325"/>
                      </a:lnTo>
                    </a:path>
                  </a:pathLst>
                </a:custGeom>
                <a:noFill/>
                <a:ln w="38100">
                  <a:solidFill>
                    <a:srgbClr val="D7C8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" name="任意多边形: 形状 47"/>
                <p:cNvSpPr/>
                <p:nvPr>
                  <p:custDataLst>
                    <p:tags r:id="rId10"/>
                  </p:custDataLst>
                </p:nvPr>
              </p:nvSpPr>
              <p:spPr>
                <a:xfrm rot="21300000">
                  <a:off x="6375" y="3543"/>
                  <a:ext cx="1664" cy="1664"/>
                </a:xfrm>
                <a:custGeom>
                  <a:avLst/>
                  <a:gdLst>
                    <a:gd name="connsiteX0" fmla="*/ 0 w 1439167"/>
                    <a:gd name="connsiteY0" fmla="*/ 719584 h 1439167"/>
                    <a:gd name="connsiteX1" fmla="*/ 719584 w 1439167"/>
                    <a:gd name="connsiteY1" fmla="*/ 0 h 1439167"/>
                    <a:gd name="connsiteX2" fmla="*/ 1439168 w 1439167"/>
                    <a:gd name="connsiteY2" fmla="*/ 719584 h 1439167"/>
                    <a:gd name="connsiteX3" fmla="*/ 719584 w 1439167"/>
                    <a:gd name="connsiteY3" fmla="*/ 1439168 h 1439167"/>
                    <a:gd name="connsiteX4" fmla="*/ 0 w 1439167"/>
                    <a:gd name="connsiteY4" fmla="*/ 719584 h 1439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39167" h="1439167">
                      <a:moveTo>
                        <a:pt x="0" y="719584"/>
                      </a:moveTo>
                      <a:cubicBezTo>
                        <a:pt x="0" y="322169"/>
                        <a:pt x="322169" y="0"/>
                        <a:pt x="719584" y="0"/>
                      </a:cubicBezTo>
                      <a:cubicBezTo>
                        <a:pt x="1116999" y="0"/>
                        <a:pt x="1439168" y="322169"/>
                        <a:pt x="1439168" y="719584"/>
                      </a:cubicBezTo>
                      <a:cubicBezTo>
                        <a:pt x="1439168" y="1116999"/>
                        <a:pt x="1116999" y="1439168"/>
                        <a:pt x="719584" y="1439168"/>
                      </a:cubicBezTo>
                      <a:cubicBezTo>
                        <a:pt x="322169" y="1439168"/>
                        <a:pt x="0" y="1116999"/>
                        <a:pt x="0" y="719584"/>
                      </a:cubicBezTo>
                      <a:close/>
                    </a:path>
                  </a:pathLst>
                </a:custGeom>
                <a:solidFill>
                  <a:srgbClr val="1C56A6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51401" tIns="251401" rIns="251401" bIns="251401" numCol="1" spcCol="1270" anchor="ctr" anchorCtr="0">
                  <a:noAutofit/>
                </a:bodyPr>
                <a:p>
                  <a:pPr marL="0" lvl="0" indent="0" algn="ctr" defTabSz="1422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3200" kern="1200"/>
                </a:p>
              </p:txBody>
            </p:sp>
          </p:grpSp>
        </p:grp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7408" y="3344"/>
              <a:ext cx="134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200">
                  <a:solidFill>
                    <a:schemeClr val="bg1"/>
                  </a:solidFill>
                </a:rPr>
                <a:t>01</a:t>
              </a:r>
              <a:endParaRPr lang="en-US" altLang="zh-CN" sz="3200">
                <a:solidFill>
                  <a:schemeClr val="bg1"/>
                </a:solidFill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2"/>
              </p:custDataLst>
            </p:nvPr>
          </p:nvSpPr>
          <p:spPr>
            <a:xfrm>
              <a:off x="10488" y="3344"/>
              <a:ext cx="134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200">
                  <a:solidFill>
                    <a:schemeClr val="bg1"/>
                  </a:solidFill>
                </a:rPr>
                <a:t>02</a:t>
              </a:r>
              <a:endParaRPr lang="en-US" altLang="zh-CN" sz="3200">
                <a:solidFill>
                  <a:schemeClr val="bg1"/>
                </a:solidFill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3"/>
              </p:custDataLst>
            </p:nvPr>
          </p:nvSpPr>
          <p:spPr>
            <a:xfrm>
              <a:off x="7339" y="6485"/>
              <a:ext cx="134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200">
                  <a:solidFill>
                    <a:schemeClr val="bg1"/>
                  </a:solidFill>
                </a:rPr>
                <a:t>03</a:t>
              </a:r>
              <a:endParaRPr lang="en-US" altLang="zh-CN" sz="3200">
                <a:solidFill>
                  <a:schemeClr val="bg1"/>
                </a:solidFill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4"/>
              </p:custDataLst>
            </p:nvPr>
          </p:nvSpPr>
          <p:spPr>
            <a:xfrm>
              <a:off x="10488" y="6420"/>
              <a:ext cx="134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200">
                  <a:solidFill>
                    <a:schemeClr val="bg1"/>
                  </a:solidFill>
                </a:rPr>
                <a:t>04</a:t>
              </a:r>
              <a:endParaRPr lang="en-US" altLang="zh-CN" sz="3200">
                <a:solidFill>
                  <a:schemeClr val="bg1"/>
                </a:solidFill>
              </a:endParaRPr>
            </a:p>
          </p:txBody>
        </p:sp>
        <p:sp>
          <p:nvSpPr>
            <p:cNvPr id="57" name="Freeform 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9060" y="4959"/>
              <a:ext cx="982" cy="839"/>
            </a:xfrm>
            <a:custGeom>
              <a:avLst/>
              <a:gdLst>
                <a:gd name="T0" fmla="*/ 689 w 746"/>
                <a:gd name="T1" fmla="*/ 125 h 638"/>
                <a:gd name="T2" fmla="*/ 552 w 746"/>
                <a:gd name="T3" fmla="*/ 125 h 638"/>
                <a:gd name="T4" fmla="*/ 552 w 746"/>
                <a:gd name="T5" fmla="*/ 57 h 638"/>
                <a:gd name="T6" fmla="*/ 495 w 746"/>
                <a:gd name="T7" fmla="*/ 0 h 638"/>
                <a:gd name="T8" fmla="*/ 253 w 746"/>
                <a:gd name="T9" fmla="*/ 0 h 638"/>
                <a:gd name="T10" fmla="*/ 196 w 746"/>
                <a:gd name="T11" fmla="*/ 57 h 638"/>
                <a:gd name="T12" fmla="*/ 196 w 746"/>
                <a:gd name="T13" fmla="*/ 125 h 638"/>
                <a:gd name="T14" fmla="*/ 57 w 746"/>
                <a:gd name="T15" fmla="*/ 125 h 638"/>
                <a:gd name="T16" fmla="*/ 0 w 746"/>
                <a:gd name="T17" fmla="*/ 182 h 638"/>
                <a:gd name="T18" fmla="*/ 0 w 746"/>
                <a:gd name="T19" fmla="*/ 581 h 638"/>
                <a:gd name="T20" fmla="*/ 57 w 746"/>
                <a:gd name="T21" fmla="*/ 638 h 638"/>
                <a:gd name="T22" fmla="*/ 689 w 746"/>
                <a:gd name="T23" fmla="*/ 638 h 638"/>
                <a:gd name="T24" fmla="*/ 746 w 746"/>
                <a:gd name="T25" fmla="*/ 581 h 638"/>
                <a:gd name="T26" fmla="*/ 746 w 746"/>
                <a:gd name="T27" fmla="*/ 182 h 638"/>
                <a:gd name="T28" fmla="*/ 689 w 746"/>
                <a:gd name="T29" fmla="*/ 125 h 638"/>
                <a:gd name="T30" fmla="*/ 239 w 746"/>
                <a:gd name="T31" fmla="*/ 57 h 638"/>
                <a:gd name="T32" fmla="*/ 253 w 746"/>
                <a:gd name="T33" fmla="*/ 44 h 638"/>
                <a:gd name="T34" fmla="*/ 495 w 746"/>
                <a:gd name="T35" fmla="*/ 44 h 638"/>
                <a:gd name="T36" fmla="*/ 508 w 746"/>
                <a:gd name="T37" fmla="*/ 57 h 638"/>
                <a:gd name="T38" fmla="*/ 508 w 746"/>
                <a:gd name="T39" fmla="*/ 125 h 638"/>
                <a:gd name="T40" fmla="*/ 239 w 746"/>
                <a:gd name="T41" fmla="*/ 125 h 638"/>
                <a:gd name="T42" fmla="*/ 239 w 746"/>
                <a:gd name="T43" fmla="*/ 57 h 638"/>
                <a:gd name="T44" fmla="*/ 57 w 746"/>
                <a:gd name="T45" fmla="*/ 169 h 638"/>
                <a:gd name="T46" fmla="*/ 689 w 746"/>
                <a:gd name="T47" fmla="*/ 169 h 638"/>
                <a:gd name="T48" fmla="*/ 703 w 746"/>
                <a:gd name="T49" fmla="*/ 182 h 638"/>
                <a:gd name="T50" fmla="*/ 703 w 746"/>
                <a:gd name="T51" fmla="*/ 295 h 638"/>
                <a:gd name="T52" fmla="*/ 545 w 746"/>
                <a:gd name="T53" fmla="*/ 295 h 638"/>
                <a:gd name="T54" fmla="*/ 545 w 746"/>
                <a:gd name="T55" fmla="*/ 267 h 638"/>
                <a:gd name="T56" fmla="*/ 501 w 746"/>
                <a:gd name="T57" fmla="*/ 267 h 638"/>
                <a:gd name="T58" fmla="*/ 501 w 746"/>
                <a:gd name="T59" fmla="*/ 295 h 638"/>
                <a:gd name="T60" fmla="*/ 245 w 746"/>
                <a:gd name="T61" fmla="*/ 295 h 638"/>
                <a:gd name="T62" fmla="*/ 245 w 746"/>
                <a:gd name="T63" fmla="*/ 266 h 638"/>
                <a:gd name="T64" fmla="*/ 201 w 746"/>
                <a:gd name="T65" fmla="*/ 266 h 638"/>
                <a:gd name="T66" fmla="*/ 201 w 746"/>
                <a:gd name="T67" fmla="*/ 295 h 638"/>
                <a:gd name="T68" fmla="*/ 43 w 746"/>
                <a:gd name="T69" fmla="*/ 295 h 638"/>
                <a:gd name="T70" fmla="*/ 43 w 746"/>
                <a:gd name="T71" fmla="*/ 182 h 638"/>
                <a:gd name="T72" fmla="*/ 57 w 746"/>
                <a:gd name="T73" fmla="*/ 169 h 638"/>
                <a:gd name="T74" fmla="*/ 689 w 746"/>
                <a:gd name="T75" fmla="*/ 594 h 638"/>
                <a:gd name="T76" fmla="*/ 57 w 746"/>
                <a:gd name="T77" fmla="*/ 594 h 638"/>
                <a:gd name="T78" fmla="*/ 43 w 746"/>
                <a:gd name="T79" fmla="*/ 581 h 638"/>
                <a:gd name="T80" fmla="*/ 43 w 746"/>
                <a:gd name="T81" fmla="*/ 338 h 638"/>
                <a:gd name="T82" fmla="*/ 201 w 746"/>
                <a:gd name="T83" fmla="*/ 338 h 638"/>
                <a:gd name="T84" fmla="*/ 201 w 746"/>
                <a:gd name="T85" fmla="*/ 368 h 638"/>
                <a:gd name="T86" fmla="*/ 245 w 746"/>
                <a:gd name="T87" fmla="*/ 368 h 638"/>
                <a:gd name="T88" fmla="*/ 245 w 746"/>
                <a:gd name="T89" fmla="*/ 338 h 638"/>
                <a:gd name="T90" fmla="*/ 501 w 746"/>
                <a:gd name="T91" fmla="*/ 338 h 638"/>
                <a:gd name="T92" fmla="*/ 501 w 746"/>
                <a:gd name="T93" fmla="*/ 369 h 638"/>
                <a:gd name="T94" fmla="*/ 545 w 746"/>
                <a:gd name="T95" fmla="*/ 369 h 638"/>
                <a:gd name="T96" fmla="*/ 545 w 746"/>
                <a:gd name="T97" fmla="*/ 338 h 638"/>
                <a:gd name="T98" fmla="*/ 703 w 746"/>
                <a:gd name="T99" fmla="*/ 338 h 638"/>
                <a:gd name="T100" fmla="*/ 703 w 746"/>
                <a:gd name="T101" fmla="*/ 581 h 638"/>
                <a:gd name="T102" fmla="*/ 689 w 746"/>
                <a:gd name="T103" fmla="*/ 594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46" h="638">
                  <a:moveTo>
                    <a:pt x="689" y="125"/>
                  </a:moveTo>
                  <a:cubicBezTo>
                    <a:pt x="552" y="125"/>
                    <a:pt x="552" y="125"/>
                    <a:pt x="552" y="125"/>
                  </a:cubicBezTo>
                  <a:cubicBezTo>
                    <a:pt x="552" y="57"/>
                    <a:pt x="552" y="57"/>
                    <a:pt x="552" y="57"/>
                  </a:cubicBezTo>
                  <a:cubicBezTo>
                    <a:pt x="552" y="26"/>
                    <a:pt x="526" y="0"/>
                    <a:pt x="495" y="0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221" y="0"/>
                    <a:pt x="196" y="26"/>
                    <a:pt x="196" y="57"/>
                  </a:cubicBezTo>
                  <a:cubicBezTo>
                    <a:pt x="196" y="125"/>
                    <a:pt x="196" y="125"/>
                    <a:pt x="196" y="125"/>
                  </a:cubicBezTo>
                  <a:cubicBezTo>
                    <a:pt x="57" y="125"/>
                    <a:pt x="57" y="125"/>
                    <a:pt x="57" y="125"/>
                  </a:cubicBezTo>
                  <a:cubicBezTo>
                    <a:pt x="25" y="125"/>
                    <a:pt x="0" y="151"/>
                    <a:pt x="0" y="182"/>
                  </a:cubicBezTo>
                  <a:cubicBezTo>
                    <a:pt x="0" y="581"/>
                    <a:pt x="0" y="581"/>
                    <a:pt x="0" y="581"/>
                  </a:cubicBezTo>
                  <a:cubicBezTo>
                    <a:pt x="0" y="612"/>
                    <a:pt x="25" y="638"/>
                    <a:pt x="57" y="638"/>
                  </a:cubicBezTo>
                  <a:cubicBezTo>
                    <a:pt x="689" y="638"/>
                    <a:pt x="689" y="638"/>
                    <a:pt x="689" y="638"/>
                  </a:cubicBezTo>
                  <a:cubicBezTo>
                    <a:pt x="721" y="638"/>
                    <a:pt x="746" y="612"/>
                    <a:pt x="746" y="581"/>
                  </a:cubicBezTo>
                  <a:cubicBezTo>
                    <a:pt x="746" y="182"/>
                    <a:pt x="746" y="182"/>
                    <a:pt x="746" y="182"/>
                  </a:cubicBezTo>
                  <a:cubicBezTo>
                    <a:pt x="746" y="151"/>
                    <a:pt x="721" y="125"/>
                    <a:pt x="689" y="125"/>
                  </a:cubicBezTo>
                  <a:close/>
                  <a:moveTo>
                    <a:pt x="239" y="57"/>
                  </a:moveTo>
                  <a:cubicBezTo>
                    <a:pt x="239" y="50"/>
                    <a:pt x="245" y="44"/>
                    <a:pt x="253" y="44"/>
                  </a:cubicBezTo>
                  <a:cubicBezTo>
                    <a:pt x="495" y="44"/>
                    <a:pt x="495" y="44"/>
                    <a:pt x="495" y="44"/>
                  </a:cubicBezTo>
                  <a:cubicBezTo>
                    <a:pt x="502" y="44"/>
                    <a:pt x="508" y="50"/>
                    <a:pt x="508" y="57"/>
                  </a:cubicBezTo>
                  <a:cubicBezTo>
                    <a:pt x="508" y="125"/>
                    <a:pt x="508" y="125"/>
                    <a:pt x="508" y="125"/>
                  </a:cubicBezTo>
                  <a:cubicBezTo>
                    <a:pt x="239" y="125"/>
                    <a:pt x="239" y="125"/>
                    <a:pt x="239" y="125"/>
                  </a:cubicBezTo>
                  <a:lnTo>
                    <a:pt x="239" y="57"/>
                  </a:lnTo>
                  <a:close/>
                  <a:moveTo>
                    <a:pt x="57" y="169"/>
                  </a:moveTo>
                  <a:cubicBezTo>
                    <a:pt x="689" y="169"/>
                    <a:pt x="689" y="169"/>
                    <a:pt x="689" y="169"/>
                  </a:cubicBezTo>
                  <a:cubicBezTo>
                    <a:pt x="697" y="169"/>
                    <a:pt x="703" y="175"/>
                    <a:pt x="703" y="182"/>
                  </a:cubicBezTo>
                  <a:cubicBezTo>
                    <a:pt x="703" y="295"/>
                    <a:pt x="703" y="295"/>
                    <a:pt x="703" y="295"/>
                  </a:cubicBezTo>
                  <a:cubicBezTo>
                    <a:pt x="545" y="295"/>
                    <a:pt x="545" y="295"/>
                    <a:pt x="545" y="295"/>
                  </a:cubicBezTo>
                  <a:cubicBezTo>
                    <a:pt x="545" y="267"/>
                    <a:pt x="545" y="267"/>
                    <a:pt x="545" y="267"/>
                  </a:cubicBezTo>
                  <a:cubicBezTo>
                    <a:pt x="501" y="267"/>
                    <a:pt x="501" y="267"/>
                    <a:pt x="501" y="267"/>
                  </a:cubicBezTo>
                  <a:cubicBezTo>
                    <a:pt x="501" y="295"/>
                    <a:pt x="501" y="295"/>
                    <a:pt x="501" y="295"/>
                  </a:cubicBezTo>
                  <a:cubicBezTo>
                    <a:pt x="245" y="295"/>
                    <a:pt x="245" y="295"/>
                    <a:pt x="245" y="295"/>
                  </a:cubicBezTo>
                  <a:cubicBezTo>
                    <a:pt x="245" y="266"/>
                    <a:pt x="245" y="266"/>
                    <a:pt x="245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95"/>
                    <a:pt x="201" y="295"/>
                    <a:pt x="201" y="295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3" y="182"/>
                    <a:pt x="43" y="182"/>
                    <a:pt x="43" y="182"/>
                  </a:cubicBezTo>
                  <a:cubicBezTo>
                    <a:pt x="43" y="175"/>
                    <a:pt x="49" y="169"/>
                    <a:pt x="57" y="169"/>
                  </a:cubicBezTo>
                  <a:close/>
                  <a:moveTo>
                    <a:pt x="689" y="594"/>
                  </a:moveTo>
                  <a:cubicBezTo>
                    <a:pt x="57" y="594"/>
                    <a:pt x="57" y="594"/>
                    <a:pt x="57" y="594"/>
                  </a:cubicBezTo>
                  <a:cubicBezTo>
                    <a:pt x="49" y="594"/>
                    <a:pt x="43" y="588"/>
                    <a:pt x="43" y="581"/>
                  </a:cubicBezTo>
                  <a:cubicBezTo>
                    <a:pt x="43" y="338"/>
                    <a:pt x="43" y="338"/>
                    <a:pt x="43" y="338"/>
                  </a:cubicBezTo>
                  <a:cubicBezTo>
                    <a:pt x="201" y="338"/>
                    <a:pt x="201" y="338"/>
                    <a:pt x="201" y="338"/>
                  </a:cubicBezTo>
                  <a:cubicBezTo>
                    <a:pt x="201" y="368"/>
                    <a:pt x="201" y="368"/>
                    <a:pt x="201" y="368"/>
                  </a:cubicBezTo>
                  <a:cubicBezTo>
                    <a:pt x="245" y="368"/>
                    <a:pt x="245" y="368"/>
                    <a:pt x="245" y="368"/>
                  </a:cubicBezTo>
                  <a:cubicBezTo>
                    <a:pt x="245" y="338"/>
                    <a:pt x="245" y="338"/>
                    <a:pt x="245" y="338"/>
                  </a:cubicBezTo>
                  <a:cubicBezTo>
                    <a:pt x="501" y="338"/>
                    <a:pt x="501" y="338"/>
                    <a:pt x="501" y="338"/>
                  </a:cubicBezTo>
                  <a:cubicBezTo>
                    <a:pt x="501" y="369"/>
                    <a:pt x="501" y="369"/>
                    <a:pt x="501" y="369"/>
                  </a:cubicBezTo>
                  <a:cubicBezTo>
                    <a:pt x="545" y="369"/>
                    <a:pt x="545" y="369"/>
                    <a:pt x="545" y="369"/>
                  </a:cubicBezTo>
                  <a:cubicBezTo>
                    <a:pt x="545" y="338"/>
                    <a:pt x="545" y="338"/>
                    <a:pt x="545" y="338"/>
                  </a:cubicBezTo>
                  <a:cubicBezTo>
                    <a:pt x="703" y="338"/>
                    <a:pt x="703" y="338"/>
                    <a:pt x="703" y="338"/>
                  </a:cubicBezTo>
                  <a:cubicBezTo>
                    <a:pt x="703" y="581"/>
                    <a:pt x="703" y="581"/>
                    <a:pt x="703" y="581"/>
                  </a:cubicBezTo>
                  <a:cubicBezTo>
                    <a:pt x="703" y="588"/>
                    <a:pt x="697" y="594"/>
                    <a:pt x="689" y="5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1078230" y="2497455"/>
            <a:ext cx="3417570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先利用传统统计方法和协议推断工具，形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成结构化证据，再由大模型进行语义解释，实现传统逆向方法与大模型的高效整合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17"/>
            </p:custDataLst>
          </p:nvPr>
        </p:nvSpPr>
        <p:spPr>
          <a:xfrm>
            <a:off x="1078230" y="4862195"/>
            <a:ext cx="3417570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只对可评估指标计算得分，对所有无法评估的指标显式标注为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not evaluable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，避免模型编造答案而造成错误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>
            <p:custDataLst>
              <p:tags r:id="rId18"/>
            </p:custDataLst>
          </p:nvPr>
        </p:nvGrpSpPr>
        <p:grpSpPr>
          <a:xfrm>
            <a:off x="7846695" y="2497455"/>
            <a:ext cx="3611880" cy="3343275"/>
            <a:chOff x="1577" y="3615"/>
            <a:chExt cx="5688" cy="5265"/>
          </a:xfrm>
        </p:grpSpPr>
        <p:sp>
          <p:nvSpPr>
            <p:cNvPr id="39" name="文本框 38"/>
            <p:cNvSpPr txBox="1"/>
            <p:nvPr>
              <p:custDataLst>
                <p:tags r:id="rId19"/>
              </p:custDataLst>
            </p:nvPr>
          </p:nvSpPr>
          <p:spPr>
            <a:xfrm>
              <a:off x="1577" y="3615"/>
              <a:ext cx="5688" cy="16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不强制要求所有字段都得到确定解释，允许</a:t>
              </a:r>
              <a:r>
                <a:rPr lang="en-US" altLang="zh-CN" sz="1400" dirty="0">
                  <a:solidFill>
                    <a:schemeClr val="tx1"/>
                  </a:solidFill>
                  <a:cs typeface="+mn-ea"/>
                  <a:sym typeface="+mn-lt"/>
                </a:rPr>
                <a:t>ACCEPTED</a:t>
              </a: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、</a:t>
              </a:r>
              <a:r>
                <a:rPr lang="en-US" altLang="zh-CN" sz="1400" dirty="0">
                  <a:solidFill>
                    <a:schemeClr val="tx1"/>
                  </a:solidFill>
                  <a:cs typeface="+mn-ea"/>
                  <a:sym typeface="+mn-lt"/>
                </a:rPr>
                <a:t>REJECTED</a:t>
              </a: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、</a:t>
              </a:r>
              <a:r>
                <a:rPr lang="en-US" altLang="zh-CN" sz="1400" dirty="0">
                  <a:solidFill>
                    <a:schemeClr val="tx1"/>
                  </a:solidFill>
                  <a:cs typeface="+mn-ea"/>
                  <a:sym typeface="+mn-lt"/>
                </a:rPr>
                <a:t>UNCERTAIN</a:t>
              </a:r>
              <a:r>
                <a:rPr lang="zh-CN" altLang="en-US" sz="1400" dirty="0">
                  <a:solidFill>
                    <a:schemeClr val="tx1"/>
                  </a:solidFill>
                  <a:cs typeface="+mn-ea"/>
                  <a:sym typeface="+mn-lt"/>
                </a:rPr>
                <a:t>三种结果并存，避免将模型自报结果判为事实</a:t>
              </a:r>
              <a:endParaRPr lang="en-US" altLang="zh-CN" sz="1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 rot="0">
              <a:off x="1577" y="6127"/>
              <a:ext cx="5382" cy="2753"/>
              <a:chOff x="1640" y="3559"/>
              <a:chExt cx="5738" cy="2753"/>
            </a:xfrm>
          </p:grpSpPr>
          <p:sp>
            <p:nvSpPr>
              <p:cNvPr id="42" name="文本框 41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640" y="4642"/>
                <a:ext cx="5738" cy="1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  <a:cs typeface="+mn-ea"/>
                    <a:sym typeface="+mn-lt"/>
                  </a:rPr>
                  <a:t>将生成的</a:t>
                </a:r>
                <a:r>
                  <a:rPr lang="en-US" altLang="zh-CN" sz="1400" dirty="0">
                    <a:solidFill>
                      <a:schemeClr val="tx1"/>
                    </a:solidFill>
                    <a:cs typeface="+mn-ea"/>
                    <a:sym typeface="+mn-lt"/>
                  </a:rPr>
                  <a:t>Kaitai Schema</a:t>
                </a:r>
                <a:r>
                  <a:rPr lang="zh-CN" altLang="en-US" sz="1400" dirty="0">
                    <a:solidFill>
                      <a:schemeClr val="tx1"/>
                    </a:solidFill>
                    <a:cs typeface="+mn-ea"/>
                    <a:sym typeface="+mn-lt"/>
                  </a:rPr>
                  <a:t>再次用于解析原始数据，当出现大量数据无法被解析时，说明前面假设可能存在问题，需退回修正</a:t>
                </a:r>
                <a:endParaRPr lang="zh-CN" altLang="en-US" sz="14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矩形 42"/>
              <p:cNvSpPr/>
              <p:nvPr>
                <p:custDataLst>
                  <p:tags r:id="rId21"/>
                </p:custDataLst>
              </p:nvPr>
            </p:nvSpPr>
            <p:spPr>
              <a:xfrm>
                <a:off x="2610" y="3559"/>
                <a:ext cx="3798" cy="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algn="ctr"/>
                <a:endParaRPr lang="zh-CN" altLang="en-US" sz="2000" dirty="0">
                  <a:solidFill>
                    <a:srgbClr val="1C56A6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4152265" y="1163320"/>
            <a:ext cx="3824605" cy="39814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Advantages and Characteristics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81425" y="548005"/>
            <a:ext cx="456565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项目创新与设计特点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>
            <p:custDataLst>
              <p:tags r:id="rId22"/>
            </p:custDataLst>
          </p:nvPr>
        </p:nvSpPr>
        <p:spPr>
          <a:xfrm>
            <a:off x="7846695" y="2070735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sz="2400" b="1" dirty="0">
                <a:solidFill>
                  <a:srgbClr val="2663A4"/>
                </a:solidFill>
                <a:cs typeface="+mn-ea"/>
                <a:sym typeface="+mn-lt"/>
              </a:rPr>
              <a:t>引入不确定性机制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>
            <p:custDataLst>
              <p:tags r:id="rId23"/>
            </p:custDataLst>
          </p:nvPr>
        </p:nvSpPr>
        <p:spPr>
          <a:xfrm>
            <a:off x="7846695" y="4319905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Schema</a:t>
            </a:r>
            <a:r>
              <a:rPr lang="zh-CN" altLang="en-US" sz="2400" b="1" dirty="0">
                <a:solidFill>
                  <a:srgbClr val="2663A4"/>
                </a:solidFill>
                <a:cs typeface="+mn-ea"/>
                <a:sym typeface="+mn-lt"/>
              </a:rPr>
              <a:t>反向验证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>
            <p:custDataLst>
              <p:tags r:id="rId24"/>
            </p:custDataLst>
          </p:nvPr>
        </p:nvSpPr>
        <p:spPr>
          <a:xfrm>
            <a:off x="946785" y="2070735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/>
            <a:r>
              <a:rPr lang="zh-CN" sz="2400" b="1" dirty="0">
                <a:solidFill>
                  <a:srgbClr val="2663A4"/>
                </a:solidFill>
                <a:cs typeface="+mn-ea"/>
                <a:sym typeface="+mn-lt"/>
              </a:rPr>
              <a:t>智能融合既有工具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25"/>
            </p:custDataLst>
          </p:nvPr>
        </p:nvSpPr>
        <p:spPr>
          <a:xfrm>
            <a:off x="946785" y="4319905"/>
            <a:ext cx="354901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r"/>
            <a:r>
              <a:rPr lang="zh-CN" sz="2400" b="1" dirty="0">
                <a:solidFill>
                  <a:srgbClr val="2663A4"/>
                </a:solidFill>
                <a:cs typeface="+mn-ea"/>
                <a:sym typeface="+mn-lt"/>
              </a:rPr>
              <a:t>智能融合既有工具</a:t>
            </a:r>
            <a:r>
              <a:rPr lang="en-US" altLang="zh-CN" sz="2400" b="1" dirty="0">
                <a:solidFill>
                  <a:srgbClr val="2663A4"/>
                </a:solidFill>
                <a:cs typeface="+mn-ea"/>
                <a:sym typeface="+mn-lt"/>
              </a:rPr>
              <a:t>   </a:t>
            </a:r>
            <a:endParaRPr lang="en-US" altLang="zh-CN" sz="2400" b="1" dirty="0">
              <a:solidFill>
                <a:srgbClr val="2663A4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32435" y="1536065"/>
            <a:ext cx="5709285" cy="4535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96000" y="1529715"/>
            <a:ext cx="5712460" cy="4535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7350" y="1530350"/>
            <a:ext cx="2162810" cy="9417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分析维度</a:t>
            </a:r>
            <a:endParaRPr lang="zh-CN" altLang="en-US" sz="28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50160" y="1529715"/>
            <a:ext cx="2554605" cy="8642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04130" y="1529715"/>
            <a:ext cx="3826510" cy="8648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30640" y="1530350"/>
            <a:ext cx="2870200" cy="8648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7350" y="2393950"/>
            <a:ext cx="2162810" cy="9036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结构发现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7350" y="3297555"/>
            <a:ext cx="2162810" cy="922655"/>
          </a:xfrm>
          <a:prstGeom prst="rect">
            <a:avLst/>
          </a:prstGeom>
          <a:solidFill>
            <a:srgbClr val="55BDE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语义解释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7350" y="4220210"/>
            <a:ext cx="2162810" cy="909955"/>
          </a:xfrm>
          <a:prstGeom prst="rect">
            <a:avLst/>
          </a:prstGeom>
          <a:solidFill>
            <a:srgbClr val="4CA7D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证据溯源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7350" y="5130165"/>
            <a:ext cx="2162810" cy="9417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加密流量分析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7350" y="1530350"/>
            <a:ext cx="76200" cy="4533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47315" y="1697990"/>
            <a:ext cx="2359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传统逆向工具</a:t>
            </a:r>
            <a:endParaRPr lang="zh-CN" altLang="en-US" sz="28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73960" y="2393950"/>
            <a:ext cx="2631440" cy="9036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强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73960" y="1530985"/>
            <a:ext cx="76200" cy="454088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50160" y="3297555"/>
            <a:ext cx="2555240" cy="922655"/>
          </a:xfrm>
          <a:prstGeom prst="rect">
            <a:avLst/>
          </a:prstGeom>
          <a:solidFill>
            <a:srgbClr val="55BDE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弱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550160" y="4220210"/>
            <a:ext cx="2554605" cy="909955"/>
          </a:xfrm>
          <a:prstGeom prst="rect">
            <a:avLst/>
          </a:prstGeom>
          <a:solidFill>
            <a:srgbClr val="4CA7D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部分可行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550160" y="5123815"/>
            <a:ext cx="2554605" cy="9544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部分支持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52515" y="1697990"/>
            <a:ext cx="20447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纯</a:t>
            </a:r>
            <a:r>
              <a:rPr lang="en-US" altLang="zh-CN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LLM</a:t>
            </a:r>
            <a:r>
              <a:rPr lang="zh-CN" alt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猜测</a:t>
            </a:r>
            <a:endParaRPr lang="zh-CN" altLang="en-US" sz="28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104130" y="2393950"/>
            <a:ext cx="3826510" cy="9036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弱，且不稳定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029200" y="1536065"/>
            <a:ext cx="76200" cy="454088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854440" y="1537335"/>
            <a:ext cx="76200" cy="454088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105400" y="3297555"/>
            <a:ext cx="3749040" cy="922655"/>
          </a:xfrm>
          <a:prstGeom prst="rect">
            <a:avLst/>
          </a:prstGeom>
          <a:solidFill>
            <a:srgbClr val="55BDE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较强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104765" y="4220210"/>
            <a:ext cx="3750310" cy="909955"/>
          </a:xfrm>
          <a:prstGeom prst="rect">
            <a:avLst/>
          </a:prstGeom>
          <a:solidFill>
            <a:srgbClr val="4CA7D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基本不可验证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104130" y="5130165"/>
            <a:ext cx="3750310" cy="9544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400" dirty="0">
                <a:latin typeface="黑体" panose="02010609060101010101" charset="-122"/>
                <a:ea typeface="黑体" panose="02010609060101010101" charset="-122"/>
              </a:rPr>
              <a:t>较弱</a:t>
            </a:r>
            <a:endParaRPr 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724640" y="1529715"/>
            <a:ext cx="76200" cy="4533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343390" y="1697990"/>
            <a:ext cx="20447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后端技术栈</a:t>
            </a:r>
            <a:endParaRPr lang="zh-CN" altLang="en-US" sz="28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931275" y="2393950"/>
            <a:ext cx="2793365" cy="9036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000" dirty="0">
                <a:latin typeface="黑体" panose="02010609060101010101" charset="-122"/>
                <a:ea typeface="黑体" panose="02010609060101010101" charset="-122"/>
              </a:rPr>
              <a:t>强</a:t>
            </a:r>
            <a:endParaRPr lang="zh-CN" sz="2000" dirty="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引入确定性算法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930640" y="3297555"/>
            <a:ext cx="2794000" cy="922655"/>
          </a:xfrm>
          <a:prstGeom prst="rect">
            <a:avLst/>
          </a:prstGeom>
          <a:solidFill>
            <a:srgbClr val="55BDE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强</a:t>
            </a:r>
            <a:endParaRPr lang="en-US" sz="2000" dirty="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sz="2000" dirty="0">
                <a:latin typeface="黑体" panose="02010609060101010101" charset="-122"/>
                <a:ea typeface="黑体" panose="02010609060101010101" charset="-122"/>
              </a:rPr>
              <a:t>且受证据约束</a:t>
            </a:r>
            <a:endParaRPr 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930640" y="4220210"/>
            <a:ext cx="2794000" cy="909955"/>
          </a:xfrm>
          <a:prstGeom prst="rect">
            <a:avLst/>
          </a:prstGeom>
          <a:solidFill>
            <a:srgbClr val="4CA7DE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可执行验证</a:t>
            </a:r>
            <a:endParaRPr lang="en-US" sz="2000" dirty="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证据图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932545" y="5130165"/>
            <a:ext cx="2792095" cy="9544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000" dirty="0">
                <a:latin typeface="黑体" panose="02010609060101010101" charset="-122"/>
                <a:ea typeface="黑体" panose="02010609060101010101" charset="-122"/>
              </a:rPr>
              <a:t>侧信道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+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规则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/RF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781425" y="548005"/>
            <a:ext cx="456565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项目创新与设计特点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52265" y="1163320"/>
            <a:ext cx="3824605" cy="39814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Advantages and Characteristics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2" grpId="0" bldLvl="0" animBg="1"/>
      <p:bldP spid="3" grpId="0" bldLvl="0" animBg="1"/>
      <p:bldP spid="5" grpId="0" bldLvl="0" animBg="1"/>
      <p:bldP spid="6" grpId="0" bldLvl="0" animBg="1"/>
      <p:bldP spid="7" grpId="0" bldLvl="0" animBg="1"/>
      <p:bldP spid="17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8" grpId="0" bldLvl="0" animBg="1"/>
      <p:bldP spid="4" grpId="0" bldLvl="0" animBg="1"/>
      <p:bldP spid="21" grpId="0" bldLvl="0" animBg="1"/>
      <p:bldP spid="24" grpId="0" bldLvl="0" animBg="1"/>
      <p:bldP spid="25" grpId="0" bldLvl="0" animBg="1"/>
      <p:bldP spid="32" grpId="0" bldLvl="0" animBg="1"/>
      <p:bldP spid="35" grpId="0" bldLvl="0" animBg="1"/>
      <p:bldP spid="22" grpId="0" bldLvl="0" animBg="1"/>
      <p:bldP spid="23" grpId="0" bldLvl="0" animBg="1"/>
      <p:bldP spid="26" grpId="0" bldLvl="0" animBg="1"/>
      <p:bldP spid="39" grpId="0" bldLvl="0" animBg="1"/>
      <p:bldP spid="40" grpId="0" bldLvl="0" animBg="1"/>
      <p:bldP spid="28" grpId="0" bldLvl="0" animBg="1"/>
      <p:bldP spid="29" grpId="0" bldLvl="0" animBg="1"/>
      <p:bldP spid="50" grpId="0" bldLvl="0" animBg="1"/>
      <p:bldP spid="5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2740" y="1532255"/>
            <a:ext cx="1365885" cy="785495"/>
            <a:chOff x="7767" y="2996"/>
            <a:chExt cx="2151" cy="1237"/>
          </a:xfrm>
          <a:solidFill>
            <a:srgbClr val="FACB85"/>
          </a:solidFill>
        </p:grpSpPr>
        <p:sp>
          <p:nvSpPr>
            <p:cNvPr id="7" name="椭圆 6"/>
            <p:cNvSpPr/>
            <p:nvPr/>
          </p:nvSpPr>
          <p:spPr>
            <a:xfrm>
              <a:off x="8224" y="2996"/>
              <a:ext cx="1237" cy="1237"/>
            </a:xfrm>
            <a:prstGeom prst="ellipse">
              <a:avLst/>
            </a:prstGeom>
            <a:solidFill>
              <a:srgbClr val="1C56A6"/>
            </a:solidFill>
            <a:ln w="9525"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8" name="文本框 9"/>
            <p:cNvSpPr txBox="1"/>
            <p:nvPr/>
          </p:nvSpPr>
          <p:spPr>
            <a:xfrm>
              <a:off x="7767" y="3140"/>
              <a:ext cx="2151" cy="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>
              <a:spAutoFit/>
            </a:bodyPr>
            <a:p>
              <a:pPr marL="0" lvl="1" algn="ctr"/>
              <a:r>
                <a:rPr lang="en-US" altLang="zh-CN" sz="36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3" name="图片 2" descr="d058ccbf6c81800ae2b41e68bf3533fa828b4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04775"/>
            <a:ext cx="3453130" cy="103632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9620250" y="6612890"/>
            <a:ext cx="2571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等线" panose="02010600030101010101" charset="-122"/>
                <a:ea typeface="等线" panose="02010600030101010101" charset="-122"/>
              </a:rPr>
              <a:t>2026  Project H.A.B.F.C  All Rights Reserved.</a:t>
            </a:r>
            <a:endParaRPr lang="zh-CN" altLang="en-US" sz="10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副标题 7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5" y="2512695"/>
            <a:ext cx="12191365" cy="103441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5400" b="1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项目总结</a:t>
            </a:r>
            <a:endParaRPr lang="zh-CN" altLang="en-US" sz="5400" b="1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3240600" y="3882136"/>
            <a:ext cx="5712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342640" y="4048760"/>
            <a:ext cx="5485765" cy="1060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■ 通过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”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三态决策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”(ACCEPTED/REJECTED/UNCERTAIN)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和证据图溯源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机制，系统在无标注盲式推断的条件下，能够如实表达并保留证据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 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汉仪君黑-45简" panose="020B0604020202020204" charset="-122"/>
              </a:rPr>
              <a:t>不足区域的不确定性，有效防止将未经验证的假设误判为最终结论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汉仪君黑-45简" panose="020B0604020202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4027170" y="3429000"/>
            <a:ext cx="4137025" cy="3638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Summary and Conclusion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 rot="0">
            <a:off x="5477979" y="2145665"/>
            <a:ext cx="2098146" cy="1964690"/>
            <a:chOff x="2781" y="4205"/>
            <a:chExt cx="4679" cy="3094"/>
          </a:xfrm>
        </p:grpSpPr>
        <p:sp>
          <p:nvSpPr>
            <p:cNvPr id="18" name="文本框 17"/>
            <p:cNvSpPr txBox="1"/>
            <p:nvPr>
              <p:custDataLst>
                <p:tags r:id="rId2"/>
              </p:custDataLst>
            </p:nvPr>
          </p:nvSpPr>
          <p:spPr>
            <a:xfrm>
              <a:off x="2781" y="5411"/>
              <a:ext cx="4679" cy="1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sz="1200" dirty="0">
                  <a:solidFill>
                    <a:schemeClr val="tx1"/>
                  </a:solidFill>
                  <a:cs typeface="+mn-ea"/>
                  <a:sym typeface="+mn-lt"/>
                </a:rPr>
                <a:t>补充具备字段边界、字段语义和完整还原消息独立标注的公开语料，扩展行为分类的样本规模</a:t>
              </a:r>
              <a:endParaRPr lang="zh-CN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3"/>
              </p:custDataLst>
            </p:nvPr>
          </p:nvSpPr>
          <p:spPr>
            <a:xfrm>
              <a:off x="3216" y="4205"/>
              <a:ext cx="3798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b="1" dirty="0">
                  <a:solidFill>
                    <a:srgbClr val="2663A4"/>
                  </a:solidFill>
                  <a:cs typeface="+mn-ea"/>
                  <a:sym typeface="+mn-lt"/>
                </a:rPr>
                <a:t>扩充高质量标注数据集</a:t>
              </a:r>
              <a:endParaRPr lang="zh-CN" altLang="en-US" b="1" dirty="0">
                <a:solidFill>
                  <a:srgbClr val="2663A4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4"/>
            </p:custDataLst>
          </p:nvPr>
        </p:nvGrpSpPr>
        <p:grpSpPr>
          <a:xfrm rot="0">
            <a:off x="823143" y="3424555"/>
            <a:ext cx="2138055" cy="2398395"/>
            <a:chOff x="2027" y="3749"/>
            <a:chExt cx="4768" cy="3777"/>
          </a:xfrm>
        </p:grpSpPr>
        <p:sp>
          <p:nvSpPr>
            <p:cNvPr id="21" name="文本框 20"/>
            <p:cNvSpPr txBox="1"/>
            <p:nvPr>
              <p:custDataLst>
                <p:tags r:id="rId5"/>
              </p:custDataLst>
            </p:nvPr>
          </p:nvSpPr>
          <p:spPr>
            <a:xfrm>
              <a:off x="2027" y="4765"/>
              <a:ext cx="4768" cy="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围绕更强健的自动帧界定，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突破盲视推断对变长报文和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复杂协议推广能力的限制；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引入协议状态机推断，将分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析维度从单包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/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静态结构解析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延伸至上下文动态交互时序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6"/>
              </p:custDataLst>
            </p:nvPr>
          </p:nvSpPr>
          <p:spPr>
            <a:xfrm>
              <a:off x="2412" y="3749"/>
              <a:ext cx="3996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b="1" dirty="0">
                  <a:solidFill>
                    <a:srgbClr val="2663A4"/>
                  </a:solidFill>
                  <a:cs typeface="+mn-ea"/>
                  <a:sym typeface="+mn-lt"/>
                </a:rPr>
                <a:t>升级协议解析与结构推断能力</a:t>
              </a:r>
              <a:endParaRPr lang="zh-CN" altLang="en-US" b="1" dirty="0">
                <a:solidFill>
                  <a:srgbClr val="2663A4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7"/>
            </p:custDataLst>
          </p:nvPr>
        </p:nvGrpSpPr>
        <p:grpSpPr>
          <a:xfrm rot="0">
            <a:off x="8087036" y="3133725"/>
            <a:ext cx="2129983" cy="1836420"/>
            <a:chOff x="1298" y="2515"/>
            <a:chExt cx="4750" cy="2892"/>
          </a:xfrm>
        </p:grpSpPr>
        <p:sp>
          <p:nvSpPr>
            <p:cNvPr id="27" name="文本框 26"/>
            <p:cNvSpPr txBox="1"/>
            <p:nvPr>
              <p:custDataLst>
                <p:tags r:id="rId8"/>
              </p:custDataLst>
            </p:nvPr>
          </p:nvSpPr>
          <p:spPr>
            <a:xfrm>
              <a:off x="1298" y="3519"/>
              <a:ext cx="4750" cy="1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开展跨数据集泛化试验，并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在更大规模、更多样化的受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控数据集上，进一步检验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EvidenceGraph-PRE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的可靠性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9"/>
              </p:custDataLst>
            </p:nvPr>
          </p:nvSpPr>
          <p:spPr>
            <a:xfrm>
              <a:off x="1647" y="2515"/>
              <a:ext cx="3798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b="1" dirty="0">
                  <a:solidFill>
                    <a:srgbClr val="2663A4"/>
                  </a:solidFill>
                  <a:cs typeface="+mn-ea"/>
                  <a:sym typeface="+mn-lt"/>
                </a:rPr>
                <a:t>开展跨数据集泛化验证</a:t>
              </a:r>
              <a:endParaRPr lang="zh-CN" altLang="en-US" b="1" dirty="0">
                <a:solidFill>
                  <a:srgbClr val="2663A4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10"/>
            </p:custDataLst>
          </p:nvPr>
        </p:nvGrpSpPr>
        <p:grpSpPr>
          <a:xfrm>
            <a:off x="1141730" y="2301875"/>
            <a:ext cx="10448925" cy="2853690"/>
            <a:chOff x="2257" y="2600"/>
            <a:chExt cx="15996" cy="4335"/>
          </a:xfrm>
        </p:grpSpPr>
        <p:grpSp>
          <p:nvGrpSpPr>
            <p:cNvPr id="7" name="组合 6"/>
            <p:cNvGrpSpPr/>
            <p:nvPr/>
          </p:nvGrpSpPr>
          <p:grpSpPr>
            <a:xfrm>
              <a:off x="2257" y="2600"/>
              <a:ext cx="15996" cy="4335"/>
              <a:chOff x="1680" y="2820"/>
              <a:chExt cx="18189" cy="4929"/>
            </a:xfrm>
          </p:grpSpPr>
          <p:sp>
            <p:nvSpPr>
              <p:cNvPr id="3" name="Freeform 5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1680" y="3442"/>
                <a:ext cx="18189" cy="3689"/>
              </a:xfrm>
              <a:custGeom>
                <a:avLst/>
                <a:gdLst>
                  <a:gd name="T0" fmla="*/ 2912 w 19008"/>
                  <a:gd name="T1" fmla="*/ 735 h 5162"/>
                  <a:gd name="T2" fmla="*/ 3095 w 19008"/>
                  <a:gd name="T3" fmla="*/ 778 h 5162"/>
                  <a:gd name="T4" fmla="*/ 3258 w 19008"/>
                  <a:gd name="T5" fmla="*/ 861 h 5162"/>
                  <a:gd name="T6" fmla="*/ 3396 w 19008"/>
                  <a:gd name="T7" fmla="*/ 980 h 5162"/>
                  <a:gd name="T8" fmla="*/ 3501 w 19008"/>
                  <a:gd name="T9" fmla="*/ 1129 h 5162"/>
                  <a:gd name="T10" fmla="*/ 3569 w 19008"/>
                  <a:gd name="T11" fmla="*/ 1302 h 5162"/>
                  <a:gd name="T12" fmla="*/ 3593 w 19008"/>
                  <a:gd name="T13" fmla="*/ 1491 h 5162"/>
                  <a:gd name="T14" fmla="*/ 3602 w 19008"/>
                  <a:gd name="T15" fmla="*/ 2479 h 5162"/>
                  <a:gd name="T16" fmla="*/ 3652 w 19008"/>
                  <a:gd name="T17" fmla="*/ 2659 h 5162"/>
                  <a:gd name="T18" fmla="*/ 3744 w 19008"/>
                  <a:gd name="T19" fmla="*/ 2818 h 5162"/>
                  <a:gd name="T20" fmla="*/ 3870 w 19008"/>
                  <a:gd name="T21" fmla="*/ 2949 h 5162"/>
                  <a:gd name="T22" fmla="*/ 4023 w 19008"/>
                  <a:gd name="T23" fmla="*/ 3048 h 5162"/>
                  <a:gd name="T24" fmla="*/ 4199 w 19008"/>
                  <a:gd name="T25" fmla="*/ 3108 h 5162"/>
                  <a:gd name="T26" fmla="*/ 6853 w 19008"/>
                  <a:gd name="T27" fmla="*/ 3123 h 5162"/>
                  <a:gd name="T28" fmla="*/ 7006 w 19008"/>
                  <a:gd name="T29" fmla="*/ 3138 h 5162"/>
                  <a:gd name="T30" fmla="*/ 7182 w 19008"/>
                  <a:gd name="T31" fmla="*/ 3197 h 5162"/>
                  <a:gd name="T32" fmla="*/ 7335 w 19008"/>
                  <a:gd name="T33" fmla="*/ 3296 h 5162"/>
                  <a:gd name="T34" fmla="*/ 7461 w 19008"/>
                  <a:gd name="T35" fmla="*/ 3427 h 5162"/>
                  <a:gd name="T36" fmla="*/ 7553 w 19008"/>
                  <a:gd name="T37" fmla="*/ 3587 h 5162"/>
                  <a:gd name="T38" fmla="*/ 7603 w 19008"/>
                  <a:gd name="T39" fmla="*/ 3766 h 5162"/>
                  <a:gd name="T40" fmla="*/ 7612 w 19008"/>
                  <a:gd name="T41" fmla="*/ 4402 h 5162"/>
                  <a:gd name="T42" fmla="*/ 7636 w 19008"/>
                  <a:gd name="T43" fmla="*/ 4592 h 5162"/>
                  <a:gd name="T44" fmla="*/ 7704 w 19008"/>
                  <a:gd name="T45" fmla="*/ 4764 h 5162"/>
                  <a:gd name="T46" fmla="*/ 7809 w 19008"/>
                  <a:gd name="T47" fmla="*/ 4912 h 5162"/>
                  <a:gd name="T48" fmla="*/ 7946 w 19008"/>
                  <a:gd name="T49" fmla="*/ 5032 h 5162"/>
                  <a:gd name="T50" fmla="*/ 8109 w 19008"/>
                  <a:gd name="T51" fmla="*/ 5115 h 5162"/>
                  <a:gd name="T52" fmla="*/ 8293 w 19008"/>
                  <a:gd name="T53" fmla="*/ 5157 h 5162"/>
                  <a:gd name="T54" fmla="*/ 11512 w 19008"/>
                  <a:gd name="T55" fmla="*/ 5161 h 5162"/>
                  <a:gd name="T56" fmla="*/ 11698 w 19008"/>
                  <a:gd name="T57" fmla="*/ 5127 h 5162"/>
                  <a:gd name="T58" fmla="*/ 11867 w 19008"/>
                  <a:gd name="T59" fmla="*/ 5051 h 5162"/>
                  <a:gd name="T60" fmla="*/ 12010 w 19008"/>
                  <a:gd name="T61" fmla="*/ 4939 h 5162"/>
                  <a:gd name="T62" fmla="*/ 12123 w 19008"/>
                  <a:gd name="T63" fmla="*/ 4795 h 5162"/>
                  <a:gd name="T64" fmla="*/ 12198 w 19008"/>
                  <a:gd name="T65" fmla="*/ 4628 h 5162"/>
                  <a:gd name="T66" fmla="*/ 12231 w 19008"/>
                  <a:gd name="T67" fmla="*/ 4441 h 5162"/>
                  <a:gd name="T68" fmla="*/ 12236 w 19008"/>
                  <a:gd name="T69" fmla="*/ 682 h 5162"/>
                  <a:gd name="T70" fmla="*/ 12278 w 19008"/>
                  <a:gd name="T71" fmla="*/ 498 h 5162"/>
                  <a:gd name="T72" fmla="*/ 12362 w 19008"/>
                  <a:gd name="T73" fmla="*/ 335 h 5162"/>
                  <a:gd name="T74" fmla="*/ 12480 w 19008"/>
                  <a:gd name="T75" fmla="*/ 197 h 5162"/>
                  <a:gd name="T76" fmla="*/ 12629 w 19008"/>
                  <a:gd name="T77" fmla="*/ 92 h 5162"/>
                  <a:gd name="T78" fmla="*/ 12802 w 19008"/>
                  <a:gd name="T79" fmla="*/ 24 h 5162"/>
                  <a:gd name="T80" fmla="*/ 12991 w 19008"/>
                  <a:gd name="T81" fmla="*/ 0 h 5162"/>
                  <a:gd name="T82" fmla="*/ 15729 w 19008"/>
                  <a:gd name="T83" fmla="*/ 9 h 5162"/>
                  <a:gd name="T84" fmla="*/ 15908 w 19008"/>
                  <a:gd name="T85" fmla="*/ 59 h 5162"/>
                  <a:gd name="T86" fmla="*/ 16067 w 19008"/>
                  <a:gd name="T87" fmla="*/ 151 h 5162"/>
                  <a:gd name="T88" fmla="*/ 16199 w 19008"/>
                  <a:gd name="T89" fmla="*/ 276 h 5162"/>
                  <a:gd name="T90" fmla="*/ 16298 w 19008"/>
                  <a:gd name="T91" fmla="*/ 430 h 5162"/>
                  <a:gd name="T92" fmla="*/ 16357 w 19008"/>
                  <a:gd name="T93" fmla="*/ 606 h 5162"/>
                  <a:gd name="T94" fmla="*/ 16372 w 19008"/>
                  <a:gd name="T95" fmla="*/ 1689 h 5162"/>
                  <a:gd name="T96" fmla="*/ 16387 w 19008"/>
                  <a:gd name="T97" fmla="*/ 1842 h 5162"/>
                  <a:gd name="T98" fmla="*/ 16446 w 19008"/>
                  <a:gd name="T99" fmla="*/ 2018 h 5162"/>
                  <a:gd name="T100" fmla="*/ 16546 w 19008"/>
                  <a:gd name="T101" fmla="*/ 2171 h 5162"/>
                  <a:gd name="T102" fmla="*/ 16677 w 19008"/>
                  <a:gd name="T103" fmla="*/ 2297 h 5162"/>
                  <a:gd name="T104" fmla="*/ 16836 w 19008"/>
                  <a:gd name="T105" fmla="*/ 2388 h 5162"/>
                  <a:gd name="T106" fmla="*/ 17015 w 19008"/>
                  <a:gd name="T107" fmla="*/ 2439 h 5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008" h="5162">
                    <a:moveTo>
                      <a:pt x="0" y="732"/>
                    </a:moveTo>
                    <a:lnTo>
                      <a:pt x="2834" y="732"/>
                    </a:lnTo>
                    <a:lnTo>
                      <a:pt x="2834" y="732"/>
                    </a:lnTo>
                    <a:lnTo>
                      <a:pt x="2873" y="733"/>
                    </a:lnTo>
                    <a:lnTo>
                      <a:pt x="2912" y="735"/>
                    </a:lnTo>
                    <a:lnTo>
                      <a:pt x="2950" y="741"/>
                    </a:lnTo>
                    <a:lnTo>
                      <a:pt x="2987" y="747"/>
                    </a:lnTo>
                    <a:lnTo>
                      <a:pt x="3023" y="756"/>
                    </a:lnTo>
                    <a:lnTo>
                      <a:pt x="3059" y="766"/>
                    </a:lnTo>
                    <a:lnTo>
                      <a:pt x="3095" y="778"/>
                    </a:lnTo>
                    <a:lnTo>
                      <a:pt x="3129" y="791"/>
                    </a:lnTo>
                    <a:lnTo>
                      <a:pt x="3163" y="806"/>
                    </a:lnTo>
                    <a:lnTo>
                      <a:pt x="3196" y="824"/>
                    </a:lnTo>
                    <a:lnTo>
                      <a:pt x="3228" y="841"/>
                    </a:lnTo>
                    <a:lnTo>
                      <a:pt x="3258" y="861"/>
                    </a:lnTo>
                    <a:lnTo>
                      <a:pt x="3288" y="883"/>
                    </a:lnTo>
                    <a:lnTo>
                      <a:pt x="3316" y="905"/>
                    </a:lnTo>
                    <a:lnTo>
                      <a:pt x="3345" y="929"/>
                    </a:lnTo>
                    <a:lnTo>
                      <a:pt x="3371" y="954"/>
                    </a:lnTo>
                    <a:lnTo>
                      <a:pt x="3396" y="980"/>
                    </a:lnTo>
                    <a:lnTo>
                      <a:pt x="3419" y="1008"/>
                    </a:lnTo>
                    <a:lnTo>
                      <a:pt x="3442" y="1037"/>
                    </a:lnTo>
                    <a:lnTo>
                      <a:pt x="3463" y="1067"/>
                    </a:lnTo>
                    <a:lnTo>
                      <a:pt x="3483" y="1097"/>
                    </a:lnTo>
                    <a:lnTo>
                      <a:pt x="3501" y="1129"/>
                    </a:lnTo>
                    <a:lnTo>
                      <a:pt x="3518" y="1162"/>
                    </a:lnTo>
                    <a:lnTo>
                      <a:pt x="3533" y="1196"/>
                    </a:lnTo>
                    <a:lnTo>
                      <a:pt x="3547" y="1230"/>
                    </a:lnTo>
                    <a:lnTo>
                      <a:pt x="3559" y="1266"/>
                    </a:lnTo>
                    <a:lnTo>
                      <a:pt x="3569" y="1302"/>
                    </a:lnTo>
                    <a:lnTo>
                      <a:pt x="3578" y="1338"/>
                    </a:lnTo>
                    <a:lnTo>
                      <a:pt x="3584" y="1375"/>
                    </a:lnTo>
                    <a:lnTo>
                      <a:pt x="3589" y="1413"/>
                    </a:lnTo>
                    <a:lnTo>
                      <a:pt x="3592" y="1452"/>
                    </a:lnTo>
                    <a:lnTo>
                      <a:pt x="3593" y="1491"/>
                    </a:lnTo>
                    <a:lnTo>
                      <a:pt x="3593" y="2364"/>
                    </a:lnTo>
                    <a:lnTo>
                      <a:pt x="3593" y="2364"/>
                    </a:lnTo>
                    <a:lnTo>
                      <a:pt x="3594" y="2402"/>
                    </a:lnTo>
                    <a:lnTo>
                      <a:pt x="3597" y="2442"/>
                    </a:lnTo>
                    <a:lnTo>
                      <a:pt x="3602" y="2479"/>
                    </a:lnTo>
                    <a:lnTo>
                      <a:pt x="3608" y="2516"/>
                    </a:lnTo>
                    <a:lnTo>
                      <a:pt x="3617" y="2553"/>
                    </a:lnTo>
                    <a:lnTo>
                      <a:pt x="3627" y="2589"/>
                    </a:lnTo>
                    <a:lnTo>
                      <a:pt x="3639" y="2624"/>
                    </a:lnTo>
                    <a:lnTo>
                      <a:pt x="3652" y="2659"/>
                    </a:lnTo>
                    <a:lnTo>
                      <a:pt x="3668" y="2692"/>
                    </a:lnTo>
                    <a:lnTo>
                      <a:pt x="3685" y="2725"/>
                    </a:lnTo>
                    <a:lnTo>
                      <a:pt x="3703" y="2757"/>
                    </a:lnTo>
                    <a:lnTo>
                      <a:pt x="3722" y="2788"/>
                    </a:lnTo>
                    <a:lnTo>
                      <a:pt x="3744" y="2818"/>
                    </a:lnTo>
                    <a:lnTo>
                      <a:pt x="3766" y="2846"/>
                    </a:lnTo>
                    <a:lnTo>
                      <a:pt x="3790" y="2874"/>
                    </a:lnTo>
                    <a:lnTo>
                      <a:pt x="3815" y="2900"/>
                    </a:lnTo>
                    <a:lnTo>
                      <a:pt x="3841" y="2925"/>
                    </a:lnTo>
                    <a:lnTo>
                      <a:pt x="3870" y="2949"/>
                    </a:lnTo>
                    <a:lnTo>
                      <a:pt x="3898" y="2972"/>
                    </a:lnTo>
                    <a:lnTo>
                      <a:pt x="3928" y="2993"/>
                    </a:lnTo>
                    <a:lnTo>
                      <a:pt x="3958" y="3013"/>
                    </a:lnTo>
                    <a:lnTo>
                      <a:pt x="3990" y="3031"/>
                    </a:lnTo>
                    <a:lnTo>
                      <a:pt x="4023" y="3048"/>
                    </a:lnTo>
                    <a:lnTo>
                      <a:pt x="4057" y="3063"/>
                    </a:lnTo>
                    <a:lnTo>
                      <a:pt x="4091" y="3077"/>
                    </a:lnTo>
                    <a:lnTo>
                      <a:pt x="4127" y="3088"/>
                    </a:lnTo>
                    <a:lnTo>
                      <a:pt x="4163" y="3099"/>
                    </a:lnTo>
                    <a:lnTo>
                      <a:pt x="4199" y="3108"/>
                    </a:lnTo>
                    <a:lnTo>
                      <a:pt x="4236" y="3114"/>
                    </a:lnTo>
                    <a:lnTo>
                      <a:pt x="4275" y="3119"/>
                    </a:lnTo>
                    <a:lnTo>
                      <a:pt x="4313" y="3122"/>
                    </a:lnTo>
                    <a:lnTo>
                      <a:pt x="4352" y="3123"/>
                    </a:lnTo>
                    <a:lnTo>
                      <a:pt x="6853" y="3123"/>
                    </a:lnTo>
                    <a:lnTo>
                      <a:pt x="6853" y="3123"/>
                    </a:lnTo>
                    <a:lnTo>
                      <a:pt x="6892" y="3124"/>
                    </a:lnTo>
                    <a:lnTo>
                      <a:pt x="6930" y="3126"/>
                    </a:lnTo>
                    <a:lnTo>
                      <a:pt x="6969" y="3132"/>
                    </a:lnTo>
                    <a:lnTo>
                      <a:pt x="7006" y="3138"/>
                    </a:lnTo>
                    <a:lnTo>
                      <a:pt x="7042" y="3146"/>
                    </a:lnTo>
                    <a:lnTo>
                      <a:pt x="7078" y="3157"/>
                    </a:lnTo>
                    <a:lnTo>
                      <a:pt x="7114" y="3169"/>
                    </a:lnTo>
                    <a:lnTo>
                      <a:pt x="7148" y="3182"/>
                    </a:lnTo>
                    <a:lnTo>
                      <a:pt x="7182" y="3197"/>
                    </a:lnTo>
                    <a:lnTo>
                      <a:pt x="7215" y="3214"/>
                    </a:lnTo>
                    <a:lnTo>
                      <a:pt x="7246" y="3232"/>
                    </a:lnTo>
                    <a:lnTo>
                      <a:pt x="7277" y="3252"/>
                    </a:lnTo>
                    <a:lnTo>
                      <a:pt x="7307" y="3274"/>
                    </a:lnTo>
                    <a:lnTo>
                      <a:pt x="7335" y="3296"/>
                    </a:lnTo>
                    <a:lnTo>
                      <a:pt x="7363" y="3320"/>
                    </a:lnTo>
                    <a:lnTo>
                      <a:pt x="7390" y="3345"/>
                    </a:lnTo>
                    <a:lnTo>
                      <a:pt x="7415" y="3371"/>
                    </a:lnTo>
                    <a:lnTo>
                      <a:pt x="7439" y="3399"/>
                    </a:lnTo>
                    <a:lnTo>
                      <a:pt x="7461" y="3427"/>
                    </a:lnTo>
                    <a:lnTo>
                      <a:pt x="7483" y="3458"/>
                    </a:lnTo>
                    <a:lnTo>
                      <a:pt x="7502" y="3488"/>
                    </a:lnTo>
                    <a:lnTo>
                      <a:pt x="7520" y="3520"/>
                    </a:lnTo>
                    <a:lnTo>
                      <a:pt x="7537" y="3553"/>
                    </a:lnTo>
                    <a:lnTo>
                      <a:pt x="7553" y="3587"/>
                    </a:lnTo>
                    <a:lnTo>
                      <a:pt x="7566" y="3621"/>
                    </a:lnTo>
                    <a:lnTo>
                      <a:pt x="7578" y="3656"/>
                    </a:lnTo>
                    <a:lnTo>
                      <a:pt x="7588" y="3692"/>
                    </a:lnTo>
                    <a:lnTo>
                      <a:pt x="7596" y="3729"/>
                    </a:lnTo>
                    <a:lnTo>
                      <a:pt x="7603" y="3766"/>
                    </a:lnTo>
                    <a:lnTo>
                      <a:pt x="7607" y="3804"/>
                    </a:lnTo>
                    <a:lnTo>
                      <a:pt x="7611" y="3843"/>
                    </a:lnTo>
                    <a:lnTo>
                      <a:pt x="7612" y="3882"/>
                    </a:lnTo>
                    <a:lnTo>
                      <a:pt x="7612" y="4402"/>
                    </a:lnTo>
                    <a:lnTo>
                      <a:pt x="7612" y="4402"/>
                    </a:lnTo>
                    <a:lnTo>
                      <a:pt x="7613" y="4441"/>
                    </a:lnTo>
                    <a:lnTo>
                      <a:pt x="7616" y="4479"/>
                    </a:lnTo>
                    <a:lnTo>
                      <a:pt x="7620" y="4518"/>
                    </a:lnTo>
                    <a:lnTo>
                      <a:pt x="7627" y="4555"/>
                    </a:lnTo>
                    <a:lnTo>
                      <a:pt x="7636" y="4592"/>
                    </a:lnTo>
                    <a:lnTo>
                      <a:pt x="7646" y="4628"/>
                    </a:lnTo>
                    <a:lnTo>
                      <a:pt x="7658" y="4663"/>
                    </a:lnTo>
                    <a:lnTo>
                      <a:pt x="7672" y="4698"/>
                    </a:lnTo>
                    <a:lnTo>
                      <a:pt x="7687" y="4731"/>
                    </a:lnTo>
                    <a:lnTo>
                      <a:pt x="7704" y="4764"/>
                    </a:lnTo>
                    <a:lnTo>
                      <a:pt x="7722" y="4795"/>
                    </a:lnTo>
                    <a:lnTo>
                      <a:pt x="7742" y="4827"/>
                    </a:lnTo>
                    <a:lnTo>
                      <a:pt x="7763" y="4857"/>
                    </a:lnTo>
                    <a:lnTo>
                      <a:pt x="7786" y="4885"/>
                    </a:lnTo>
                    <a:lnTo>
                      <a:pt x="7809" y="4912"/>
                    </a:lnTo>
                    <a:lnTo>
                      <a:pt x="7834" y="4939"/>
                    </a:lnTo>
                    <a:lnTo>
                      <a:pt x="7860" y="4964"/>
                    </a:lnTo>
                    <a:lnTo>
                      <a:pt x="7888" y="4988"/>
                    </a:lnTo>
                    <a:lnTo>
                      <a:pt x="7917" y="5011"/>
                    </a:lnTo>
                    <a:lnTo>
                      <a:pt x="7946" y="5032"/>
                    </a:lnTo>
                    <a:lnTo>
                      <a:pt x="7977" y="5051"/>
                    </a:lnTo>
                    <a:lnTo>
                      <a:pt x="8009" y="5070"/>
                    </a:lnTo>
                    <a:lnTo>
                      <a:pt x="8042" y="5086"/>
                    </a:lnTo>
                    <a:lnTo>
                      <a:pt x="8076" y="5102"/>
                    </a:lnTo>
                    <a:lnTo>
                      <a:pt x="8109" y="5115"/>
                    </a:lnTo>
                    <a:lnTo>
                      <a:pt x="8146" y="5127"/>
                    </a:lnTo>
                    <a:lnTo>
                      <a:pt x="8182" y="5138"/>
                    </a:lnTo>
                    <a:lnTo>
                      <a:pt x="8218" y="5145"/>
                    </a:lnTo>
                    <a:lnTo>
                      <a:pt x="8255" y="5153"/>
                    </a:lnTo>
                    <a:lnTo>
                      <a:pt x="8293" y="5157"/>
                    </a:lnTo>
                    <a:lnTo>
                      <a:pt x="8331" y="5161"/>
                    </a:lnTo>
                    <a:lnTo>
                      <a:pt x="8371" y="5162"/>
                    </a:lnTo>
                    <a:lnTo>
                      <a:pt x="11473" y="5162"/>
                    </a:lnTo>
                    <a:lnTo>
                      <a:pt x="11473" y="5162"/>
                    </a:lnTo>
                    <a:lnTo>
                      <a:pt x="11512" y="5161"/>
                    </a:lnTo>
                    <a:lnTo>
                      <a:pt x="11550" y="5157"/>
                    </a:lnTo>
                    <a:lnTo>
                      <a:pt x="11589" y="5153"/>
                    </a:lnTo>
                    <a:lnTo>
                      <a:pt x="11626" y="5145"/>
                    </a:lnTo>
                    <a:lnTo>
                      <a:pt x="11662" y="5138"/>
                    </a:lnTo>
                    <a:lnTo>
                      <a:pt x="11698" y="5127"/>
                    </a:lnTo>
                    <a:lnTo>
                      <a:pt x="11734" y="5115"/>
                    </a:lnTo>
                    <a:lnTo>
                      <a:pt x="11768" y="5102"/>
                    </a:lnTo>
                    <a:lnTo>
                      <a:pt x="11802" y="5086"/>
                    </a:lnTo>
                    <a:lnTo>
                      <a:pt x="11835" y="5070"/>
                    </a:lnTo>
                    <a:lnTo>
                      <a:pt x="11867" y="5051"/>
                    </a:lnTo>
                    <a:lnTo>
                      <a:pt x="11897" y="5032"/>
                    </a:lnTo>
                    <a:lnTo>
                      <a:pt x="11927" y="5011"/>
                    </a:lnTo>
                    <a:lnTo>
                      <a:pt x="11955" y="4988"/>
                    </a:lnTo>
                    <a:lnTo>
                      <a:pt x="11984" y="4964"/>
                    </a:lnTo>
                    <a:lnTo>
                      <a:pt x="12010" y="4939"/>
                    </a:lnTo>
                    <a:lnTo>
                      <a:pt x="12035" y="4912"/>
                    </a:lnTo>
                    <a:lnTo>
                      <a:pt x="12059" y="4885"/>
                    </a:lnTo>
                    <a:lnTo>
                      <a:pt x="12081" y="4857"/>
                    </a:lnTo>
                    <a:lnTo>
                      <a:pt x="12102" y="4827"/>
                    </a:lnTo>
                    <a:lnTo>
                      <a:pt x="12123" y="4795"/>
                    </a:lnTo>
                    <a:lnTo>
                      <a:pt x="12140" y="4764"/>
                    </a:lnTo>
                    <a:lnTo>
                      <a:pt x="12158" y="4731"/>
                    </a:lnTo>
                    <a:lnTo>
                      <a:pt x="12172" y="4698"/>
                    </a:lnTo>
                    <a:lnTo>
                      <a:pt x="12186" y="4663"/>
                    </a:lnTo>
                    <a:lnTo>
                      <a:pt x="12198" y="4628"/>
                    </a:lnTo>
                    <a:lnTo>
                      <a:pt x="12208" y="4592"/>
                    </a:lnTo>
                    <a:lnTo>
                      <a:pt x="12217" y="4555"/>
                    </a:lnTo>
                    <a:lnTo>
                      <a:pt x="12223" y="4518"/>
                    </a:lnTo>
                    <a:lnTo>
                      <a:pt x="12228" y="4479"/>
                    </a:lnTo>
                    <a:lnTo>
                      <a:pt x="12231" y="4441"/>
                    </a:lnTo>
                    <a:lnTo>
                      <a:pt x="12232" y="4402"/>
                    </a:lnTo>
                    <a:lnTo>
                      <a:pt x="12232" y="759"/>
                    </a:lnTo>
                    <a:lnTo>
                      <a:pt x="12232" y="759"/>
                    </a:lnTo>
                    <a:lnTo>
                      <a:pt x="12233" y="720"/>
                    </a:lnTo>
                    <a:lnTo>
                      <a:pt x="12236" y="682"/>
                    </a:lnTo>
                    <a:lnTo>
                      <a:pt x="12241" y="643"/>
                    </a:lnTo>
                    <a:lnTo>
                      <a:pt x="12247" y="606"/>
                    </a:lnTo>
                    <a:lnTo>
                      <a:pt x="12256" y="570"/>
                    </a:lnTo>
                    <a:lnTo>
                      <a:pt x="12266" y="534"/>
                    </a:lnTo>
                    <a:lnTo>
                      <a:pt x="12278" y="498"/>
                    </a:lnTo>
                    <a:lnTo>
                      <a:pt x="12292" y="464"/>
                    </a:lnTo>
                    <a:lnTo>
                      <a:pt x="12306" y="430"/>
                    </a:lnTo>
                    <a:lnTo>
                      <a:pt x="12324" y="397"/>
                    </a:lnTo>
                    <a:lnTo>
                      <a:pt x="12341" y="366"/>
                    </a:lnTo>
                    <a:lnTo>
                      <a:pt x="12362" y="335"/>
                    </a:lnTo>
                    <a:lnTo>
                      <a:pt x="12383" y="305"/>
                    </a:lnTo>
                    <a:lnTo>
                      <a:pt x="12405" y="276"/>
                    </a:lnTo>
                    <a:lnTo>
                      <a:pt x="12429" y="248"/>
                    </a:lnTo>
                    <a:lnTo>
                      <a:pt x="12454" y="222"/>
                    </a:lnTo>
                    <a:lnTo>
                      <a:pt x="12480" y="197"/>
                    </a:lnTo>
                    <a:lnTo>
                      <a:pt x="12509" y="173"/>
                    </a:lnTo>
                    <a:lnTo>
                      <a:pt x="12537" y="151"/>
                    </a:lnTo>
                    <a:lnTo>
                      <a:pt x="12567" y="129"/>
                    </a:lnTo>
                    <a:lnTo>
                      <a:pt x="12597" y="110"/>
                    </a:lnTo>
                    <a:lnTo>
                      <a:pt x="12629" y="92"/>
                    </a:lnTo>
                    <a:lnTo>
                      <a:pt x="12662" y="75"/>
                    </a:lnTo>
                    <a:lnTo>
                      <a:pt x="12696" y="59"/>
                    </a:lnTo>
                    <a:lnTo>
                      <a:pt x="12730" y="46"/>
                    </a:lnTo>
                    <a:lnTo>
                      <a:pt x="12766" y="34"/>
                    </a:lnTo>
                    <a:lnTo>
                      <a:pt x="12802" y="24"/>
                    </a:lnTo>
                    <a:lnTo>
                      <a:pt x="12838" y="16"/>
                    </a:lnTo>
                    <a:lnTo>
                      <a:pt x="12875" y="9"/>
                    </a:lnTo>
                    <a:lnTo>
                      <a:pt x="12913" y="5"/>
                    </a:lnTo>
                    <a:lnTo>
                      <a:pt x="12952" y="1"/>
                    </a:lnTo>
                    <a:lnTo>
                      <a:pt x="12991" y="0"/>
                    </a:lnTo>
                    <a:lnTo>
                      <a:pt x="15613" y="0"/>
                    </a:lnTo>
                    <a:lnTo>
                      <a:pt x="15613" y="0"/>
                    </a:lnTo>
                    <a:lnTo>
                      <a:pt x="15652" y="1"/>
                    </a:lnTo>
                    <a:lnTo>
                      <a:pt x="15691" y="5"/>
                    </a:lnTo>
                    <a:lnTo>
                      <a:pt x="15729" y="9"/>
                    </a:lnTo>
                    <a:lnTo>
                      <a:pt x="15766" y="16"/>
                    </a:lnTo>
                    <a:lnTo>
                      <a:pt x="15802" y="24"/>
                    </a:lnTo>
                    <a:lnTo>
                      <a:pt x="15838" y="34"/>
                    </a:lnTo>
                    <a:lnTo>
                      <a:pt x="15874" y="46"/>
                    </a:lnTo>
                    <a:lnTo>
                      <a:pt x="15908" y="59"/>
                    </a:lnTo>
                    <a:lnTo>
                      <a:pt x="15942" y="75"/>
                    </a:lnTo>
                    <a:lnTo>
                      <a:pt x="15975" y="92"/>
                    </a:lnTo>
                    <a:lnTo>
                      <a:pt x="16007" y="110"/>
                    </a:lnTo>
                    <a:lnTo>
                      <a:pt x="16037" y="129"/>
                    </a:lnTo>
                    <a:lnTo>
                      <a:pt x="16067" y="151"/>
                    </a:lnTo>
                    <a:lnTo>
                      <a:pt x="16095" y="173"/>
                    </a:lnTo>
                    <a:lnTo>
                      <a:pt x="16124" y="197"/>
                    </a:lnTo>
                    <a:lnTo>
                      <a:pt x="16150" y="222"/>
                    </a:lnTo>
                    <a:lnTo>
                      <a:pt x="16175" y="248"/>
                    </a:lnTo>
                    <a:lnTo>
                      <a:pt x="16199" y="276"/>
                    </a:lnTo>
                    <a:lnTo>
                      <a:pt x="16221" y="305"/>
                    </a:lnTo>
                    <a:lnTo>
                      <a:pt x="16243" y="335"/>
                    </a:lnTo>
                    <a:lnTo>
                      <a:pt x="16263" y="366"/>
                    </a:lnTo>
                    <a:lnTo>
                      <a:pt x="16280" y="397"/>
                    </a:lnTo>
                    <a:lnTo>
                      <a:pt x="16298" y="430"/>
                    </a:lnTo>
                    <a:lnTo>
                      <a:pt x="16312" y="464"/>
                    </a:lnTo>
                    <a:lnTo>
                      <a:pt x="16326" y="498"/>
                    </a:lnTo>
                    <a:lnTo>
                      <a:pt x="16338" y="534"/>
                    </a:lnTo>
                    <a:lnTo>
                      <a:pt x="16348" y="570"/>
                    </a:lnTo>
                    <a:lnTo>
                      <a:pt x="16357" y="606"/>
                    </a:lnTo>
                    <a:lnTo>
                      <a:pt x="16363" y="643"/>
                    </a:lnTo>
                    <a:lnTo>
                      <a:pt x="16368" y="682"/>
                    </a:lnTo>
                    <a:lnTo>
                      <a:pt x="16371" y="720"/>
                    </a:lnTo>
                    <a:lnTo>
                      <a:pt x="16372" y="759"/>
                    </a:lnTo>
                    <a:lnTo>
                      <a:pt x="16372" y="1689"/>
                    </a:lnTo>
                    <a:lnTo>
                      <a:pt x="16372" y="1689"/>
                    </a:lnTo>
                    <a:lnTo>
                      <a:pt x="16373" y="1727"/>
                    </a:lnTo>
                    <a:lnTo>
                      <a:pt x="16376" y="1767"/>
                    </a:lnTo>
                    <a:lnTo>
                      <a:pt x="16381" y="1804"/>
                    </a:lnTo>
                    <a:lnTo>
                      <a:pt x="16387" y="1842"/>
                    </a:lnTo>
                    <a:lnTo>
                      <a:pt x="16396" y="1878"/>
                    </a:lnTo>
                    <a:lnTo>
                      <a:pt x="16406" y="1914"/>
                    </a:lnTo>
                    <a:lnTo>
                      <a:pt x="16418" y="1949"/>
                    </a:lnTo>
                    <a:lnTo>
                      <a:pt x="16432" y="1984"/>
                    </a:lnTo>
                    <a:lnTo>
                      <a:pt x="16446" y="2018"/>
                    </a:lnTo>
                    <a:lnTo>
                      <a:pt x="16464" y="2051"/>
                    </a:lnTo>
                    <a:lnTo>
                      <a:pt x="16482" y="2083"/>
                    </a:lnTo>
                    <a:lnTo>
                      <a:pt x="16502" y="2113"/>
                    </a:lnTo>
                    <a:lnTo>
                      <a:pt x="16523" y="2143"/>
                    </a:lnTo>
                    <a:lnTo>
                      <a:pt x="16546" y="2171"/>
                    </a:lnTo>
                    <a:lnTo>
                      <a:pt x="16569" y="2199"/>
                    </a:lnTo>
                    <a:lnTo>
                      <a:pt x="16594" y="2226"/>
                    </a:lnTo>
                    <a:lnTo>
                      <a:pt x="16620" y="2250"/>
                    </a:lnTo>
                    <a:lnTo>
                      <a:pt x="16649" y="2274"/>
                    </a:lnTo>
                    <a:lnTo>
                      <a:pt x="16677" y="2297"/>
                    </a:lnTo>
                    <a:lnTo>
                      <a:pt x="16707" y="2318"/>
                    </a:lnTo>
                    <a:lnTo>
                      <a:pt x="16737" y="2338"/>
                    </a:lnTo>
                    <a:lnTo>
                      <a:pt x="16769" y="2356"/>
                    </a:lnTo>
                    <a:lnTo>
                      <a:pt x="16802" y="2373"/>
                    </a:lnTo>
                    <a:lnTo>
                      <a:pt x="16836" y="2388"/>
                    </a:lnTo>
                    <a:lnTo>
                      <a:pt x="16870" y="2402"/>
                    </a:lnTo>
                    <a:lnTo>
                      <a:pt x="16906" y="2414"/>
                    </a:lnTo>
                    <a:lnTo>
                      <a:pt x="16942" y="2424"/>
                    </a:lnTo>
                    <a:lnTo>
                      <a:pt x="16978" y="2433"/>
                    </a:lnTo>
                    <a:lnTo>
                      <a:pt x="17015" y="2439"/>
                    </a:lnTo>
                    <a:lnTo>
                      <a:pt x="17053" y="2444"/>
                    </a:lnTo>
                    <a:lnTo>
                      <a:pt x="17092" y="2447"/>
                    </a:lnTo>
                    <a:lnTo>
                      <a:pt x="17131" y="2448"/>
                    </a:lnTo>
                    <a:lnTo>
                      <a:pt x="19008" y="2448"/>
                    </a:lnTo>
                  </a:path>
                </a:pathLst>
              </a:custGeom>
              <a:noFill/>
              <a:ln w="25400">
                <a:solidFill>
                  <a:srgbClr val="387BB4"/>
                </a:solidFill>
                <a:prstDash val="solid"/>
                <a:round/>
                <a:headEnd type="oval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>
                  <a:solidFill>
                    <a:srgbClr val="1B516D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" name="椭圆 3"/>
              <p:cNvSpPr/>
              <p:nvPr>
                <p:custDataLst>
                  <p:tags r:id="rId12"/>
                </p:custDataLst>
              </p:nvPr>
            </p:nvSpPr>
            <p:spPr>
              <a:xfrm>
                <a:off x="2367" y="3442"/>
                <a:ext cx="1237" cy="1237"/>
              </a:xfrm>
              <a:prstGeom prst="ellipse">
                <a:avLst/>
              </a:prstGeom>
              <a:solidFill>
                <a:srgbClr val="2663A4"/>
              </a:solidFill>
              <a:ln w="9525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5" name="椭圆 4"/>
              <p:cNvSpPr/>
              <p:nvPr>
                <p:custDataLst>
                  <p:tags r:id="rId13"/>
                </p:custDataLst>
              </p:nvPr>
            </p:nvSpPr>
            <p:spPr>
              <a:xfrm>
                <a:off x="6389" y="5081"/>
                <a:ext cx="1237" cy="1237"/>
              </a:xfrm>
              <a:prstGeom prst="ellipse">
                <a:avLst/>
              </a:prstGeom>
              <a:solidFill>
                <a:srgbClr val="2663A4"/>
              </a:solidFill>
              <a:ln w="9525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6" name="椭圆 5"/>
              <p:cNvSpPr/>
              <p:nvPr>
                <p:custDataLst>
                  <p:tags r:id="rId14"/>
                </p:custDataLst>
              </p:nvPr>
            </p:nvSpPr>
            <p:spPr>
              <a:xfrm>
                <a:off x="10316" y="6512"/>
                <a:ext cx="1237" cy="1237"/>
              </a:xfrm>
              <a:prstGeom prst="ellipse">
                <a:avLst/>
              </a:prstGeom>
              <a:solidFill>
                <a:srgbClr val="2663A4"/>
              </a:solidFill>
              <a:ln w="9525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>
                <p:custDataLst>
                  <p:tags r:id="rId15"/>
                </p:custDataLst>
              </p:nvPr>
            </p:nvSpPr>
            <p:spPr>
              <a:xfrm>
                <a:off x="14598" y="2820"/>
                <a:ext cx="1237" cy="1237"/>
              </a:xfrm>
              <a:prstGeom prst="ellipse">
                <a:avLst/>
              </a:prstGeom>
              <a:solidFill>
                <a:srgbClr val="2663A4"/>
              </a:solidFill>
              <a:ln w="9525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cs typeface="+mn-ea"/>
                  <a:sym typeface="+mn-lt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16"/>
              </p:custDataLst>
            </p:nvPr>
          </p:nvSpPr>
          <p:spPr>
            <a:xfrm>
              <a:off x="2751" y="3280"/>
              <a:ext cx="1289" cy="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>
                  <a:solidFill>
                    <a:schemeClr val="bg1"/>
                  </a:solidFill>
                </a:rPr>
                <a:t>01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17"/>
              </p:custDataLst>
            </p:nvPr>
          </p:nvSpPr>
          <p:spPr>
            <a:xfrm>
              <a:off x="6297" y="4721"/>
              <a:ext cx="1289" cy="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>
                  <a:solidFill>
                    <a:schemeClr val="bg1"/>
                  </a:solidFill>
                </a:rPr>
                <a:t>02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8"/>
              </p:custDataLst>
            </p:nvPr>
          </p:nvSpPr>
          <p:spPr>
            <a:xfrm>
              <a:off x="9752" y="5980"/>
              <a:ext cx="1289" cy="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>
                  <a:solidFill>
                    <a:schemeClr val="bg1"/>
                  </a:solidFill>
                </a:rPr>
                <a:t>03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9"/>
              </p:custDataLst>
            </p:nvPr>
          </p:nvSpPr>
          <p:spPr>
            <a:xfrm>
              <a:off x="13517" y="2733"/>
              <a:ext cx="1289" cy="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>
                  <a:solidFill>
                    <a:schemeClr val="bg1"/>
                  </a:solidFill>
                </a:rPr>
                <a:t>04</a:t>
              </a:r>
              <a:endParaRPr lang="en-US" altLang="zh-CN" sz="2800">
                <a:solidFill>
                  <a:schemeClr val="bg1"/>
                </a:solidFill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4978400" y="548005"/>
            <a:ext cx="2082800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600" b="1" dirty="0">
                <a:solidFill>
                  <a:srgbClr val="1C56A6"/>
                </a:solidFill>
                <a:cs typeface="+mn-ea"/>
                <a:sym typeface="+mn-lt"/>
              </a:rPr>
              <a:t>未来展望</a:t>
            </a:r>
            <a:endParaRPr lang="zh-CN" altLang="en-US" sz="3600" b="1" dirty="0">
              <a:solidFill>
                <a:srgbClr val="1C56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733290" y="1142365"/>
            <a:ext cx="2572385" cy="337185"/>
          </a:xfrm>
          <a:prstGeom prst="rect">
            <a:avLst/>
          </a:prstGeom>
        </p:spPr>
        <p:txBody>
          <a:bodyPr wrap="none">
            <a:noAutofit/>
          </a:bodyPr>
          <a:p>
            <a:pPr algn="l"/>
            <a:r>
              <a:rPr lang="en-US" altLang="zh-CN" b="1" dirty="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Future of the Project</a:t>
            </a:r>
            <a:endParaRPr lang="en-US" altLang="zh-CN" b="1" dirty="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20"/>
            </p:custDataLst>
          </p:nvPr>
        </p:nvGrpSpPr>
        <p:grpSpPr>
          <a:xfrm rot="0">
            <a:off x="3203745" y="4448175"/>
            <a:ext cx="2086487" cy="2121535"/>
            <a:chOff x="2980" y="4115"/>
            <a:chExt cx="4653" cy="3341"/>
          </a:xfrm>
        </p:grpSpPr>
        <p:sp>
          <p:nvSpPr>
            <p:cNvPr id="13" name="文本框 12"/>
            <p:cNvSpPr txBox="1"/>
            <p:nvPr>
              <p:custDataLst>
                <p:tags r:id="rId21"/>
              </p:custDataLst>
            </p:nvPr>
          </p:nvSpPr>
          <p:spPr>
            <a:xfrm>
              <a:off x="2980" y="5131"/>
              <a:ext cx="4653" cy="2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融合</a:t>
              </a: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NetMamba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、</a:t>
              </a:r>
              <a:r>
                <a:rPr lang="en-US" altLang="zh-CN" sz="1200" dirty="0">
                  <a:cs typeface="+mn-ea"/>
                  <a:sym typeface="+mn-lt"/>
                </a:rPr>
                <a:t>ET-BERT</a:t>
              </a:r>
              <a:r>
                <a:rPr lang="zh-CN" altLang="en-US" sz="1200" dirty="0">
                  <a:cs typeface="+mn-ea"/>
                  <a:sym typeface="+mn-lt"/>
                </a:rPr>
                <a:t>、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tx1"/>
                  </a:solidFill>
                  <a:cs typeface="+mn-ea"/>
                  <a:sym typeface="+mn-lt"/>
                </a:rPr>
                <a:t>YaTC</a:t>
              </a: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等前沿深度流量表示方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法，引入自主学习型校准机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制与置信度驱动分析，提升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/>
                  </a:solidFill>
                  <a:cs typeface="+mn-ea"/>
                  <a:sym typeface="+mn-lt"/>
                </a:rPr>
                <a:t>决策的智能化与精准度</a:t>
              </a:r>
              <a:endParaRPr lang="zh-CN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22"/>
              </p:custDataLst>
            </p:nvPr>
          </p:nvSpPr>
          <p:spPr>
            <a:xfrm>
              <a:off x="3294" y="4115"/>
              <a:ext cx="3798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b="1" dirty="0">
                  <a:solidFill>
                    <a:srgbClr val="2663A4"/>
                  </a:solidFill>
                  <a:cs typeface="+mn-ea"/>
                  <a:sym typeface="+mn-lt"/>
                </a:rPr>
                <a:t>核心模型与算法机制迭代</a:t>
              </a:r>
              <a:endParaRPr lang="zh-CN" altLang="en-US" b="1" dirty="0">
                <a:solidFill>
                  <a:srgbClr val="2663A4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058ccbf6c81800ae2b41e68bf3533fa828b4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04775"/>
            <a:ext cx="3453130" cy="103632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9735" y="1416519"/>
            <a:ext cx="3230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6D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网络空间安全课程设计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86D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9735" y="187706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 spc="150">
                <a:solidFill>
                  <a:srgbClr val="86D0F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+mn-ea"/>
              </a:rPr>
              <a:t>C.S.C.P Experiment Report</a:t>
            </a:r>
            <a:endParaRPr lang="en-US" altLang="en-US" sz="1600" b="1" spc="150">
              <a:solidFill>
                <a:srgbClr val="86D0F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84500" y="3564890"/>
            <a:ext cx="6242050" cy="752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lt"/>
              </a:rPr>
              <a:t>Breaking the Bit Barrier: </a:t>
            </a:r>
            <a:endParaRPr lang="en-US" altLang="zh-CN" sz="140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lt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lt"/>
              </a:rPr>
              <a:t>An 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+mj-lt"/>
              </a:rPr>
              <a:t>Intelligent Parsing and Inference System for Unknown Binary Data</a:t>
            </a:r>
            <a:endParaRPr lang="en-US" altLang="zh-CN" sz="140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+mj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620250" y="6612890"/>
            <a:ext cx="2571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等线" panose="02010600030101010101" charset="-122"/>
                <a:ea typeface="等线" panose="02010600030101010101" charset="-122"/>
              </a:rPr>
              <a:t>2026  Project H.A.B.F.C  All Rights Reserved.</a:t>
            </a:r>
            <a:endParaRPr lang="zh-CN" altLang="en-US" sz="10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99915" y="4421505"/>
            <a:ext cx="3391535" cy="1176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汇报组号：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2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组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</a:t>
            </a:r>
            <a:endParaRPr lang="en-US" altLang="zh-CN" sz="2400" b="1">
              <a:solidFill>
                <a:srgbClr val="60A0E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/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汇报人：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</a:t>
            </a:r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阮辅强</a:t>
            </a:r>
            <a:endParaRPr lang="zh-CN" altLang="en-US" sz="2400" b="1">
              <a:solidFill>
                <a:srgbClr val="60A0E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/>
            <a:r>
              <a:rPr lang="zh-CN" altLang="en-US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汇报日期：</a:t>
            </a:r>
            <a:r>
              <a:rPr lang="en-US" altLang="zh-CN" sz="2400" b="1">
                <a:solidFill>
                  <a:srgbClr val="60A0E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2026.09.12</a:t>
            </a:r>
            <a:endParaRPr lang="en-US" altLang="zh-CN" sz="2400" b="1">
              <a:solidFill>
                <a:srgbClr val="60A0E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副标题 7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88925" y="2574925"/>
            <a:ext cx="12191365" cy="103441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sz="5400" b="1">
                <a:solidFill>
                  <a:srgbClr val="00B0F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谢谢聆听！</a:t>
            </a:r>
            <a:endParaRPr lang="zh-CN" sz="5400" b="1">
              <a:solidFill>
                <a:srgbClr val="00B0F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8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9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0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1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2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3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4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5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6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7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8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9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0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1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2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3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4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5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6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7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30.xml><?xml version="1.0" encoding="utf-8"?>
<p:tagLst xmlns:p="http://schemas.openxmlformats.org/presentationml/2006/main">
  <p:tag name="KSO_WM_DIAGRAM_VIRTUALLY_FRAME" val="{&quot;height&quot;:339.05,&quot;left&quot;:43.6,&quot;top&quot;:144.55,&quot;width&quot;:869.25}"/>
</p:tagLst>
</file>

<file path=ppt/tags/tag31.xml><?xml version="1.0" encoding="utf-8"?>
<p:tagLst xmlns:p="http://schemas.openxmlformats.org/presentationml/2006/main">
  <p:tag name="KSO_WM_DIAGRAM_VIRTUALLY_FRAME" val="{&quot;height&quot;:339.05,&quot;left&quot;:43.6,&quot;top&quot;:144.55,&quot;width&quot;:869.25}"/>
</p:tagLst>
</file>

<file path=ppt/tags/tag32.xml><?xml version="1.0" encoding="utf-8"?>
<p:tagLst xmlns:p="http://schemas.openxmlformats.org/presentationml/2006/main">
  <p:tag name="KSO_WM_DIAGRAM_VIRTUALLY_FRAME" val="{&quot;height&quot;:339.05,&quot;left&quot;:43.6,&quot;top&quot;:144.55,&quot;width&quot;:869.25}"/>
</p:tagLst>
</file>

<file path=ppt/tags/tag33.xml><?xml version="1.0" encoding="utf-8"?>
<p:tagLst xmlns:p="http://schemas.openxmlformats.org/presentationml/2006/main">
  <p:tag name="KSO_WM_DIAGRAM_VIRTUALLY_FRAME" val="{&quot;height&quot;:339.05,&quot;left&quot;:43.6,&quot;top&quot;:144.55,&quot;width&quot;:869.25}"/>
</p:tagLst>
</file>

<file path=ppt/tags/tag34.xml><?xml version="1.0" encoding="utf-8"?>
<p:tagLst xmlns:p="http://schemas.openxmlformats.org/presentationml/2006/main">
  <p:tag name="KSO_WM_DIAGRAM_VIRTUALLY_FRAME" val="{&quot;height&quot;:339.05,&quot;left&quot;:43.6,&quot;top&quot;:144.55,&quot;width&quot;:869.25}"/>
</p:tagLst>
</file>

<file path=ppt/tags/tag35.xml><?xml version="1.0" encoding="utf-8"?>
<p:tagLst xmlns:p="http://schemas.openxmlformats.org/presentationml/2006/main">
  <p:tag name="KSO_WM_DIAGRAM_VIRTUALLY_FRAME" val="{&quot;height&quot;:339.05,&quot;left&quot;:43.6,&quot;top&quot;:144.55,&quot;width&quot;:869.25}"/>
</p:tagLst>
</file>

<file path=ppt/tags/tag36.xml><?xml version="1.0" encoding="utf-8"?>
<p:tagLst xmlns:p="http://schemas.openxmlformats.org/presentationml/2006/main">
  <p:tag name="KSO_WM_DIAGRAM_VIRTUALLY_FRAME" val="{&quot;height&quot;:339.05,&quot;left&quot;:43.6,&quot;top&quot;:144.55,&quot;width&quot;:869.25}"/>
</p:tagLst>
</file>

<file path=ppt/tags/tag37.xml><?xml version="1.0" encoding="utf-8"?>
<p:tagLst xmlns:p="http://schemas.openxmlformats.org/presentationml/2006/main">
  <p:tag name="KSO_WM_DIAGRAM_VIRTUALLY_FRAME" val="{&quot;height&quot;:339.05,&quot;left&quot;:43.6,&quot;top&quot;:144.55,&quot;width&quot;:869.25}"/>
</p:tagLst>
</file>

<file path=ppt/tags/tag38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39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0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1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2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3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4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5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6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7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8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49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50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51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52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53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54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55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58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59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60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61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62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63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64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65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66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67.xml><?xml version="1.0" encoding="utf-8"?>
<p:tagLst xmlns:p="http://schemas.openxmlformats.org/presentationml/2006/main">
  <p:tag name="KSO_WM_DIAGRAM_VIRTUALLY_FRAME" val="{&quot;height&quot;:370.75,&quot;left&quot;:22.45,&quot;top&quot;:110.55,&quot;width&quot;:580.65}"/>
</p:tagLst>
</file>

<file path=ppt/tags/tag68.xml><?xml version="1.0" encoding="utf-8"?>
<p:tagLst xmlns:p="http://schemas.openxmlformats.org/presentationml/2006/main">
  <p:tag name="KSO_WM_DIAGRAM_VIRTUALLY_FRAME" val="{&quot;height&quot;:370.75,&quot;left&quot;:22.45,&quot;top&quot;:110.55,&quot;width&quot;:580.65}"/>
</p:tagLst>
</file>

<file path=ppt/tags/tag69.xml><?xml version="1.0" encoding="utf-8"?>
<p:tagLst xmlns:p="http://schemas.openxmlformats.org/presentationml/2006/main">
  <p:tag name="KSO_WM_DIAGRAM_VIRTUALLY_FRAME" val="{&quot;height&quot;:370.75,&quot;left&quot;:22.45,&quot;top&quot;:110.55,&quot;width&quot;:580.65}"/>
</p:tagLst>
</file>

<file path=ppt/tags/tag70.xml><?xml version="1.0" encoding="utf-8"?>
<p:tagLst xmlns:p="http://schemas.openxmlformats.org/presentationml/2006/main">
  <p:tag name="KSO_WM_DIAGRAM_VIRTUALLY_FRAME" val="{&quot;height&quot;:370.75,&quot;left&quot;:22.45,&quot;top&quot;:110.55,&quot;width&quot;:580.65}"/>
</p:tagLst>
</file>

<file path=ppt/tags/tag71.xml><?xml version="1.0" encoding="utf-8"?>
<p:tagLst xmlns:p="http://schemas.openxmlformats.org/presentationml/2006/main">
  <p:tag name="KSO_WM_DIAGRAM_VIRTUALLY_FRAME" val="{&quot;height&quot;:370.75,&quot;left&quot;:22.45,&quot;top&quot;:110.55,&quot;width&quot;:580.65}"/>
</p:tagLst>
</file>

<file path=ppt/tags/tag72.xml><?xml version="1.0" encoding="utf-8"?>
<p:tagLst xmlns:p="http://schemas.openxmlformats.org/presentationml/2006/main">
  <p:tag name="KSO_WM_DIAGRAM_VIRTUALLY_FRAME" val="{&quot;height&quot;:370.75,&quot;left&quot;:22.45,&quot;top&quot;:110.55,&quot;width&quot;:580.65}"/>
</p:tagLst>
</file>

<file path=ppt/tags/tag73.xml><?xml version="1.0" encoding="utf-8"?>
<p:tagLst xmlns:p="http://schemas.openxmlformats.org/presentationml/2006/main">
  <p:tag name="KSO_WM_DIAGRAM_VIRTUALLY_FRAME" val="{&quot;height&quot;:365.65,&quot;left&quot;:60.95,&quot;top&quot;:111.05,&quot;width&quot;:525.65}"/>
</p:tagLst>
</file>

<file path=ppt/tags/tag74.xml><?xml version="1.0" encoding="utf-8"?>
<p:tagLst xmlns:p="http://schemas.openxmlformats.org/presentationml/2006/main">
  <p:tag name="KSO_WM_DIAGRAM_VIRTUALLY_FRAME" val="{&quot;height&quot;:370.75,&quot;left&quot;:22.45,&quot;top&quot;:110.55,&quot;width&quot;:580.65}"/>
</p:tagLst>
</file>

<file path=ppt/tags/tag75.xml><?xml version="1.0" encoding="utf-8"?>
<p:tagLst xmlns:p="http://schemas.openxmlformats.org/presentationml/2006/main">
  <p:tag name="KSO_WM_UNIT_PLACING_PICTURE_USER_VIEWPORT" val="{&quot;height&quot;:15840,&quot;width&quot;:11880}"/>
</p:tagLst>
</file>

<file path=ppt/tags/tag76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79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0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1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2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3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4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5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6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7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8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89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0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1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2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3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4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5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6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7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8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99.xml><?xml version="1.0" encoding="utf-8"?>
<p:tagLst xmlns:p="http://schemas.openxmlformats.org/presentationml/2006/main">
  <p:tag name="KSO_WM_DIAGRAM_VIRTUALLY_FRAME" val="{&quot;height&quot;:322.05,&quot;left&quot;:78.85,&quot;top&quot;:144.3,&quot;width&quot;:823.4}"/>
</p:tagLst>
</file>

<file path=ppt/tags/tag100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101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102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103.xml><?xml version="1.0" encoding="utf-8"?>
<p:tagLst xmlns:p="http://schemas.openxmlformats.org/presentationml/2006/main">
  <p:tag name="KSO_WM_DIAGRAM_VIRTUALLY_FRAME" val="{&quot;height&quot;:289.75,&quot;left&quot;:78.85,&quot;top&quot;:152.65,&quot;width&quot;:830.55}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DIAGRAM_VIRTUALLY_FRAME" val="{&quot;height&quot;:340.975905511811,&quot;left&quot;:360.1,&quot;top&quot;:100.55,&quot;width&quot;:316.2185039370079}"/>
</p:tagLst>
</file>

<file path=ppt/tags/tag106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07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08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09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0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1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2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3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4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5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6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7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8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19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0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1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2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3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4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5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6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7.xml><?xml version="1.0" encoding="utf-8"?>
<p:tagLst xmlns:p="http://schemas.openxmlformats.org/presentationml/2006/main">
  <p:tag name="KSO_WM_DIAGRAM_VIRTUALLY_FRAME" val="{&quot;height&quot;:379.25,&quot;left&quot;:58.7,&quot;top&quot;:129.5,&quot;width&quot;:853.95}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1eyvzsk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4513</Words>
  <Application>WPS 演示</Application>
  <PresentationFormat>宽屏</PresentationFormat>
  <Paragraphs>432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Wingdings</vt:lpstr>
      <vt:lpstr>等线</vt:lpstr>
      <vt:lpstr>汉仪君黑-45简</vt:lpstr>
      <vt:lpstr>黑体</vt:lpstr>
      <vt:lpstr>华文细黑</vt:lpstr>
      <vt:lpstr>Calibri</vt:lpstr>
      <vt:lpstr>Calibri Light</vt:lpstr>
      <vt:lpstr>微软雅黑 Light</vt:lpstr>
      <vt:lpstr>OPPOSans R</vt:lpstr>
      <vt:lpstr>OPPOSans M</vt:lpstr>
      <vt:lpstr>DIN-BlackItalic</vt:lpstr>
      <vt:lpstr>FFont-Family</vt:lpstr>
      <vt:lpstr>Arial Unicode MS</vt:lpstr>
      <vt:lpstr>Segoe UI</vt:lpstr>
      <vt:lpstr>汉仪雅酷黑-95J</vt:lpstr>
      <vt:lpstr>Calibri Light</vt:lpstr>
      <vt:lpstr>OPPOSans M</vt:lpstr>
      <vt:lpstr>OPPOSans R</vt:lpstr>
      <vt:lpstr>汉仪君黑-45简</vt:lpstr>
      <vt:lpstr>Calibri</vt:lpstr>
      <vt:lpstr>汉仪文黑-55简</vt:lpstr>
      <vt:lpstr>思源黑体 CN Regular</vt:lpstr>
      <vt:lpstr>KSOF28C8607A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Sheng xia</dc:creator>
  <cp:lastModifiedBy>Vertias-7ups</cp:lastModifiedBy>
  <cp:revision>40</cp:revision>
  <dcterms:created xsi:type="dcterms:W3CDTF">2020-11-18T12:01:00Z</dcterms:created>
  <dcterms:modified xsi:type="dcterms:W3CDTF">2026-09-11T13:59:06Z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v1.0_mb_nExWx4yflLJo75D2YYg1Fg==</vt:lpwstr>
  </property>
  <property fmtid="{D5CDD505-2E9C-101B-9397-08002B2CF9AE}" pid="4" name="ICV">
    <vt:lpwstr>B7D6DE7715774BF2A8CECEF1B5E272CB_11</vt:lpwstr>
  </property>
</Properties>
</file>